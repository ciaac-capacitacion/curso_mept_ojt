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3" r:id="rId2"/>
    <p:sldId id="266" r:id="rId3"/>
    <p:sldId id="267" r:id="rId4"/>
    <p:sldId id="304" r:id="rId5"/>
    <p:sldId id="302" r:id="rId6"/>
    <p:sldId id="305" r:id="rId7"/>
    <p:sldId id="309" r:id="rId36"/>
    <p:sldId id="306" r:id="rId8"/>
    <p:sldId id="269" r:id="rId9"/>
    <p:sldId id="307" r:id="rId10"/>
    <p:sldId id="270" r:id="rId11"/>
    <p:sldId id="271" r:id="rId12"/>
    <p:sldId id="272" r:id="rId13"/>
    <p:sldId id="273" r:id="rId14"/>
    <p:sldId id="274" r:id="rId15"/>
    <p:sldId id="275" r:id="rId16"/>
    <p:sldId id="279" r:id="rId17"/>
    <p:sldId id="280" r:id="rId18"/>
    <p:sldId id="281" r:id="rId19"/>
    <p:sldId id="282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8" r:id="rId28"/>
    <p:sldId id="290" r:id="rId2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0B3041"/>
    <a:srgbClr val="CCCCFF"/>
    <a:srgbClr val="BC9C16"/>
    <a:srgbClr val="E4CDAC"/>
    <a:srgbClr val="7B95AF"/>
    <a:srgbClr val="003764"/>
    <a:srgbClr val="4E95D9"/>
    <a:srgbClr val="AEAEA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30" autoAdjust="0"/>
    <p:restoredTop sz="94038" autoAdjust="0"/>
  </p:normalViewPr>
  <p:slideViewPr>
    <p:cSldViewPr snapToGrid="0">
      <p:cViewPr varScale="1">
        <p:scale>
          <a:sx n="65" d="100"/>
          <a:sy n="65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Manuel Figueroa Hernandez" userId="c23fd2b0-07fd-455e-80a2-756e0be2378e" providerId="ADAL" clId="{19EAFD33-AF50-43D6-BF52-FC06C69CD06D}"/>
    <pc:docChg chg="undo custSel addSld delSld modSld">
      <pc:chgData name="Jose Manuel Figueroa Hernandez" userId="c23fd2b0-07fd-455e-80a2-756e0be2378e" providerId="ADAL" clId="{19EAFD33-AF50-43D6-BF52-FC06C69CD06D}" dt="2026-09-23T23:56:02.138" v="12" actId="47"/>
      <pc:docMkLst>
        <pc:docMk/>
      </pc:docMkLst>
      <pc:sldChg chg="del">
        <pc:chgData name="Jose Manuel Figueroa Hernandez" userId="c23fd2b0-07fd-455e-80a2-756e0be2378e" providerId="ADAL" clId="{19EAFD33-AF50-43D6-BF52-FC06C69CD06D}" dt="2026-09-23T23:55:23.468" v="0" actId="47"/>
        <pc:sldMkLst>
          <pc:docMk/>
          <pc:sldMk cId="0" sldId="256"/>
        </pc:sldMkLst>
      </pc:sldChg>
      <pc:sldChg chg="del">
        <pc:chgData name="Jose Manuel Figueroa Hernandez" userId="c23fd2b0-07fd-455e-80a2-756e0be2378e" providerId="ADAL" clId="{19EAFD33-AF50-43D6-BF52-FC06C69CD06D}" dt="2026-09-23T23:55:24.949" v="1" actId="47"/>
        <pc:sldMkLst>
          <pc:docMk/>
          <pc:sldMk cId="0" sldId="257"/>
        </pc:sldMkLst>
      </pc:sldChg>
      <pc:sldChg chg="del">
        <pc:chgData name="Jose Manuel Figueroa Hernandez" userId="c23fd2b0-07fd-455e-80a2-756e0be2378e" providerId="ADAL" clId="{19EAFD33-AF50-43D6-BF52-FC06C69CD06D}" dt="2026-09-23T23:55:26.261" v="2" actId="47"/>
        <pc:sldMkLst>
          <pc:docMk/>
          <pc:sldMk cId="0" sldId="258"/>
        </pc:sldMkLst>
      </pc:sldChg>
      <pc:sldChg chg="del">
        <pc:chgData name="Jose Manuel Figueroa Hernandez" userId="c23fd2b0-07fd-455e-80a2-756e0be2378e" providerId="ADAL" clId="{19EAFD33-AF50-43D6-BF52-FC06C69CD06D}" dt="2026-09-23T23:55:27.252" v="3" actId="47"/>
        <pc:sldMkLst>
          <pc:docMk/>
          <pc:sldMk cId="0" sldId="259"/>
        </pc:sldMkLst>
      </pc:sldChg>
      <pc:sldChg chg="del">
        <pc:chgData name="Jose Manuel Figueroa Hernandez" userId="c23fd2b0-07fd-455e-80a2-756e0be2378e" providerId="ADAL" clId="{19EAFD33-AF50-43D6-BF52-FC06C69CD06D}" dt="2026-09-23T23:55:28.179" v="4" actId="47"/>
        <pc:sldMkLst>
          <pc:docMk/>
          <pc:sldMk cId="0" sldId="260"/>
        </pc:sldMkLst>
      </pc:sldChg>
      <pc:sldChg chg="del">
        <pc:chgData name="Jose Manuel Figueroa Hernandez" userId="c23fd2b0-07fd-455e-80a2-756e0be2378e" providerId="ADAL" clId="{19EAFD33-AF50-43D6-BF52-FC06C69CD06D}" dt="2026-09-23T23:55:29.777" v="5" actId="47"/>
        <pc:sldMkLst>
          <pc:docMk/>
          <pc:sldMk cId="0" sldId="261"/>
        </pc:sldMkLst>
      </pc:sldChg>
      <pc:sldChg chg="del">
        <pc:chgData name="Jose Manuel Figueroa Hernandez" userId="c23fd2b0-07fd-455e-80a2-756e0be2378e" providerId="ADAL" clId="{19EAFD33-AF50-43D6-BF52-FC06C69CD06D}" dt="2026-09-23T23:55:30.653" v="6" actId="47"/>
        <pc:sldMkLst>
          <pc:docMk/>
          <pc:sldMk cId="0" sldId="262"/>
        </pc:sldMkLst>
      </pc:sldChg>
      <pc:sldChg chg="modSp mod">
        <pc:chgData name="Jose Manuel Figueroa Hernandez" userId="c23fd2b0-07fd-455e-80a2-756e0be2378e" providerId="ADAL" clId="{19EAFD33-AF50-43D6-BF52-FC06C69CD06D}" dt="2026-09-23T23:55:45.488" v="8" actId="1076"/>
        <pc:sldMkLst>
          <pc:docMk/>
          <pc:sldMk cId="0" sldId="263"/>
        </pc:sldMkLst>
        <pc:spChg chg="mod">
          <ac:chgData name="Jose Manuel Figueroa Hernandez" userId="c23fd2b0-07fd-455e-80a2-756e0be2378e" providerId="ADAL" clId="{19EAFD33-AF50-43D6-BF52-FC06C69CD06D}" dt="2026-09-23T23:55:45.488" v="8" actId="1076"/>
          <ac:spMkLst>
            <pc:docMk/>
            <pc:sldMk cId="0" sldId="263"/>
            <ac:spMk id="2" creationId="{00000000-0000-0000-0000-000000000000}"/>
          </ac:spMkLst>
        </pc:spChg>
      </pc:sldChg>
      <pc:sldChg chg="del">
        <pc:chgData name="Jose Manuel Figueroa Hernandez" userId="c23fd2b0-07fd-455e-80a2-756e0be2378e" providerId="ADAL" clId="{19EAFD33-AF50-43D6-BF52-FC06C69CD06D}" dt="2026-09-23T23:55:48.932" v="9" actId="47"/>
        <pc:sldMkLst>
          <pc:docMk/>
          <pc:sldMk cId="0" sldId="264"/>
        </pc:sldMkLst>
      </pc:sldChg>
      <pc:sldChg chg="add del">
        <pc:chgData name="Jose Manuel Figueroa Hernandez" userId="c23fd2b0-07fd-455e-80a2-756e0be2378e" providerId="ADAL" clId="{19EAFD33-AF50-43D6-BF52-FC06C69CD06D}" dt="2026-09-23T23:56:02.138" v="12" actId="47"/>
        <pc:sldMkLst>
          <pc:docMk/>
          <pc:sldMk cId="0" sldId="26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13DD9-E4B5-4997-8BD0-CCD1D82A46CA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ECBA-0A42-439B-8BB1-7C8EF8AA35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049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A2C392-B539-B6D8-7851-5351BEE0B7B2}"/>
              </a:ext>
            </a:extLst>
          </p:cNvPr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55720" y="1760220"/>
            <a:ext cx="8336280" cy="509778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783C967-2F54-09E4-AA30-298CA5655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B59DC73-C653-C81C-D52E-0C69633752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10987" y="4899638"/>
            <a:ext cx="7766977" cy="107298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8FDDAFA-5E8D-9796-4199-96DDF49E0C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5" t="2142" b="1"/>
          <a:stretch/>
        </p:blipFill>
        <p:spPr>
          <a:xfrm>
            <a:off x="-1525" y="0"/>
            <a:ext cx="12192000" cy="203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8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, fin d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A2C392-B539-B6D8-7851-5351BEE0B7B2}"/>
              </a:ext>
            </a:extLst>
          </p:cNvPr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55720" y="1760220"/>
            <a:ext cx="8336280" cy="5097780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6826DB8-4520-87EC-C957-39CC5FEDDF23}"/>
              </a:ext>
            </a:extLst>
          </p:cNvPr>
          <p:cNvCxnSpPr>
            <a:cxnSpLocks/>
          </p:cNvCxnSpPr>
          <p:nvPr userDrawn="1"/>
        </p:nvCxnSpPr>
        <p:spPr>
          <a:xfrm>
            <a:off x="2610003" y="3429000"/>
            <a:ext cx="6968946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14770139-593C-68D8-65A7-D32A6375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619" y="1992089"/>
            <a:ext cx="7329714" cy="1436911"/>
          </a:xfrm>
        </p:spPr>
        <p:txBody>
          <a:bodyPr anchor="ctr">
            <a:noAutofit/>
          </a:bodyPr>
          <a:lstStyle>
            <a:lvl1pPr algn="ctr">
              <a:defRPr sz="5000"/>
            </a:lvl1pPr>
          </a:lstStyle>
          <a:p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1A90F6-F9C8-C3DC-0206-47FA2B0E52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10987" y="3772615"/>
            <a:ext cx="7766977" cy="107298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AADA8D9-AE01-0879-2B0F-D35E84BE75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5" t="2142" b="1"/>
          <a:stretch/>
        </p:blipFill>
        <p:spPr>
          <a:xfrm>
            <a:off x="-1525" y="0"/>
            <a:ext cx="12192000" cy="203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5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9625AD5-FD90-7ED4-A463-1E5CB822AA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5" b="4156"/>
          <a:stretch/>
        </p:blipFill>
        <p:spPr>
          <a:xfrm>
            <a:off x="0" y="0"/>
            <a:ext cx="12192000" cy="1416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8B7789-9006-E47A-926E-AC183E21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86" y="0"/>
            <a:ext cx="8955314" cy="1325563"/>
          </a:xfrm>
        </p:spPr>
        <p:txBody>
          <a:bodyPr>
            <a:normAutofit/>
          </a:bodyPr>
          <a:lstStyle>
            <a:lvl1pPr algn="just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A6FA8314-6B07-608F-1066-971AAD2701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4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BA6592-4655-ECA7-5E54-6A2266196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5" b="4156"/>
          <a:stretch/>
        </p:blipFill>
        <p:spPr>
          <a:xfrm>
            <a:off x="0" y="0"/>
            <a:ext cx="12192000" cy="1416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8B7789-9006-E47A-926E-AC183E21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86" y="0"/>
            <a:ext cx="8955314" cy="1325563"/>
          </a:xfrm>
        </p:spPr>
        <p:txBody>
          <a:bodyPr>
            <a:normAutofit/>
          </a:bodyPr>
          <a:lstStyle>
            <a:lvl1pPr algn="just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A6FA8314-6B07-608F-1066-971AAD2701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A5A1F8B5-C537-E163-7F62-A12931C7E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01879A4-A5B6-7D86-61D5-66ACD9BA94ED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114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634EBF27-8651-00A8-AF4C-4E9644167F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E94F59-AD2E-40B1-B026-72BC4AB241A4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260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A5A1F8B5-C537-E163-7F62-A12931C7E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66706"/>
            <a:ext cx="992252" cy="70255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9621210-2A91-1552-D4F2-DF2766531006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466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CEFCEBEC-42C8-C58C-CD8C-206F903423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0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532B9242-CE35-04A2-18AA-987DB5B40A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85BD324A-C024-0077-DF8F-20DCA813A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66706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385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3F39D5-2B33-B76C-39CA-AE6BED78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BD0F07-E6DF-E238-D01E-6075CA1A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337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55" r:id="rId5"/>
    <p:sldLayoutId id="2147483664" r:id="rId6"/>
    <p:sldLayoutId id="2147483663" r:id="rId7"/>
    <p:sldLayoutId id="2147483662" r:id="rId8"/>
    <p:sldLayoutId id="2147483666" r:id="rId9"/>
    <p:sldLayoutId id="214748366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7541" y="1734589"/>
            <a:ext cx="10515600" cy="2651760"/>
          </a:xfr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sz="5400" b="0" i="0" u="none" dirty="0" err="1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Módulo</a:t>
            </a:r>
            <a:r>
              <a:rPr sz="5400" b="0" i="0" u="none" dirty="0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 3</a:t>
            </a:r>
          </a:p>
          <a:p>
            <a:pPr algn="ctr">
              <a:spcAft>
                <a:spcPts val="800"/>
              </a:spcAft>
            </a:pP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Proceso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de </a:t>
            </a: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ejecución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del </a:t>
            </a: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Programa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OJT</a:t>
            </a:r>
          </a:p>
          <a:p>
            <a:pPr algn="ctr"/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Actualización del Manual de Entrenamiento en el Puesto de Trabajo</a:t>
            </a:r>
            <a:endParaRPr sz="1600" b="0" i="0" u="none" dirty="0">
              <a:solidFill>
                <a:srgbClr val="182430"/>
              </a:solidFill>
              <a:latin typeface="Montserrat SemiBold"/>
              <a:ea typeface="Montserrat SemiBold"/>
              <a:cs typeface="Montserrat SemiBold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ACTIVIDAD DE INICIO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Para iniciar, reflexiona</a:t>
            </a:r>
          </a:p>
        </p:txBody>
      </p:sp>
      <p:pic>
        <p:nvPicPr>
          <p:cNvPr id="3" name="Picture 2" descr="s20_9067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959678"/>
            <a:ext cx="2739383" cy="27393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35161"/>
            <a:ext cx="7040880" cy="34009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Imagina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alguien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OJT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dentro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un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año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¿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Podría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saber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qué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hiciste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cuándo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con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</a:t>
            </a:r>
            <a:r>
              <a:rPr lang="es-MX"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é Instructor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?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¿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Qué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lo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demostraría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?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endParaRPr lang="es-MX"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Anota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tu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respuesta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y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compárala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al final.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whol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3.1 PROCESO GENERAL DEL PROGRAMA OJT (P-DCIA-CPEPT-01-R04): ALCANCE, RESPONSABILIDADES Y ETAPAS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Proceso general del Programa OJT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35161"/>
            <a:ext cx="3291840" cy="581081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Objetivo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16242"/>
            <a:ext cx="3291840" cy="2407336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Capacitar en el puesto de trabajo con un sistema que garantice el adiestramiento continuo del 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835161"/>
            <a:ext cx="3291840" cy="581081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Alcance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16242"/>
            <a:ext cx="3291840" cy="2407336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Todos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IVA</a:t>
            </a:r>
            <a:r>
              <a:rPr lang="es-MX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´s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 AFAC </a:t>
            </a:r>
            <a:r>
              <a:rPr lang="es-MX"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deben realizar su 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OJT.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35161"/>
            <a:ext cx="3291840" cy="581081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Registros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416242"/>
            <a:ext cx="3291840" cy="2407336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Plan,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bitácoras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5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años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impreso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digital.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2614"/>
            <a:ext cx="10424160" cy="664092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Código vigente: </a:t>
            </a:r>
            <a:r>
              <a:rPr sz="20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P-DCIA-CPEPT-01-R04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(MEPT R06, numeral 5.3).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5.2, 5.3.3, 5.3.4 y 5.3.8.</a:t>
            </a:r>
          </a:p>
        </p:txBody>
      </p:sp>
      <p:pic>
        <p:nvPicPr>
          <p:cNvPr id="39" name="Picture 38" descr="w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79397"/>
            <a:ext cx="292608" cy="292608"/>
          </a:xfrm>
          <a:prstGeom prst="rect">
            <a:avLst/>
          </a:prstGeom>
        </p:spPr>
      </p:pic>
      <p:pic>
        <p:nvPicPr>
          <p:cNvPr id="40" name="Picture 39" descr="w_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979397"/>
            <a:ext cx="292608" cy="292608"/>
          </a:xfrm>
          <a:prstGeom prst="rect">
            <a:avLst/>
          </a:prstGeom>
        </p:spPr>
      </p:pic>
      <p:pic>
        <p:nvPicPr>
          <p:cNvPr id="41" name="Picture 40" descr="w_fol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1979397"/>
            <a:ext cx="292608" cy="29260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87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4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51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426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3.1 PROCESO GENERAL DEL PROGRAMA OJT (P-DCIA-CPEPT-01-R04): ALCANCE, RESPONSABILIDADES Y ETAPAS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Dos procesos que no debes confundir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36192"/>
            <a:ext cx="104241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MEPT describe </a:t>
            </a:r>
            <a:r>
              <a:rPr sz="16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dos </a:t>
            </a:r>
            <a:r>
              <a:rPr sz="16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procesos</a:t>
            </a:r>
            <a:r>
              <a:rPr lang="es-MX" sz="1600" dirty="0">
                <a:solidFill>
                  <a:srgbClr val="182430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sz="16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contenidos en el </a:t>
            </a:r>
            <a:r>
              <a:rPr sz="16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P-DCIA-CPEPT-01-R04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2103120"/>
            <a:ext cx="4069080" cy="56692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Proceso general del Programa OJT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2103120"/>
            <a:ext cx="4114800" cy="566928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Ins="4572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Proceso de entrenamiento en el puesto de trabajo</a:t>
            </a:r>
          </a:p>
        </p:txBody>
      </p:sp>
      <p:pic>
        <p:nvPicPr>
          <p:cNvPr id="6" name="Picture 5" descr="w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231136"/>
            <a:ext cx="310896" cy="310896"/>
          </a:xfrm>
          <a:prstGeom prst="rect">
            <a:avLst/>
          </a:prstGeom>
        </p:spPr>
      </p:pic>
      <p:pic>
        <p:nvPicPr>
          <p:cNvPr id="7" name="Picture 6" descr="w_pract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231136"/>
            <a:ext cx="310896" cy="3108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724912"/>
            <a:ext cx="2011680" cy="521207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¿Qué 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724912"/>
            <a:ext cx="4069080" cy="521207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</a:t>
            </a:r>
            <a:r>
              <a:rPr sz="11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ruta completa</a:t>
            </a: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IVA en el Programa: de la notificación del curso básico al informe final.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724912"/>
            <a:ext cx="4114800" cy="521207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 que ocurre </a:t>
            </a:r>
            <a:r>
              <a:rPr sz="11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en cada evento</a:t>
            </a: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asistencia, instrucción, evaluación, registro y entrega de documentos.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00984"/>
            <a:ext cx="2011680" cy="521207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En el MEPT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3300984"/>
            <a:ext cx="4069080" cy="521207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Numeral </a:t>
            </a:r>
            <a:r>
              <a:rPr sz="11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5.3</a:t>
            </a: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· tabla de </a:t>
            </a:r>
            <a:r>
              <a:rPr sz="11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25 pasos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3300984"/>
            <a:ext cx="4114800" cy="521207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Numeral </a:t>
            </a:r>
            <a:r>
              <a:rPr sz="11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5.4</a:t>
            </a: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· tabla de </a:t>
            </a:r>
            <a:r>
              <a:rPr sz="11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17 pasos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77056"/>
            <a:ext cx="2011680" cy="521207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¿Quién participa?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3877056"/>
            <a:ext cx="4069080" cy="521207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1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CPEPT, ICOJT, IOJT, </a:t>
            </a:r>
            <a:r>
              <a:rPr sz="11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titulares</a:t>
            </a:r>
            <a:r>
              <a:rPr sz="11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1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área</a:t>
            </a:r>
            <a:r>
              <a:rPr sz="11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1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Dirección</a:t>
            </a:r>
            <a:r>
              <a:rPr sz="11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CIAAC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3877056"/>
            <a:ext cx="4114800" cy="521207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El IOJT y tú (IVA AP)</a:t>
            </a: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con seguimiento del ICOJT y la CPEPT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53128"/>
            <a:ext cx="2011680" cy="521207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¿Cuántas veces?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4453128"/>
            <a:ext cx="4069080" cy="521207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Una sola ruta que cubre </a:t>
            </a:r>
            <a:r>
              <a:rPr sz="11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todo tu plan individual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453128"/>
            <a:ext cx="4114800" cy="521207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 repite </a:t>
            </a:r>
            <a:r>
              <a:rPr sz="11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por cada tarea y nivel</a:t>
            </a: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programados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2011680" cy="521207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¿Cómo termina?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5029200"/>
            <a:ext cx="4069080" cy="521207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Expediente integrado e </a:t>
            </a:r>
            <a:r>
              <a:rPr sz="11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informe</a:t>
            </a: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la Dirección del CIAAC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5029200"/>
            <a:ext cx="4114800" cy="521207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Formatos firmados; se regresa a los </a:t>
            </a:r>
            <a:r>
              <a:rPr sz="11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pasos 15, 17 o 19</a:t>
            </a:r>
            <a:r>
              <a:rPr sz="11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proceso general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5669280"/>
            <a:ext cx="1010412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paso 14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proceso general remite a «Proceso de entrenamiento en el puesto de trabajo»: ahí se inserta la fase de entrenamiento.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669280"/>
            <a:ext cx="566928" cy="56692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5.3 y 5.4 (tablas 5.3.7 y 5.4.2).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8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07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34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161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688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15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742"/>
                            </p:stCondLst>
                            <p:childTnLst>
                              <p:par>
                                <p:cTn id="7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439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51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  <p:bldP spid="14" grpId="0" build="whole" animBg="1"/>
      <p:bldP spid="15" grpId="0" build="whole" animBg="1"/>
      <p:bldP spid="16" grpId="0" build="whole" animBg="1"/>
      <p:bldP spid="17" grpId="0" build="whole" animBg="1"/>
      <p:bldP spid="18" grpId="0" build="whole" animBg="1"/>
      <p:bldP spid="19" grpId="0" build="whole" animBg="1"/>
      <p:bldP spid="20" grpId="0" build="whole" animBg="1"/>
      <p:bldP spid="21" grpId="0" build="whole" animBg="1"/>
      <p:bldP spid="22" grpId="0" build="whole" animBg="1"/>
      <p:bldP spid="24" grpId="0" build="whole" animBg="1"/>
      <p:bldP spid="23" grpId="0" build="whole" animBg="1"/>
      <p:bldP spid="25" grpId="0" build="whol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3.1 PROCESO GENERAL DEL PROGRAMA OJT (P-DCIA-CPEPT-01-R04): ALCANCE, RESPONSABILIDADES Y ETAPAS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Responsabilidades en el proceso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 figura tiene una intervención definida en el proceso P-DCIA-CPEPT-01-R04: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91840" cy="658368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Director Ejecutivo, de Área o Comandante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44368"/>
            <a:ext cx="3291840" cy="89611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Aprueba las gestiones para que los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IVA de su área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realicen su OJT.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286000"/>
            <a:ext cx="3291840" cy="658368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Director del CIAAC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944368"/>
            <a:ext cx="3291840" cy="89611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Recibe el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reporte de acciones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realizadas en el Programa OJT.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291840" cy="658368"/>
          </a:xfrm>
          <a:prstGeom prst="roundRect">
            <a:avLst>
              <a:gd name="adj" fmla="val 1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CPEPT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44368"/>
            <a:ext cx="3291840" cy="89611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Realiza las gestiones para la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programación OJT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3291840" cy="658368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Coord. de Programas para la Capacitación de Autoridades Aeronáuticas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36007"/>
            <a:ext cx="3291840" cy="89611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Recibe copia de los formatos OJT para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actualizar el expediente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cada 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977639"/>
            <a:ext cx="3291840" cy="658368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 / IOJT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636007"/>
            <a:ext cx="3291840" cy="89611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Valida y propone el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programa de entrenamiento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lo ejecuta con el IVA aprendiz.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977639"/>
            <a:ext cx="3291840" cy="658368"/>
          </a:xfrm>
          <a:prstGeom prst="roundRect">
            <a:avLst>
              <a:gd name="adj" fmla="val 1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 aprendiz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636007"/>
            <a:ext cx="3291840" cy="89611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Realiza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su entrenamiento OJT.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760720"/>
            <a:ext cx="101041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Este proceso es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auditable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conforme al Manual de Aseguramiento de la Calidad del CIAAC.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760720"/>
            <a:ext cx="502920" cy="5029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5.2.2 y 5.3.5.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12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79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676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288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10" grpId="0" build="whole" animBg="1"/>
      <p:bldP spid="11" grpId="0" build="whole" animBg="1"/>
      <p:bldP spid="6" grpId="0" build="whole" animBg="1"/>
      <p:bldP spid="7" grpId="0" build="whole" animBg="1"/>
      <p:bldP spid="12" grpId="0" build="whole" animBg="1"/>
      <p:bldP spid="13" grpId="0" build="whole" animBg="1"/>
      <p:bldP spid="8" grpId="0" build="whole" animBg="1"/>
      <p:bldP spid="9" grpId="0" build="whole" animBg="1"/>
      <p:bldP spid="14" grpId="0" build="whole" animBg="1"/>
      <p:bldP spid="15" grpId="0" build="whole" animBg="1"/>
      <p:bldP spid="16" grpId="0" build="whole" animBg="1"/>
      <p:bldP spid="17" grpId="0" build="whole" animBg="1"/>
      <p:bldP spid="18" grpId="0" build="whol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3.1 PROCESO GENERAL DEL PROGRAMA OJT (P-DCIA-CPEPT-01-R04): ALCANCE, RESPONSABILIDADES Y ETAPAS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Fases del proceso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36192"/>
            <a:ext cx="104241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</a:t>
            </a:r>
            <a:r>
              <a:rPr lang="es-MX" sz="16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Diagrama de flujo</a:t>
            </a:r>
            <a:r>
              <a:rPr sz="16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del numeral 5.1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agrupa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proceso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general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estas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fases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</a:t>
            </a:r>
          </a:p>
        </p:txBody>
      </p:sp>
      <p:sp>
        <p:nvSpPr>
          <p:cNvPr id="4" name="Pentagon 3"/>
          <p:cNvSpPr/>
          <p:nvPr/>
        </p:nvSpPr>
        <p:spPr>
          <a:xfrm>
            <a:off x="731520" y="2103120"/>
            <a:ext cx="2011680" cy="566928"/>
          </a:xfrm>
          <a:prstGeom prst="homePlat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rIns="45720" rtlCol="0" anchor="ctr"/>
          <a:lstStyle/>
          <a:p>
            <a:pPr algn="ctr">
              <a:spcAft>
                <a:spcPts val="0"/>
              </a:spcAft>
            </a:pPr>
            <a:r>
              <a:rPr sz="125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1. </a:t>
            </a:r>
            <a:r>
              <a:rPr sz="125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Ingreso</a:t>
            </a:r>
            <a:r>
              <a:rPr lang="es-MX" sz="125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al Programa</a:t>
            </a:r>
            <a:endParaRPr sz="1250" b="0" i="0" u="none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pic>
        <p:nvPicPr>
          <p:cNvPr id="5" name="Picture 4" descr="w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274320" cy="274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2743200"/>
            <a:ext cx="1901952" cy="201168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Apruebas tu </a:t>
            </a:r>
            <a:r>
              <a:rPr sz="12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curso básico</a:t>
            </a:r>
            <a:r>
              <a:rPr sz="12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; la CFTAE informa y la </a:t>
            </a:r>
            <a:r>
              <a:rPr sz="12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CPEPT</a:t>
            </a:r>
            <a:r>
              <a:rPr sz="12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te registra y notifica al ICOJT y a tu área.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00600"/>
            <a:ext cx="1901952" cy="347472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Pasos 1 a 4</a:t>
            </a:r>
          </a:p>
        </p:txBody>
      </p:sp>
      <p:sp>
        <p:nvSpPr>
          <p:cNvPr id="8" name="Pentagon 7"/>
          <p:cNvSpPr/>
          <p:nvPr/>
        </p:nvSpPr>
        <p:spPr>
          <a:xfrm>
            <a:off x="2852928" y="2103120"/>
            <a:ext cx="2011680" cy="566928"/>
          </a:xfrm>
          <a:prstGeom prst="homePlat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rIns="45720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2. Programación</a:t>
            </a:r>
          </a:p>
        </p:txBody>
      </p:sp>
      <p:pic>
        <p:nvPicPr>
          <p:cNvPr id="9" name="Picture 8" descr="w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68" y="2249424"/>
            <a:ext cx="274320" cy="274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852928" y="2743200"/>
            <a:ext cx="1901952" cy="201168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2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</a:t>
            </a:r>
            <a:r>
              <a:rPr sz="125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ICOJT</a:t>
            </a:r>
            <a:r>
              <a:rPr sz="12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el IOJT </a:t>
            </a:r>
            <a:r>
              <a:rPr sz="12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</a:t>
            </a:r>
            <a:r>
              <a:rPr sz="12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2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funciones</a:t>
            </a:r>
            <a:r>
              <a:rPr sz="12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2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elabora</a:t>
            </a:r>
            <a:r>
              <a:rPr sz="12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2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2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25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plan individual</a:t>
            </a:r>
            <a:r>
              <a:rPr sz="12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propone </a:t>
            </a:r>
            <a:r>
              <a:rPr sz="12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eventos</a:t>
            </a:r>
            <a:r>
              <a:rPr sz="12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2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12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2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r>
              <a:rPr sz="12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2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12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4800600"/>
            <a:ext cx="1901952" cy="347472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Pasos 5 a 11</a:t>
            </a:r>
          </a:p>
        </p:txBody>
      </p:sp>
      <p:sp>
        <p:nvSpPr>
          <p:cNvPr id="12" name="Pentagon 11"/>
          <p:cNvSpPr/>
          <p:nvPr/>
        </p:nvSpPr>
        <p:spPr>
          <a:xfrm>
            <a:off x="4974336" y="2103120"/>
            <a:ext cx="2011680" cy="566928"/>
          </a:xfrm>
          <a:prstGeom prst="homePlat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rIns="45720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3. Autorización</a:t>
            </a:r>
          </a:p>
        </p:txBody>
      </p:sp>
      <p:pic>
        <p:nvPicPr>
          <p:cNvPr id="13" name="Picture 12" descr="w_sta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2249424"/>
            <a:ext cx="274320" cy="2743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74336" y="2743200"/>
            <a:ext cx="1901952" cy="201168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</a:t>
            </a:r>
            <a:r>
              <a:rPr sz="12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titular del área</a:t>
            </a:r>
            <a:r>
              <a:rPr sz="12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autoriza la programación y, cuando corresponde, emite </a:t>
            </a:r>
            <a:r>
              <a:rPr sz="12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oficio de comisión</a:t>
            </a:r>
            <a:r>
              <a:rPr sz="12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74336" y="4800600"/>
            <a:ext cx="1901952" cy="347472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Pasos 12 y 13</a:t>
            </a:r>
          </a:p>
        </p:txBody>
      </p:sp>
      <p:sp>
        <p:nvSpPr>
          <p:cNvPr id="16" name="Pentagon 15"/>
          <p:cNvSpPr/>
          <p:nvPr/>
        </p:nvSpPr>
        <p:spPr>
          <a:xfrm>
            <a:off x="7095743" y="2103120"/>
            <a:ext cx="2011680" cy="566928"/>
          </a:xfrm>
          <a:prstGeom prst="homePlate">
            <a:avLst/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rIns="45720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4. Entrenamiento</a:t>
            </a:r>
          </a:p>
        </p:txBody>
      </p:sp>
      <p:pic>
        <p:nvPicPr>
          <p:cNvPr id="17" name="Picture 16" descr="w_practi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3" y="2249424"/>
            <a:ext cx="274320" cy="2743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095743" y="2743200"/>
            <a:ext cx="1901952" cy="2011680"/>
          </a:xfrm>
          <a:prstGeom prst="roundRect">
            <a:avLst>
              <a:gd name="adj" fmla="val 5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Niveles </a:t>
            </a:r>
            <a:r>
              <a:rPr sz="125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1, 2 y 3</a:t>
            </a:r>
            <a:r>
              <a:rPr sz="12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con evaluación. La CPEPT </a:t>
            </a:r>
            <a:r>
              <a:rPr sz="125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registra cada nivel</a:t>
            </a:r>
            <a:r>
              <a:rPr sz="12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antes de programar el siguiente.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95743" y="4800600"/>
            <a:ext cx="1901952" cy="347472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Pasos 14 a 19</a:t>
            </a:r>
          </a:p>
        </p:txBody>
      </p:sp>
      <p:sp>
        <p:nvSpPr>
          <p:cNvPr id="20" name="Pentagon 19"/>
          <p:cNvSpPr/>
          <p:nvPr/>
        </p:nvSpPr>
        <p:spPr>
          <a:xfrm>
            <a:off x="9217152" y="2103120"/>
            <a:ext cx="2011680" cy="566928"/>
          </a:xfrm>
          <a:prstGeom prst="homePlat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rIns="45720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5. Registro y reporte</a:t>
            </a:r>
          </a:p>
        </p:txBody>
      </p:sp>
      <p:pic>
        <p:nvPicPr>
          <p:cNvPr id="21" name="Picture 20" descr="w_fol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2" y="2249424"/>
            <a:ext cx="274320" cy="2743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217152" y="2743200"/>
            <a:ext cx="1901952" cy="201168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Copia íntegra al </a:t>
            </a:r>
            <a:r>
              <a:rPr sz="12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expediente</a:t>
            </a:r>
            <a:r>
              <a:rPr sz="12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IVA; la CPEPT registra el avance e </a:t>
            </a:r>
            <a:r>
              <a:rPr sz="125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informa</a:t>
            </a:r>
            <a:r>
              <a:rPr sz="12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la Dirección del CIAAC.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4800600"/>
            <a:ext cx="1901952" cy="347472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Pasos 20 a 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85232"/>
            <a:ext cx="10424160" cy="566928"/>
          </a:xfrm>
          <a:prstGeom prst="roundRect">
            <a:avLst>
              <a:gd name="adj" fmla="val 15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3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 la fase </a:t>
            </a:r>
            <a:r>
              <a:rPr sz="135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4. Entrenamiento</a:t>
            </a:r>
            <a:r>
              <a:rPr sz="13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ocurre el </a:t>
            </a:r>
            <a:r>
              <a:rPr sz="135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proceso de entrenamiento en el puesto de trabajo</a:t>
            </a:r>
            <a:r>
              <a:rPr sz="13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(numeral 5.4), que estudiarás en el tema 3.2.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16168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La Coordinación de Calidad del CIAAC verifica el cumplimiento del proceso mediante auditoría interna.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5.1 (infograma del proceso general) y tabla 5.3.7 (pasos).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12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79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446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913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41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935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1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6" grpId="0" build="whole" animBg="1"/>
      <p:bldP spid="7" grpId="0" build="whole" animBg="1"/>
      <p:bldP spid="8" grpId="0" build="whole" animBg="1"/>
      <p:bldP spid="10" grpId="0" build="whole" animBg="1"/>
      <p:bldP spid="11" grpId="0" build="whole" animBg="1"/>
      <p:bldP spid="12" grpId="0" build="whole" animBg="1"/>
      <p:bldP spid="14" grpId="0" build="whole" animBg="1"/>
      <p:bldP spid="15" grpId="0" build="whole" animBg="1"/>
      <p:bldP spid="16" grpId="0" build="whole" animBg="1"/>
      <p:bldP spid="18" grpId="0" build="whole" animBg="1"/>
      <p:bldP spid="19" grpId="0" build="whole" animBg="1"/>
      <p:bldP spid="20" grpId="0" build="whole" animBg="1"/>
      <p:bldP spid="22" grpId="0" build="whole" animBg="1"/>
      <p:bldP spid="23" grpId="0" build="whole" animBg="1"/>
      <p:bldP spid="24" grpId="0" build="whole" animBg="1"/>
      <p:bldP spid="25" grpId="0" build="whole" animBg="1"/>
      <p:bldP spid="26" grpId="0" build="whole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3.1 PROCESO GENERAL DEL PROGRAMA OJT (P-DCIA-CPEPT-01-R04): ALCANCE, RESPONSABILIDADES Y ETAPAS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Visión integral: dos procesos, una ruta</a:t>
            </a:r>
          </a:p>
        </p:txBody>
      </p:sp>
      <p:pic>
        <p:nvPicPr>
          <p:cNvPr id="3" name="Picture 2" descr="dos_proce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417320"/>
            <a:ext cx="10607040" cy="48489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27648"/>
            <a:ext cx="100584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5.1, 5.3.7, 5.4.1 y 5.4.2. Elaboración propia para fines didácticos.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95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whol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3.2 FASE DE ENTRENAMIENTO Y PLAZOS PARA LA INTEGRACIÓN DOCUMENTAL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Proceso de entrenamiento: cuatro etapas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36192"/>
            <a:ext cx="10424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 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fase de entrenamiento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proceso P-DCIA-CPEPT-01-R04: el IOJT designado te instruye y evalúa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una tarea en un nivel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de forma programada. El diagrama 5.4.1 la divide en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cuatro etapas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</a:t>
            </a:r>
          </a:p>
        </p:txBody>
      </p:sp>
      <p:sp>
        <p:nvSpPr>
          <p:cNvPr id="4" name="Pentagon 3"/>
          <p:cNvSpPr/>
          <p:nvPr/>
        </p:nvSpPr>
        <p:spPr>
          <a:xfrm>
            <a:off x="731520" y="2395728"/>
            <a:ext cx="2560320" cy="603504"/>
          </a:xfrm>
          <a:prstGeom prst="homePlat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Ins="45720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I. Programación</a:t>
            </a:r>
          </a:p>
        </p:txBody>
      </p:sp>
      <p:pic>
        <p:nvPicPr>
          <p:cNvPr id="5" name="Picture 4" descr="w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551176"/>
            <a:ext cx="292608" cy="2926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072384"/>
            <a:ext cx="2432304" cy="182880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Tú y el IOJT reciben la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programación autorizada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y, cuando corresponde, el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oficio de comisión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Se verifica tu asistencia.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2432304" cy="32918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Pasos 1 a 4</a:t>
            </a:r>
          </a:p>
        </p:txBody>
      </p:sp>
      <p:sp>
        <p:nvSpPr>
          <p:cNvPr id="8" name="Pentagon 7"/>
          <p:cNvSpPr/>
          <p:nvPr/>
        </p:nvSpPr>
        <p:spPr>
          <a:xfrm>
            <a:off x="3383280" y="2395728"/>
            <a:ext cx="2560320" cy="603504"/>
          </a:xfrm>
          <a:prstGeom prst="homePlate">
            <a:avLst/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Ins="45720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II. Entrenamiento y evaluación</a:t>
            </a:r>
          </a:p>
        </p:txBody>
      </p:sp>
      <p:pic>
        <p:nvPicPr>
          <p:cNvPr id="9" name="Picture 8" descr="w_pract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2551176"/>
            <a:ext cx="292608" cy="29260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383280" y="3072384"/>
            <a:ext cx="2432304" cy="182880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IOJT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conduce el evento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una tarea y un nivel; tú realizas la tarea y se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aplica la evaluación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937760"/>
            <a:ext cx="2432304" cy="32918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Pasos 5 a 11</a:t>
            </a:r>
          </a:p>
        </p:txBody>
      </p:sp>
      <p:sp>
        <p:nvSpPr>
          <p:cNvPr id="12" name="Pentagon 11"/>
          <p:cNvSpPr/>
          <p:nvPr/>
        </p:nvSpPr>
        <p:spPr>
          <a:xfrm>
            <a:off x="6035040" y="2395728"/>
            <a:ext cx="2560320" cy="603504"/>
          </a:xfrm>
          <a:prstGeom prst="homePlat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Ins="45720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III. Registro y firma</a:t>
            </a:r>
          </a:p>
        </p:txBody>
      </p:sp>
      <p:pic>
        <p:nvPicPr>
          <p:cNvPr id="13" name="Picture 12" descr="w_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551176"/>
            <a:ext cx="292608" cy="29260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035040" y="3072384"/>
            <a:ext cx="2432304" cy="182880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apruebas, el IOJT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registra y firma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resultado y te entrega los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originales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formato y bitácoras.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937760"/>
            <a:ext cx="2432304" cy="32918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Pasos 12 y 13</a:t>
            </a:r>
          </a:p>
        </p:txBody>
      </p:sp>
      <p:sp>
        <p:nvSpPr>
          <p:cNvPr id="16" name="Pentagon 15"/>
          <p:cNvSpPr/>
          <p:nvPr/>
        </p:nvSpPr>
        <p:spPr>
          <a:xfrm>
            <a:off x="8686800" y="2395728"/>
            <a:ext cx="2560320" cy="603504"/>
          </a:xfrm>
          <a:prstGeom prst="homePlat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Ins="45720" rtlCol="0" anchor="ctr"/>
          <a:lstStyle/>
          <a:p>
            <a:pPr algn="ctr">
              <a:spcAft>
                <a:spcPts val="0"/>
              </a:spcAft>
            </a:pPr>
            <a:r>
              <a:rPr sz="125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IV. Informe final</a:t>
            </a:r>
          </a:p>
        </p:txBody>
      </p:sp>
      <p:pic>
        <p:nvPicPr>
          <p:cNvPr id="17" name="Picture 16" descr="w_s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28" y="2551176"/>
            <a:ext cx="292608" cy="29260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0" y="3072384"/>
            <a:ext cx="2432304" cy="182880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Envías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copia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formatos y evidencia al ICOJT; él verifica y la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CPEPT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resguarda y da seguimiento.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4937760"/>
            <a:ext cx="2432304" cy="32918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Pasos 14 a 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5440680"/>
            <a:ext cx="1010412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Al concluir, la CPEPT registra el nivel en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proceso general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(pasos 15, 17 o 19) y solo entonces se programa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siguiente nivel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440680"/>
            <a:ext cx="640080" cy="6400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5.4, 5.4.1 (diagrama de la fase de entrenamiento) y 5.4.2.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12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79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446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143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755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6" grpId="0" build="whole" animBg="1"/>
      <p:bldP spid="7" grpId="0" build="whole" animBg="1"/>
      <p:bldP spid="8" grpId="0" build="whole" animBg="1"/>
      <p:bldP spid="10" grpId="0" build="whole" animBg="1"/>
      <p:bldP spid="11" grpId="0" build="whole" animBg="1"/>
      <p:bldP spid="12" grpId="0" build="whole" animBg="1"/>
      <p:bldP spid="14" grpId="0" build="whole" animBg="1"/>
      <p:bldP spid="15" grpId="0" build="whole" animBg="1"/>
      <p:bldP spid="16" grpId="0" build="whole" animBg="1"/>
      <p:bldP spid="18" grpId="0" build="whole" animBg="1"/>
      <p:bldP spid="19" grpId="0" build="whole" animBg="1"/>
      <p:bldP spid="20" grpId="0" build="whole" animBg="1"/>
      <p:bldP spid="21" grpId="0" build="whole" animBg="1"/>
      <p:bldP spid="22" grpId="0" build="whol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3.2 FASE DE ENTRENAMIENTO Y PLAZOS PARA LA INTEGRACIÓN DOCUMENTAL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Flujo de un evento de entrenamiento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1051560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Si el IVA no se presenta: se notifica la justificación y el ICOJT reprograma.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5.4 (fase de entrenamiento del proceso P-DCIA-CPEPT-01-R04).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73736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Recibe la programación autorizada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697480" y="2011680"/>
            <a:ext cx="320040" cy="329184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063240" y="173736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IOJT instruye la tarea y el nivel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212080" y="2011680"/>
            <a:ext cx="320040" cy="329184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77840" y="173736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IOJT evalúa el desempeño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726679" y="2011680"/>
            <a:ext cx="320040" cy="329184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iamond 29"/>
          <p:cNvSpPr/>
          <p:nvPr/>
        </p:nvSpPr>
        <p:spPr>
          <a:xfrm>
            <a:off x="8092440" y="1572768"/>
            <a:ext cx="1737360" cy="1188720"/>
          </a:xfrm>
          <a:prstGeom prst="diamond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¿Aprueba?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875520" y="2057400"/>
            <a:ext cx="365760" cy="274320"/>
          </a:xfrm>
          <a:prstGeom prst="rightArrow">
            <a:avLst/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0" y="1627632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A3352C"/>
                </a:solidFill>
                <a:latin typeface="Montserrat SemiBold"/>
                <a:ea typeface="Montserrat SemiBold"/>
                <a:cs typeface="Montserrat SemiBold"/>
              </a:rPr>
              <a:t>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87000" y="169164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ECEA"/>
          </a:solidFill>
          <a:ln w="15875">
            <a:solidFill>
              <a:srgbClr val="A3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A3352C"/>
                </a:solidFill>
                <a:latin typeface="Montserrat SemiBold"/>
                <a:ea typeface="Montserrat SemiBold"/>
                <a:cs typeface="Montserrat SemiBold"/>
              </a:rPr>
              <a:t>Brechas y refuerzo; el ICOJT reprograma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61120" y="2761488"/>
            <a:ext cx="0" cy="365760"/>
          </a:xfrm>
          <a:prstGeom prst="line">
            <a:avLst/>
          </a:prstGeom>
          <a:ln w="31750">
            <a:solidFill>
              <a:srgbClr val="2F7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600200" y="3127248"/>
            <a:ext cx="7360920" cy="0"/>
          </a:xfrm>
          <a:prstGeom prst="line">
            <a:avLst/>
          </a:prstGeom>
          <a:ln w="31750">
            <a:solidFill>
              <a:srgbClr val="2F7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00200" y="3127248"/>
            <a:ext cx="0" cy="420624"/>
          </a:xfrm>
          <a:prstGeom prst="line">
            <a:avLst/>
          </a:prstGeom>
          <a:ln w="31750">
            <a:solidFill>
              <a:srgbClr val="2F7A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052560" y="2724912"/>
            <a:ext cx="548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2F7A4D"/>
                </a:solidFill>
                <a:latin typeface="Montserrat SemiBold"/>
                <a:ea typeface="Montserrat SemiBold"/>
                <a:cs typeface="Montserrat SemiBold"/>
              </a:rPr>
              <a:t>Sí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61188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 w="15875">
            <a:solidFill>
              <a:srgbClr val="2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IOJT llena, firma y registra en el Módulo OJT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" y="3685032"/>
            <a:ext cx="329184" cy="329184"/>
          </a:xfrm>
          <a:prstGeom prst="ellipse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090672" y="4050791"/>
            <a:ext cx="301752" cy="310896"/>
          </a:xfrm>
          <a:prstGeom prst="rightArrow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429000" y="361188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 w="15875">
            <a:solidFill>
              <a:srgbClr val="2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IVA AP resguarda el original y envía copia al ICOJT</a:t>
            </a:r>
          </a:p>
        </p:txBody>
      </p:sp>
      <p:sp>
        <p:nvSpPr>
          <p:cNvPr id="42" name="Oval 41"/>
          <p:cNvSpPr/>
          <p:nvPr/>
        </p:nvSpPr>
        <p:spPr>
          <a:xfrm>
            <a:off x="3520440" y="3685032"/>
            <a:ext cx="329184" cy="329184"/>
          </a:xfrm>
          <a:prstGeom prst="ellipse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71031" y="4050791"/>
            <a:ext cx="301752" cy="310896"/>
          </a:xfrm>
          <a:prstGeom prst="rightArrow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09359" y="361188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 w="15875">
            <a:solidFill>
              <a:srgbClr val="2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ICOJT revisa y notifica a la CPEPT</a:t>
            </a:r>
          </a:p>
        </p:txBody>
      </p:sp>
      <p:sp>
        <p:nvSpPr>
          <p:cNvPr id="45" name="Oval 44"/>
          <p:cNvSpPr/>
          <p:nvPr/>
        </p:nvSpPr>
        <p:spPr>
          <a:xfrm>
            <a:off x="6400799" y="3685032"/>
            <a:ext cx="329184" cy="329184"/>
          </a:xfrm>
          <a:prstGeom prst="ellipse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851392" y="4050791"/>
            <a:ext cx="301752" cy="310896"/>
          </a:xfrm>
          <a:prstGeom prst="rightArrow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189719" y="361188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2F7A4D"/>
          </a:solidFill>
          <a:ln w="15875">
            <a:solidFill>
              <a:srgbClr val="2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CPEPT verifica y da seguimiento</a:t>
            </a:r>
          </a:p>
        </p:txBody>
      </p:sp>
      <p:sp>
        <p:nvSpPr>
          <p:cNvPr id="48" name="Oval 47"/>
          <p:cNvSpPr/>
          <p:nvPr/>
        </p:nvSpPr>
        <p:spPr>
          <a:xfrm>
            <a:off x="9281159" y="3685032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2F7A4D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97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12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59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7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21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36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33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305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9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187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459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88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211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496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823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108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435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72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7267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7814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whole" animBg="1"/>
      <p:bldP spid="26" grpId="0" build="whole" animBg="1"/>
      <p:bldP spid="28" grpId="0" build="whole" animBg="1"/>
      <p:bldP spid="30" grpId="0" build="whole" animBg="1"/>
      <p:bldP spid="32" grpId="0" build="whole" animBg="1"/>
      <p:bldP spid="33" grpId="0" build="whole" animBg="1"/>
      <p:bldP spid="37" grpId="0" build="whole" animBg="1"/>
      <p:bldP spid="38" grpId="0" build="whole" animBg="1"/>
      <p:bldP spid="39" grpId="0" build="whole" animBg="1"/>
      <p:bldP spid="41" grpId="0" build="whole" animBg="1"/>
      <p:bldP spid="42" grpId="0" build="whole" animBg="1"/>
      <p:bldP spid="44" grpId="0" build="whole" animBg="1"/>
      <p:bldP spid="45" grpId="0" build="whole" animBg="1"/>
      <p:bldP spid="47" grpId="0" build="whole" animBg="1"/>
      <p:bldP spid="48" grpId="0" build="whole" animBg="1"/>
      <p:bldP spid="22" grpId="0" build="whole" animBg="1"/>
      <p:bldP spid="23" grpId="0" build="whol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3.2 FASE DE ENTRENAMIENTO Y PLAZOS PARA LA INTEGRACIÓN DOCUMENTAL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Cuando el evento no concluye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36192"/>
            <a:ext cx="10424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No todo evento termina en aprobación. La tabla 5.4.2 distingue cada caso: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91840" cy="530352"/>
          </a:xfrm>
          <a:prstGeom prst="roundRect">
            <a:avLst>
              <a:gd name="adj" fmla="val 1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Impedimento o inasistencia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33472"/>
            <a:ext cx="3291840" cy="2487168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68680" rIns="146304" bIns="146304" rtlCol="0" anchor="t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Tú o el IOJT comunican al ICOJT la </a:t>
            </a:r>
            <a:r>
              <a:rPr sz="1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causa y su soporte</a:t>
            </a:r>
            <a:r>
              <a:rPr sz="1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Se distingue ausencia justificada, falta de oportunidad operativa e interrupción. </a:t>
            </a:r>
            <a:r>
              <a:rPr sz="1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Sin evaluación no se registra</a:t>
            </a:r>
            <a:r>
              <a:rPr sz="1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aprobación ni resultado no satisfactorio.</a:t>
            </a:r>
          </a:p>
        </p:txBody>
      </p:sp>
      <p:pic>
        <p:nvPicPr>
          <p:cNvPr id="6" name="Picture 5" descr="c_im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540" y="274320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38928"/>
            <a:ext cx="3291840" cy="310896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Pasos 3 y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291840" cy="530352"/>
          </a:xfrm>
          <a:prstGeom prst="roundRect">
            <a:avLst>
              <a:gd name="adj" fmla="val 10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Resultado no satisfactorio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633472"/>
            <a:ext cx="3291840" cy="2487168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68680" rIns="146304" bIns="146304" rtlCol="0" anchor="t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IOJT registra las </a:t>
            </a:r>
            <a:r>
              <a:rPr sz="1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brechas</a:t>
            </a:r>
            <a:r>
              <a:rPr sz="1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el </a:t>
            </a:r>
            <a:r>
              <a:rPr sz="1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reforzamiento</a:t>
            </a:r>
            <a:r>
              <a:rPr sz="1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requerido, y notifica al ICOJT para </a:t>
            </a:r>
            <a:r>
              <a:rPr sz="1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reprogramar la evaluación</a:t>
            </a:r>
            <a:r>
              <a:rPr sz="1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pic>
        <p:nvPicPr>
          <p:cNvPr id="10" name="Picture 9" descr="c_nos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2743200"/>
            <a:ext cx="685800" cy="685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51960" y="5138928"/>
            <a:ext cx="3291840" cy="310896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Paso 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291840" cy="530352"/>
          </a:xfrm>
          <a:prstGeom prst="roundRect">
            <a:avLst>
              <a:gd name="adj" fmla="val 10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Reprogramación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633472"/>
            <a:ext cx="3291840" cy="2487168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68680" rIns="146304" bIns="146304" rtlCol="0" anchor="t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ICOJT fija causa, medidas, recursos y </a:t>
            </a:r>
            <a:r>
              <a:rPr sz="1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nueva fecha</a:t>
            </a:r>
            <a:r>
              <a:rPr sz="1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y avisa al área y a la CPEPT. El entrenamiento </a:t>
            </a:r>
            <a:r>
              <a:rPr sz="1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se retoma en los pasos 5 y 6</a:t>
            </a:r>
            <a:r>
              <a:rPr sz="1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pic>
        <p:nvPicPr>
          <p:cNvPr id="14" name="Picture 13" descr="c_rep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5420" y="2743200"/>
            <a:ext cx="685800" cy="685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772400" y="5138928"/>
            <a:ext cx="3291840" cy="310896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Pasos 9 a 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559552"/>
            <a:ext cx="10104120" cy="62179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Las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dos oportunidades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por inasistencia justificada no equivalen a evaluaciones aprobatorias automáticas; los resultados previos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se conservan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559552"/>
            <a:ext cx="621792" cy="62179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4.2.5 y 5.4.2 (pasos 3, 4 y 8 a 11).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12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79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676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288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7" grpId="0" build="whole" animBg="1"/>
      <p:bldP spid="8" grpId="0" build="whole" animBg="1"/>
      <p:bldP spid="9" grpId="0" build="whole" animBg="1"/>
      <p:bldP spid="11" grpId="0" build="whole" animBg="1"/>
      <p:bldP spid="12" grpId="0" build="whole" animBg="1"/>
      <p:bldP spid="13" grpId="0" build="whole" animBg="1"/>
      <p:bldP spid="15" grpId="0" build="whole" animBg="1"/>
      <p:bldP spid="16" grpId="0" build="whole" animBg="1"/>
      <p:bldP spid="17" grpId="0" build="whole" animBg="1"/>
      <p:bldP spid="18" grpId="0" build="whol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3.2 FASE DE ENTRENAMIENTO Y PLAZOS PARA LA INTEGRACIÓN DOCUMENTAL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Plazos para entregar la documentación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76666"/>
            <a:ext cx="3291840" cy="1037645"/>
          </a:xfrm>
          <a:prstGeom prst="roundRect">
            <a:avLst>
              <a:gd name="adj" fmla="val 1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 días naturales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14312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IVA AP remite formato, bitácora y evidencias al ICOJT tras concluir el nivel.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41648" y="2208713"/>
            <a:ext cx="182880" cy="332046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1960" y="1876666"/>
            <a:ext cx="3291840" cy="1037645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 días naturales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914312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Máximo para que el ICOJT devuelva la documentación incompleta con observaciones.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62088" y="2208713"/>
            <a:ext cx="182880" cy="332046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0" y="1876666"/>
            <a:ext cx="3291840" cy="1037645"/>
          </a:xfrm>
          <a:prstGeom prst="roundRect">
            <a:avLst>
              <a:gd name="adj" fmla="val 1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 días naturales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914312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Para que el IVA AP atienda las observaciones.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9602"/>
            <a:ext cx="10424160" cy="705598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devolución </a:t>
            </a:r>
            <a:r>
              <a:rPr sz="20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no acredita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nivel y se conserva en el expediente.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5.4 (plazos para la integración y validación de la documentación OJT).</a:t>
            </a:r>
          </a:p>
        </p:txBody>
      </p:sp>
      <p:pic>
        <p:nvPicPr>
          <p:cNvPr id="53" name="Picture 52" descr="w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03464"/>
            <a:ext cx="384048" cy="384048"/>
          </a:xfrm>
          <a:prstGeom prst="rect">
            <a:avLst/>
          </a:prstGeom>
        </p:spPr>
      </p:pic>
      <p:pic>
        <p:nvPicPr>
          <p:cNvPr id="54" name="Picture 53" descr="w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203464"/>
            <a:ext cx="384048" cy="384048"/>
          </a:xfrm>
          <a:prstGeom prst="rect">
            <a:avLst/>
          </a:prstGeom>
        </p:spPr>
      </p:pic>
      <p:pic>
        <p:nvPicPr>
          <p:cNvPr id="55" name="Picture 54" descr="w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203464"/>
            <a:ext cx="384048" cy="3840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97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89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86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78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75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6" grpId="0" build="whole" animBg="1"/>
      <p:bldP spid="7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3.3 FORMATOS GENERALES OJT: LLENADO, FIRMA, ENTREGA Y RESGUARDO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Documentos del Anexo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35161"/>
            <a:ext cx="3291840" cy="66409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Formato general 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99253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Tareas de la especialidad y cumplimiento de cada nivel.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835161"/>
            <a:ext cx="3291840" cy="66409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Bitácora OJT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99253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Subtareas de cada tarea genérica.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35161"/>
            <a:ext cx="3291840" cy="66409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Cumplimiento y evaluación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499253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Resultado del evento y retroalimentación.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4544"/>
            <a:ext cx="10424160" cy="8463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Usa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siempre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2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revisión</a:t>
            </a:r>
            <a:r>
              <a:rPr sz="2200" b="1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2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vigente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Anexo 1.</a:t>
            </a:r>
          </a:p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documento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vincula a</a:t>
            </a:r>
            <a:r>
              <a:rPr lang="es-MX"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aprendiz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evento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2.2 y 5.5.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5532120"/>
            <a:ext cx="101041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 la R06, cada documento se vincula 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un aprendiz, una tarea, un nivel y un evento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Los complementos autorizados no sustituyen el entrenamiento.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532120"/>
            <a:ext cx="658368" cy="65836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pic>
        <p:nvPicPr>
          <p:cNvPr id="46" name="Picture 45" descr="w_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20903"/>
            <a:ext cx="292608" cy="292608"/>
          </a:xfrm>
          <a:prstGeom prst="rect">
            <a:avLst/>
          </a:prstGeom>
        </p:spPr>
      </p:pic>
      <p:pic>
        <p:nvPicPr>
          <p:cNvPr id="47" name="Picture 46" descr="w_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2020903"/>
            <a:ext cx="292608" cy="292608"/>
          </a:xfrm>
          <a:prstGeom prst="rect">
            <a:avLst/>
          </a:prstGeom>
        </p:spPr>
      </p:pic>
      <p:pic>
        <p:nvPicPr>
          <p:cNvPr id="48" name="Picture 47" descr="w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2020903"/>
            <a:ext cx="292608" cy="29260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87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4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51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676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288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1" grpId="0" build="whole" animBg="1"/>
      <p:bldP spid="12" grpId="0" build="whole" animBg="1"/>
      <p:bldP spid="10" grpId="0" build="whol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3.3 FORMATOS GENERALES OJT: LLENADO, FIRMA, ENTREGA Y RESGUARDO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¿Cómo se llena el formato general OJT?</a:t>
            </a:r>
          </a:p>
        </p:txBody>
      </p:sp>
      <p:pic>
        <p:nvPicPr>
          <p:cNvPr id="3" name="Picture 2" descr="s48_f585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10643"/>
            <a:ext cx="3524909" cy="415058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4846320" y="1810257"/>
            <a:ext cx="502920" cy="456563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710643"/>
            <a:ext cx="5760720" cy="788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Datos generales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Nombre, área y credencial AFAC del IVA AP y del IOJT.</a:t>
            </a:r>
          </a:p>
        </p:txBody>
      </p:sp>
      <p:sp>
        <p:nvSpPr>
          <p:cNvPr id="6" name="Oval 5"/>
          <p:cNvSpPr/>
          <p:nvPr/>
        </p:nvSpPr>
        <p:spPr>
          <a:xfrm>
            <a:off x="4846320" y="2640373"/>
            <a:ext cx="502920" cy="456563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540759"/>
            <a:ext cx="5760720" cy="788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Tareas de la especialidad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 tarea genérica y su referencia al manual técnico.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3470489"/>
            <a:ext cx="502920" cy="456563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370875"/>
            <a:ext cx="5760720" cy="788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Cumplimiento por nivel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Columnas Evaluador / Evaluado para los niveles 1, 2 y 3.</a:t>
            </a:r>
          </a:p>
        </p:txBody>
      </p:sp>
      <p:sp>
        <p:nvSpPr>
          <p:cNvPr id="10" name="Oval 9"/>
          <p:cNvSpPr/>
          <p:nvPr/>
        </p:nvSpPr>
        <p:spPr>
          <a:xfrm>
            <a:off x="4846320" y="4300606"/>
            <a:ext cx="502920" cy="456563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200992"/>
            <a:ext cx="5760720" cy="788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 dirty="0" err="1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Iniciales</a:t>
            </a:r>
            <a:r>
              <a:rPr sz="1600" b="1" i="0" u="none" dirty="0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600" b="1" i="0" u="none" dirty="0" err="1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rúbrica</a:t>
            </a:r>
            <a:r>
              <a:rPr sz="1600" b="1" i="0" u="none" dirty="0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600" b="1" i="0" u="none" dirty="0" err="1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fecha</a:t>
            </a:r>
            <a:endParaRPr sz="1600" b="1" i="0" u="none" dirty="0">
              <a:solidFill>
                <a:srgbClr val="9A7323"/>
              </a:solidFill>
              <a:latin typeface="Montserrat Medium"/>
              <a:ea typeface="Montserrat Medium"/>
              <a:cs typeface="Montserrat Medium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participante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con la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fecha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real del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evento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5130722"/>
            <a:ext cx="502920" cy="456563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031108"/>
            <a:ext cx="576072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 dirty="0" err="1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Observaciones</a:t>
            </a:r>
            <a:endParaRPr sz="1600" b="1" i="0" u="none" dirty="0">
              <a:solidFill>
                <a:srgbClr val="9A7323"/>
              </a:solidFill>
              <a:latin typeface="Montserrat Medium"/>
              <a:ea typeface="Montserrat Medium"/>
              <a:cs typeface="Montserrat Medium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Documentos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acreditan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)</a:t>
            </a:r>
            <a:r>
              <a:rPr lang="es-MX"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  <a:endParaRPr sz="1600" b="0" i="0" u="none" dirty="0" err="1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Anexo 1 del MEPT (ejemplo: formato de Operaciones Tierra) y numeral 4.4.</a:t>
            </a:r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FC37CEF6-E979-620A-6754-DF725CF97A40}"/>
              </a:ext>
            </a:extLst>
          </p:cNvPr>
          <p:cNvSpPr/>
          <p:nvPr/>
        </p:nvSpPr>
        <p:spPr>
          <a:xfrm>
            <a:off x="529955" y="2451906"/>
            <a:ext cx="325447" cy="291295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768071A6-0D36-E738-1BC5-DD6CF4436457}"/>
              </a:ext>
            </a:extLst>
          </p:cNvPr>
          <p:cNvSpPr/>
          <p:nvPr/>
        </p:nvSpPr>
        <p:spPr>
          <a:xfrm>
            <a:off x="529954" y="3428999"/>
            <a:ext cx="325448" cy="323731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6A852A82-BCE7-55F2-A773-9A9C70B1A32C}"/>
              </a:ext>
            </a:extLst>
          </p:cNvPr>
          <p:cNvSpPr/>
          <p:nvPr/>
        </p:nvSpPr>
        <p:spPr>
          <a:xfrm>
            <a:off x="1922649" y="3220409"/>
            <a:ext cx="325448" cy="32373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8" name="Oval 11">
            <a:extLst>
              <a:ext uri="{FF2B5EF4-FFF2-40B4-BE49-F238E27FC236}">
                <a16:creationId xmlns:a16="http://schemas.microsoft.com/office/drawing/2014/main" id="{AEB1B5EE-F3D7-8ED6-881E-1B018C2FF2EA}"/>
              </a:ext>
            </a:extLst>
          </p:cNvPr>
          <p:cNvSpPr/>
          <p:nvPr/>
        </p:nvSpPr>
        <p:spPr>
          <a:xfrm>
            <a:off x="3674781" y="3237636"/>
            <a:ext cx="325448" cy="323733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9" name="Oval 9">
            <a:extLst>
              <a:ext uri="{FF2B5EF4-FFF2-40B4-BE49-F238E27FC236}">
                <a16:creationId xmlns:a16="http://schemas.microsoft.com/office/drawing/2014/main" id="{3C16A99F-B3A5-E22F-5A30-AD6777C172E3}"/>
              </a:ext>
            </a:extLst>
          </p:cNvPr>
          <p:cNvSpPr/>
          <p:nvPr/>
        </p:nvSpPr>
        <p:spPr>
          <a:xfrm>
            <a:off x="2248096" y="4109317"/>
            <a:ext cx="325449" cy="323731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17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67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34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1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68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435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902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369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836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303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77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217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whole" animBg="1"/>
      <p:bldP spid="15" grpId="0" build="whole" animBg="1"/>
      <p:bldP spid="17" grpId="0" build="whole" animBg="1"/>
      <p:bldP spid="19" grpId="0" build="whole" animBg="1"/>
      <p:bldP spid="18" grpId="0" build="whole" animBg="1"/>
      <p:bldP spid="4" grpId="0" build="whole" animBg="1"/>
      <p:bldP spid="6" grpId="0" build="whole" animBg="1"/>
      <p:bldP spid="8" grpId="0" build="whole" animBg="1"/>
      <p:bldP spid="10" grpId="0" build="whole" animBg="1"/>
      <p:bldP spid="12" grpId="0" build="whole" animBg="1"/>
      <p:bldP spid="5" grpId="0" build="whole" animBg="1"/>
      <p:bldP spid="7" grpId="0" build="whole" animBg="1"/>
      <p:bldP spid="9" grpId="0" build="whole" animBg="1"/>
      <p:bldP spid="11" grpId="0" build="whole" animBg="1"/>
      <p:bldP spid="13" grpId="0" build="whole" animBg="1"/>
      <p:bldP spid="14" grpId="0" build="whol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3.3 FORMATOS GENERALES OJT: LLENADO, FIRMA, ENTREGA Y RESGUARDO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Lo que todo registro debe contener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93655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Identidad de los participantes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10642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793655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Tarea, subtarea y nivel</a:t>
            </a:r>
          </a:p>
        </p:txBody>
      </p:sp>
      <p:sp>
        <p:nvSpPr>
          <p:cNvPr id="6" name="Oval 5"/>
          <p:cNvSpPr/>
          <p:nvPr/>
        </p:nvSpPr>
        <p:spPr>
          <a:xfrm>
            <a:off x="4160520" y="1710642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793655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Procedimiento y su versión vigente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1710642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5817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Contexto y fechas reales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72805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955817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Criterios evaluados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2872805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955817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Resultado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2872805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7979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Observaciones e intervenciones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034967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117979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Localizador de la evidencia</a:t>
            </a:r>
          </a:p>
        </p:txBody>
      </p:sp>
      <p:sp>
        <p:nvSpPr>
          <p:cNvPr id="18" name="Oval 17"/>
          <p:cNvSpPr/>
          <p:nvPr/>
        </p:nvSpPr>
        <p:spPr>
          <a:xfrm>
            <a:off x="4160520" y="4034967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117979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Firmas o validaciones</a:t>
            </a:r>
          </a:p>
        </p:txBody>
      </p:sp>
      <p:sp>
        <p:nvSpPr>
          <p:cNvPr id="20" name="Oval 19"/>
          <p:cNvSpPr/>
          <p:nvPr/>
        </p:nvSpPr>
        <p:spPr>
          <a:xfrm>
            <a:off x="7680960" y="4034967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4.2.6.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303520"/>
            <a:ext cx="10104120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Antes de cada evento, el instrumento indica objetivo, procedimiento, condiciones, puntos críticos y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criterio de aceptación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no se improvisan criterios después de evaluar.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30352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87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54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151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763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9" grpId="0" build="whole" animBg="1"/>
      <p:bldP spid="10" grpId="0" build="whole" animBg="1"/>
      <p:bldP spid="15" grpId="0" build="whole" animBg="1"/>
      <p:bldP spid="16" grpId="0" build="whole" animBg="1"/>
      <p:bldP spid="5" grpId="0" build="whole" animBg="1"/>
      <p:bldP spid="6" grpId="0" build="whole" animBg="1"/>
      <p:bldP spid="11" grpId="0" build="whole" animBg="1"/>
      <p:bldP spid="12" grpId="0" build="whole" animBg="1"/>
      <p:bldP spid="17" grpId="0" build="whole" animBg="1"/>
      <p:bldP spid="18" grpId="0" build="whole" animBg="1"/>
      <p:bldP spid="7" grpId="0" build="whole" animBg="1"/>
      <p:bldP spid="8" grpId="0" build="whole" animBg="1"/>
      <p:bldP spid="13" grpId="0" build="whole" animBg="1"/>
      <p:bldP spid="14" grpId="0" build="whole" animBg="1"/>
      <p:bldP spid="19" grpId="0" build="whole" animBg="1"/>
      <p:bldP spid="20" grpId="0" build="whole" animBg="1"/>
      <p:bldP spid="22" grpId="0" build="whole" animBg="1"/>
      <p:bldP spid="23" grpId="0" build="whole" animBg="1"/>
      <p:bldP spid="21" grpId="0" build="whole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3.3 FORMATOS GENERALES OJT: LLENADO, FIRMA, ENTREGA Y RESGUARDO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Firma, entrega y resguardo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76666"/>
            <a:ext cx="1920240" cy="622587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99253"/>
            <a:ext cx="19202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Llena, firma y registra en el Módulo OJT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9463" y="2042690"/>
            <a:ext cx="201168" cy="29054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88920" y="1876666"/>
            <a:ext cx="1920240" cy="622587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 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499253"/>
            <a:ext cx="19202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Resguarda el original; envía copia y evidencias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18304" y="2042690"/>
            <a:ext cx="201168" cy="29054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937760" y="1876666"/>
            <a:ext cx="1920240" cy="622587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499253"/>
            <a:ext cx="19202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Revisa, integra el expediente del área y notifica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67144" y="2042690"/>
            <a:ext cx="201168" cy="29054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86600" y="1876666"/>
            <a:ext cx="1920240" cy="622587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CPEPT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499253"/>
            <a:ext cx="19202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Verifica y registra el alcance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015984" y="2042690"/>
            <a:ext cx="201168" cy="29054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235440" y="1876666"/>
            <a:ext cx="1920240" cy="622587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Coord. de Programas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499253"/>
            <a:ext cx="19202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Integra el expediente de capacitación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4544"/>
            <a:ext cx="10424160" cy="1079151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IVA AP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lleva su formato original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cada evento.</a:t>
            </a:r>
          </a:p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Conservación: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5 años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impreso y digital (CIAAC).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3.4.5 j) y k), 3.4.8 e) y k), 5.3.7, 5.3.8 y 5.4.2.</a:t>
            </a:r>
          </a:p>
        </p:txBody>
      </p:sp>
      <p:pic>
        <p:nvPicPr>
          <p:cNvPr id="83" name="Picture 82" descr="w_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9943"/>
            <a:ext cx="256032" cy="256032"/>
          </a:xfrm>
          <a:prstGeom prst="rect">
            <a:avLst/>
          </a:prstGeom>
        </p:spPr>
      </p:pic>
      <p:pic>
        <p:nvPicPr>
          <p:cNvPr id="84" name="Picture 83" descr="w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2059943"/>
            <a:ext cx="256032" cy="256032"/>
          </a:xfrm>
          <a:prstGeom prst="rect">
            <a:avLst/>
          </a:prstGeom>
        </p:spPr>
      </p:pic>
      <p:pic>
        <p:nvPicPr>
          <p:cNvPr id="85" name="Picture 84" descr="w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059943"/>
            <a:ext cx="256032" cy="256032"/>
          </a:xfrm>
          <a:prstGeom prst="rect">
            <a:avLst/>
          </a:prstGeom>
        </p:spPr>
      </p:pic>
      <p:pic>
        <p:nvPicPr>
          <p:cNvPr id="86" name="Picture 85" descr="w_sta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2059943"/>
            <a:ext cx="256032" cy="256032"/>
          </a:xfrm>
          <a:prstGeom prst="rect">
            <a:avLst/>
          </a:prstGeom>
        </p:spPr>
      </p:pic>
      <p:pic>
        <p:nvPicPr>
          <p:cNvPr id="87" name="Picture 86" descr="w_fol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2059943"/>
            <a:ext cx="256032" cy="2560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97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89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86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78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475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867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264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656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153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628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6" grpId="0" build="whole" animBg="1"/>
      <p:bldP spid="7" grpId="0" build="whole" animBg="1"/>
      <p:bldP spid="9" grpId="0" build="whole" animBg="1"/>
      <p:bldP spid="10" grpId="0" build="whole" animBg="1"/>
      <p:bldP spid="12" grpId="0" build="whole" animBg="1"/>
      <p:bldP spid="13" grpId="0" build="whole" animBg="1"/>
      <p:bldP spid="15" grpId="0" build="whole" animBg="1"/>
      <p:bldP spid="16" grpId="0" build="whole" animBg="1"/>
      <p:bldP spid="17" grpId="0" build="whole" animBg="1"/>
      <p:bldP spid="18" grpId="0" build="whole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3.3 FORMATOS GENERALES OJT: LLENADO, FIRMA, ENTREGA Y RESGUARDO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Errores que invalidan un registro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93655"/>
            <a:ext cx="731520" cy="1037645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4480" y="1793655"/>
            <a:ext cx="4206240" cy="1037645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Dos niveles de una tarea en la misma fecha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793655"/>
            <a:ext cx="731520" cy="1037645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93655"/>
            <a:ext cx="4206240" cy="1037645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 copiada o renombrada para otro evento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38829"/>
            <a:ext cx="731520" cy="1037645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3038829"/>
            <a:ext cx="4206240" cy="1037645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Fechas de la comisión en lugar de los días reales</a:t>
            </a:r>
          </a:p>
          <a:p>
            <a:pPr algn="l"/>
            <a:r>
              <a:rPr sz="105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Un oficio de comisión no precisa los días en que se realizó cada tarea.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38829"/>
            <a:ext cx="731520" cy="1037645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038829"/>
            <a:ext cx="4206240" cy="1037645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Lista firmada solo por el instructor como única evidencia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84003"/>
            <a:ext cx="731520" cy="1037645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4284003"/>
            <a:ext cx="4206240" cy="1037645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Alterar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fechas</a:t>
            </a:r>
            <a:r>
              <a:rPr lang="es-MX" sz="16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firmas y rúbrica 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eliminar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antecedentes</a:t>
            </a:r>
            <a:endParaRPr sz="16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35040" y="4284003"/>
            <a:ext cx="731520" cy="1037645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284003"/>
            <a:ext cx="4206240" cy="1037645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Registrar como cumplida una tarea sin oportunidad operativa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3.4.11 y 4.2.4 b), d), e), g) e i).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440680"/>
            <a:ext cx="101041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se detecta alguno de estos errores, se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documenta la inconsistencia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se programan los eventos faltantes;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nunca se alteran fechas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440680"/>
            <a:ext cx="685800" cy="6858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87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4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21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88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855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22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89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6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23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9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657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354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66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  <p:bldP spid="14" grpId="0" build="whole" animBg="1"/>
      <p:bldP spid="16" grpId="0" build="whole" animBg="1"/>
      <p:bldP spid="17" grpId="0" build="whole" animBg="1"/>
      <p:bldP spid="15" grpId="0" build="whol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3.4 MODIFICACIÓN, ADICIÓN O EXCLUSIÓN DE TAREAS/SUBTAREAS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¿Por qué se modifican las tareas?</a:t>
            </a:r>
          </a:p>
        </p:txBody>
      </p:sp>
      <p:pic>
        <p:nvPicPr>
          <p:cNvPr id="3" name="Picture 2" descr="s33_7692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59678"/>
            <a:ext cx="2656371" cy="2656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793655"/>
            <a:ext cx="7132320" cy="286232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subtareas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pueden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modificarse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,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adicionarse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o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excluirse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desarrollo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</a:t>
            </a:r>
            <a:r>
              <a:rPr lang="es-MX"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aviación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Cambios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legislación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nacional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internacional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necesidades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áreas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4.9 y 4.10.3.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731520" y="4937760"/>
            <a:ext cx="8503919" cy="914400"/>
          </a:xfrm>
          <a:prstGeom prst="wedgeRoundRectCallout">
            <a:avLst>
              <a:gd name="adj1" fmla="val 44807"/>
              <a:gd name="adj2" fmla="val -77182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 cambio en las normas o en los manuales técnicos puede modificar tu formato. La CPEPT conserva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la versión anterior y la nueva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y el cambio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acredita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por sí solo nuevas tareas.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3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whole" animBg="1"/>
      <p:bldP spid="6" grpId="0" build="whole" animBg="1"/>
      <p:bldP spid="5" grpId="0" build="whole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3.4 MODIFICACIÓN, ADICIÓN O EXCLUSIÓN DE TAREAS/SUBTAREAS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Procedimiento de modificación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93655"/>
            <a:ext cx="242316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Área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91724"/>
            <a:ext cx="2423160" cy="1245174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Solicita por oficio a la CPEPT: tarea y justificación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81528" y="1918172"/>
            <a:ext cx="228600" cy="265637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37560" y="1793655"/>
            <a:ext cx="242316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CPEPT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291724"/>
            <a:ext cx="2423160" cy="1245174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Envía la propuesta por correo a las áreas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79008" y="1918172"/>
            <a:ext cx="228600" cy="265637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35040" y="1793655"/>
            <a:ext cx="242316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Áreas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91724"/>
            <a:ext cx="2423160" cy="1245174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Comentan en 2 días hábiles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76488" y="1918172"/>
            <a:ext cx="228600" cy="265637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32520" y="1793655"/>
            <a:ext cx="242316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CPEPT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2291724"/>
            <a:ext cx="2423160" cy="1245174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Analiza si procede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2743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No procede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25509"/>
            <a:ext cx="5029200" cy="1079151"/>
          </a:xfrm>
          <a:prstGeom prst="roundRect">
            <a:avLst>
              <a:gd name="adj" fmla="val 3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Oficio con los motivos al área. Fin.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82743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Procede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325509"/>
            <a:ext cx="5029200" cy="1079151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CPEPT actualiza formatos, bitácoras y Módulo OJT; el área lo aplica.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7672"/>
            <a:ext cx="1042416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Actualizar un formato no acredita nuevas tareas ni niveles.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4.10 (P-DCIA-CPEPT-04-R04).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97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89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86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78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75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67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334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801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298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773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6" grpId="0" build="whole" animBg="1"/>
      <p:bldP spid="7" grpId="0" build="whole" animBg="1"/>
      <p:bldP spid="9" grpId="0" build="whole" animBg="1"/>
      <p:bldP spid="10" grpId="0" build="whole" animBg="1"/>
      <p:bldP spid="12" grpId="0" build="whole" animBg="1"/>
      <p:bldP spid="13" grpId="0" build="whole" animBg="1"/>
      <p:bldP spid="14" grpId="0" build="whole" animBg="1"/>
      <p:bldP spid="15" grpId="0" build="whole" animBg="1"/>
      <p:bldP spid="16" grpId="0" build="whole" animBg="1"/>
      <p:bldP spid="17" grpId="0" build="whole" animBg="1"/>
      <p:bldP spid="18" grpId="0" build="whole" animBg="1"/>
      <p:bldP spid="19" grpId="0" build="whol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 DE GESTIÓN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Módulo OJT de la plataforma de la AFAC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52149"/>
            <a:ext cx="10424160" cy="8301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Medio institucional válido para </a:t>
            </a:r>
            <a:r>
              <a:rPr sz="2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gestionar, registrar, consultar y dar seguimiento</a:t>
            </a: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al Programa OJT.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2789794"/>
            <a:ext cx="2377440" cy="705598"/>
          </a:xfrm>
          <a:prstGeom prst="roundRect">
            <a:avLst>
              <a:gd name="adj" fmla="val 3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Física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789794"/>
            <a:ext cx="2377440" cy="705598"/>
          </a:xfrm>
          <a:prstGeom prst="roundRect">
            <a:avLst>
              <a:gd name="adj" fmla="val 3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789794"/>
            <a:ext cx="2377440" cy="705598"/>
          </a:xfrm>
          <a:prstGeom prst="roundRect">
            <a:avLst>
              <a:gd name="adj" fmla="val 3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Mixta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2922"/>
            <a:ext cx="10424160" cy="20752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Mismos requisitos</a:t>
            </a: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en cualquier medio.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Cargar un documento </a:t>
            </a:r>
            <a:r>
              <a:rPr sz="2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acredita</a:t>
            </a: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ni autoriza.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 uso es gradual, por Dirección.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4.11.1, 4.11.2 y 4.11.4.</a:t>
            </a:r>
          </a:p>
        </p:txBody>
      </p:sp>
      <p:pic>
        <p:nvPicPr>
          <p:cNvPr id="31" name="Picture 30" descr="w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2987145"/>
            <a:ext cx="310896" cy="310896"/>
          </a:xfrm>
          <a:prstGeom prst="rect">
            <a:avLst/>
          </a:prstGeom>
        </p:spPr>
      </p:pic>
      <p:pic>
        <p:nvPicPr>
          <p:cNvPr id="32" name="Picture 31" descr="w_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987145"/>
            <a:ext cx="310896" cy="310896"/>
          </a:xfrm>
          <a:prstGeom prst="rect">
            <a:avLst/>
          </a:prstGeom>
        </p:spPr>
      </p:pic>
      <p:pic>
        <p:nvPicPr>
          <p:cNvPr id="33" name="Picture 32" descr="w_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2987145"/>
            <a:ext cx="310896" cy="31089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12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79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76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951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 DE GESTIÓN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Perfiles y buenas prácticas en el Módulo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35161"/>
            <a:ext cx="1965960" cy="830116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4747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Captura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835161"/>
            <a:ext cx="1965960" cy="830116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4747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Evaluación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835161"/>
            <a:ext cx="1965960" cy="830116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4747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Revisión documental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835161"/>
            <a:ext cx="1965960" cy="830116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4747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Autorización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835161"/>
            <a:ext cx="1965960" cy="830116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4747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Registro institucional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38829"/>
            <a:ext cx="329184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Acceso personal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19910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No compartas tu cuenta.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038829"/>
            <a:ext cx="329184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Guardar ≠ aprobar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619910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Guardar no equivale a aprobar.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038829"/>
            <a:ext cx="329184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Evalúa a tu instructor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619910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Al terminar cada actividad, responde la evaluación en tu perfil.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4.11.3 y 5.6.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5577840"/>
            <a:ext cx="1010412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opinión sobre el instructor es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confidencial y complementaria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no modifica el resultado de tu nivel.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577840"/>
            <a:ext cx="594360" cy="59436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pic>
        <p:nvPicPr>
          <p:cNvPr id="67" name="Picture 66" descr="w_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908313"/>
            <a:ext cx="274320" cy="274320"/>
          </a:xfrm>
          <a:prstGeom prst="rect">
            <a:avLst/>
          </a:prstGeom>
        </p:spPr>
      </p:pic>
      <p:pic>
        <p:nvPicPr>
          <p:cNvPr id="68" name="Picture 67" descr="w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1908313"/>
            <a:ext cx="274320" cy="274320"/>
          </a:xfrm>
          <a:prstGeom prst="rect">
            <a:avLst/>
          </a:prstGeom>
        </p:spPr>
      </p:pic>
      <p:pic>
        <p:nvPicPr>
          <p:cNvPr id="69" name="Picture 68" descr="w_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580" y="1908313"/>
            <a:ext cx="274320" cy="274320"/>
          </a:xfrm>
          <a:prstGeom prst="rect">
            <a:avLst/>
          </a:prstGeom>
        </p:spPr>
      </p:pic>
      <p:pic>
        <p:nvPicPr>
          <p:cNvPr id="70" name="Picture 69" descr="w_sta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2420" y="1908313"/>
            <a:ext cx="274320" cy="274320"/>
          </a:xfrm>
          <a:prstGeom prst="rect">
            <a:avLst/>
          </a:prstGeom>
        </p:spPr>
      </p:pic>
      <p:pic>
        <p:nvPicPr>
          <p:cNvPr id="71" name="Picture 70" descr="w_fol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60" y="1908313"/>
            <a:ext cx="274320" cy="274320"/>
          </a:xfrm>
          <a:prstGeom prst="rect">
            <a:avLst/>
          </a:prstGeom>
        </p:spPr>
      </p:pic>
      <p:pic>
        <p:nvPicPr>
          <p:cNvPr id="72" name="Picture 71" descr="w_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12" y="3192209"/>
            <a:ext cx="274320" cy="274320"/>
          </a:xfrm>
          <a:prstGeom prst="rect">
            <a:avLst/>
          </a:prstGeom>
        </p:spPr>
      </p:pic>
      <p:pic>
        <p:nvPicPr>
          <p:cNvPr id="73" name="Picture 72" descr="w_sa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6552" y="3192209"/>
            <a:ext cx="274320" cy="274320"/>
          </a:xfrm>
          <a:prstGeom prst="rect">
            <a:avLst/>
          </a:prstGeom>
        </p:spPr>
      </p:pic>
      <p:pic>
        <p:nvPicPr>
          <p:cNvPr id="74" name="Picture 73" descr="w_st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6992" y="3192209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21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88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55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322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89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486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98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  <p:bldP spid="15" grpId="0" build="whole" animBg="1"/>
      <p:bldP spid="16" grpId="0" build="whole" animBg="1"/>
      <p:bldP spid="14" grpId="0" build="whol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 DE GESTIÓN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Tu OJT en físico y en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Programa OJT puede documentarse por medios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físicos, digitales o mixtos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El medio cambia,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las reglas no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Expediente físico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Formato OJT y bitácoras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firmas y rúbricas.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93592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Tú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resguardas el original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lo llevas a cada evento.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15384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Copia al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expediente del área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del CIAAC.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37176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procedimiento físico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sigue vigente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31720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Módulo OJT (digital)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71800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Programación, convocatoria y </a:t>
            </a:r>
            <a:r>
              <a:rPr sz="14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registro de resultados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593592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Carga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lang="es-MX" sz="14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documentos (oficio de comisión, evidencias, fotos, etc.)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215384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Convalidaciones y </a:t>
            </a:r>
            <a:r>
              <a:rPr sz="14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reporte de avance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por IVA.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837176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Acceso </a:t>
            </a:r>
            <a:r>
              <a:rPr sz="14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personal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según tu perfil.</a:t>
            </a:r>
          </a:p>
        </p:txBody>
      </p:sp>
      <p:sp>
        <p:nvSpPr>
          <p:cNvPr id="14" name="Oval 13"/>
          <p:cNvSpPr/>
          <p:nvPr/>
        </p:nvSpPr>
        <p:spPr>
          <a:xfrm>
            <a:off x="5623560" y="3611880"/>
            <a:ext cx="640080" cy="6400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553212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registro electrónico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sustituye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las firmas, autorizaciones ni originales: los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vincula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hace trazable su seguimiento. Ante cualquier diferencia, manda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MEPT vigente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53212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4.11.1 y 4.11.2; MEPT, Anexo 2 (Manual de usuario del Módulo OJT), numerales 1.2 y 1.3.</a:t>
            </a:r>
          </a:p>
        </p:txBody>
      </p:sp>
      <p:pic>
        <p:nvPicPr>
          <p:cNvPr id="66" name="Picture 65" descr="w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50592"/>
            <a:ext cx="310896" cy="310896"/>
          </a:xfrm>
          <a:prstGeom prst="rect">
            <a:avLst/>
          </a:prstGeom>
        </p:spPr>
      </p:pic>
      <p:pic>
        <p:nvPicPr>
          <p:cNvPr id="67" name="Picture 66" descr="w_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450592"/>
            <a:ext cx="310896" cy="31089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12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79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76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288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14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  <p:bldP spid="15" grpId="0" build="whole" animBg="1"/>
      <p:bldP spid="16" grpId="0" build="whole" animBg="1"/>
      <p:bldP spid="17" grpId="0" build="whol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 DE GESTIÓN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Ruta operativa del Módulo OJT</a:t>
            </a:r>
          </a:p>
        </p:txBody>
      </p:sp>
      <p:pic>
        <p:nvPicPr>
          <p:cNvPr id="3" name="Picture 2" descr="mu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1887246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06908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Menú OJT de la plataforma</a:t>
            </a:r>
          </a:p>
        </p:txBody>
      </p:sp>
      <p:sp>
        <p:nvSpPr>
          <p:cNvPr id="5" name="Oval 4"/>
          <p:cNvSpPr/>
          <p:nvPr/>
        </p:nvSpPr>
        <p:spPr>
          <a:xfrm>
            <a:off x="3383280" y="1636776"/>
            <a:ext cx="457200" cy="457200"/>
          </a:xfrm>
          <a:prstGeom prst="ellips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600200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Catálogos: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Especialidad, tareas y subtareas vigentes</a:t>
            </a:r>
          </a:p>
        </p:txBody>
      </p:sp>
      <p:sp>
        <p:nvSpPr>
          <p:cNvPr id="7" name="Oval 6"/>
          <p:cNvSpPr/>
          <p:nvPr/>
        </p:nvSpPr>
        <p:spPr>
          <a:xfrm>
            <a:off x="3383280" y="2240280"/>
            <a:ext cx="457200" cy="457200"/>
          </a:xfrm>
          <a:prstGeom prst="ellips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2203704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Instructores: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Alta de instructores designados</a:t>
            </a:r>
          </a:p>
        </p:txBody>
      </p:sp>
      <p:sp>
        <p:nvSpPr>
          <p:cNvPr id="9" name="Oval 8"/>
          <p:cNvSpPr/>
          <p:nvPr/>
        </p:nvSpPr>
        <p:spPr>
          <a:xfrm>
            <a:off x="3383280" y="2843784"/>
            <a:ext cx="457200" cy="457200"/>
          </a:xfrm>
          <a:prstGeom prst="ellips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807208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Programación: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Tarea, nivel, instructor, fechas y sede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3447288"/>
            <a:ext cx="457200" cy="457200"/>
          </a:xfrm>
          <a:prstGeom prst="ellipse">
            <a:avLst/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3410712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Convocatoria: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Confirmas o justificas tu asistencia</a:t>
            </a:r>
          </a:p>
        </p:txBody>
      </p:sp>
      <p:sp>
        <p:nvSpPr>
          <p:cNvPr id="13" name="Oval 12"/>
          <p:cNvSpPr/>
          <p:nvPr/>
        </p:nvSpPr>
        <p:spPr>
          <a:xfrm>
            <a:off x="3383280" y="4050792"/>
            <a:ext cx="457200" cy="457200"/>
          </a:xfrm>
          <a:prstGeom prst="ellips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4014216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Ejecución: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realiza el evento del nivel</a:t>
            </a:r>
          </a:p>
        </p:txBody>
      </p:sp>
      <p:sp>
        <p:nvSpPr>
          <p:cNvPr id="15" name="Oval 14"/>
          <p:cNvSpPr/>
          <p:nvPr/>
        </p:nvSpPr>
        <p:spPr>
          <a:xfrm>
            <a:off x="3383280" y="4654296"/>
            <a:ext cx="457200" cy="457200"/>
          </a:xfrm>
          <a:prstGeom prst="ellips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4617720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Acreditación o convalidación: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Resultado con evidencia</a:t>
            </a:r>
          </a:p>
        </p:txBody>
      </p:sp>
      <p:sp>
        <p:nvSpPr>
          <p:cNvPr id="17" name="Oval 16"/>
          <p:cNvSpPr/>
          <p:nvPr/>
        </p:nvSpPr>
        <p:spPr>
          <a:xfrm>
            <a:off x="3383280" y="5257800"/>
            <a:ext cx="457200" cy="457200"/>
          </a:xfrm>
          <a:prstGeom prst="ellipse">
            <a:avLst/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5221224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r>
              <a:rPr sz="14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Reporte</a:t>
            </a:r>
            <a:r>
              <a:rPr lang="es-MX" sz="14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consulta tu avance y cumplimiento por tarea y nivel (PDF)</a:t>
            </a:r>
            <a:endParaRPr sz="1400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42416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lang="es-MX" sz="13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el círculo</a:t>
            </a:r>
            <a:r>
              <a:rPr lang="es-MX" sz="13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3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dorado, </a:t>
            </a:r>
            <a:r>
              <a:rPr lang="es-MX" sz="13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están </a:t>
            </a:r>
            <a:r>
              <a:rPr sz="13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los</a:t>
            </a:r>
            <a:r>
              <a:rPr sz="13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pasos </a:t>
            </a:r>
            <a:r>
              <a:rPr sz="13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donde</a:t>
            </a:r>
            <a:r>
              <a:rPr sz="13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3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tú</a:t>
            </a:r>
            <a:r>
              <a:rPr sz="13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3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intervienes</a:t>
            </a:r>
            <a:r>
              <a:rPr sz="13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3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directamente</a:t>
            </a:r>
            <a:r>
              <a:rPr sz="13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3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3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13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plataforma</a:t>
            </a:r>
            <a:r>
              <a:rPr sz="13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Anexo 2 (Manual de usuario del Módulo OJT), numerales 2 y 3.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17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67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34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31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56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81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106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601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68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65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6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57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52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549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74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549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whole" animBg="1"/>
      <p:bldP spid="7" grpId="0" build="whole" animBg="1"/>
      <p:bldP spid="9" grpId="0" build="whole" animBg="1"/>
      <p:bldP spid="11" grpId="0" build="whole" animBg="1"/>
      <p:bldP spid="6" grpId="0" build="whole" animBg="1"/>
      <p:bldP spid="8" grpId="0" build="whole" animBg="1"/>
      <p:bldP spid="10" grpId="0" build="whole" animBg="1"/>
      <p:bldP spid="12" grpId="0" build="whole" animBg="1"/>
      <p:bldP spid="4" grpId="0" build="whole" animBg="1"/>
      <p:bldP spid="13" grpId="0" build="whole" animBg="1"/>
      <p:bldP spid="14" grpId="0" build="whole" animBg="1"/>
      <p:bldP spid="15" grpId="0" build="whole" animBg="1"/>
      <p:bldP spid="16" grpId="0" build="whole" animBg="1"/>
      <p:bldP spid="17" grpId="0" build="whole" animBg="1"/>
      <p:bldP spid="18" grpId="0" build="whole" animBg="1"/>
      <p:bldP spid="19" grpId="0" build="whole" animBg="1"/>
      <p:bldP spid="20" grpId="0" build="whol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 DE GESTIÓN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Responde tu convocatoria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Entra a tu </a:t>
            </a:r>
            <a:r>
              <a:rPr sz="17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Perfil</a:t>
            </a: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→ pestaña </a:t>
            </a:r>
            <a:r>
              <a:rPr sz="17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Cursos por confirmar</a:t>
            </a: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→ </a:t>
            </a:r>
            <a:r>
              <a:rPr sz="17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Confirmar</a:t>
            </a: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Revisa tarea, fechas, sede e instructor.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Asistirás: selecciona «Sí» y Aceptar</a:t>
            </a:r>
          </a:p>
        </p:txBody>
      </p:sp>
      <p:pic>
        <p:nvPicPr>
          <p:cNvPr id="5" name="Picture 4" descr="mu_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61488"/>
            <a:ext cx="3051481" cy="2240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224028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No puedes: «No», motivo y justificante</a:t>
            </a:r>
          </a:p>
        </p:txBody>
      </p:sp>
      <p:pic>
        <p:nvPicPr>
          <p:cNvPr id="7" name="Picture 6" descr="mu_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61488"/>
            <a:ext cx="2956131" cy="2240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51560" y="5212080"/>
            <a:ext cx="10104120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estado cambia 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Confirmado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Si no asistes, el sistema conserva tu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motivo y justificante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que el ICOJT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reprograme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(hasta dos oportunidades adicionales por nivel).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21208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Anexo 2 (Manual de usuario del Módulo OJT), numerales 5.4, 6.1 y 6.2; MEPT, numeral 3.4.5 g).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5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72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369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981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6" grpId="0" build="whole" animBg="1"/>
      <p:bldP spid="8" grpId="0" build="whole" animBg="1"/>
      <p:bldP spid="9" grpId="0" build="whole" animBg="1"/>
      <p:bldP spid="10" grpId="0" build="whol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 DE GESTIÓN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Registro del resultado y estados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Tras el evento, el IOJT registra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y lugar reales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subtareas cubiertas y resultado, y adjunta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formato, bitácora y evidencia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Cada nivel toma un estado: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Pendiente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331720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Sin evaluación aprobatoria ni convalidación.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331720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Programado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331720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 fecha e instructor; aún no concluye.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81527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En proceso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081527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Falta evaluación, evidencia o validación.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081527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Cumplido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081527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Acreditado por programación ordinaria.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31335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Convalidado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831335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Reconocido por dictamen y evidencia.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831335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No acreditado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831335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Requiere refuerzo y nueva programación.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581144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No aplica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4581144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Exclusión autorizada y con fundamento.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5440680"/>
            <a:ext cx="101041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estado debe reflejar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resultado real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no solo la carga de un archivo. Un oficio de comisión o una constancia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prueban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ejecución.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440680"/>
            <a:ext cx="685800" cy="6858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Anexo 2 (Manual de usuario del Módulo OJT), numerales 7.1 y 7.2; MEPT, numeral 4.2.6.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12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79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46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913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8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47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314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781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248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945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557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8" grpId="0" build="whole" animBg="1"/>
      <p:bldP spid="5" grpId="0" build="whole" animBg="1"/>
      <p:bldP spid="9" grpId="0" build="whole" animBg="1"/>
      <p:bldP spid="6" grpId="0" build="whole" animBg="1"/>
      <p:bldP spid="10" grpId="0" build="whole" animBg="1"/>
      <p:bldP spid="7" grpId="0" build="whole" animBg="1"/>
      <p:bldP spid="11" grpId="0" build="whole" animBg="1"/>
      <p:bldP spid="12" grpId="0" build="whole" animBg="1"/>
      <p:bldP spid="13" grpId="0" build="whole" animBg="1"/>
      <p:bldP spid="14" grpId="0" build="whole" animBg="1"/>
      <p:bldP spid="15" grpId="0" build="whole" animBg="1"/>
      <p:bldP spid="16" grpId="0" build="whole" animBg="1"/>
      <p:bldP spid="17" grpId="0" build="whole" animBg="1"/>
      <p:bldP spid="18" grpId="0" build="whole" animBg="1"/>
      <p:bldP spid="19" grpId="0" build="whole" animBg="1"/>
      <p:bldP spid="20" grpId="0" build="whol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 DE GESTIÓN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Convalidación en el Módulo OJT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 captura con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Modalidad = Convalidación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(formato anterior o evidencia documental), por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tarea y nivel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El sistema muestra por separado:</a:t>
            </a:r>
          </a:p>
        </p:txBody>
      </p:sp>
      <p:sp>
        <p:nvSpPr>
          <p:cNvPr id="4" name="Oval 3"/>
          <p:cNvSpPr/>
          <p:nvPr/>
        </p:nvSpPr>
        <p:spPr>
          <a:xfrm>
            <a:off x="2057400" y="2331720"/>
            <a:ext cx="502920" cy="5029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Fecha histórica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320040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Cuándo ocurrió la actividad o se emitió el documento fuente.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3017520"/>
            <a:ext cx="274320" cy="32004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23560" y="2331720"/>
            <a:ext cx="502920" cy="5029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926080"/>
            <a:ext cx="3200400" cy="502920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Fecha de dictamen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429000"/>
            <a:ext cx="320040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Día en que el ICOJT determina la procedencia.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543800" y="3017520"/>
            <a:ext cx="274320" cy="32004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89719" y="2331720"/>
            <a:ext cx="502920" cy="5029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926080"/>
            <a:ext cx="3200400" cy="50292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Fecha de carga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29000"/>
            <a:ext cx="320040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Cuándo se registró en la plataforma.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09160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 el reporte: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de ejecución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programación y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de dictamen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convalidación.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44068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 nivel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puede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quedar a la vez como cumplido y convalidado, y la evidencia ya dictaminada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se reemplaza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toda corrección genera una nueva versión con motivo.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44068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Anexo 2 (Manual de usuario del Módulo OJT), numerales 8.3 a 8.5; MEPT, numerales 4.4 y 4.5.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25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22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14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11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603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1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825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437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8" grpId="0" build="whole" animBg="1"/>
      <p:bldP spid="9" grpId="0" build="whole" animBg="1"/>
      <p:bldP spid="10" grpId="0" build="whole" animBg="1"/>
      <p:bldP spid="12" grpId="0" build="whole" animBg="1"/>
      <p:bldP spid="13" grpId="0" build="whole" animBg="1"/>
      <p:bldP spid="14" grpId="0" build="whole" animBg="1"/>
      <p:bldP spid="15" grpId="0" build="whole" animBg="1"/>
      <p:bldP spid="16" grpId="0" build="whole" animBg="1"/>
      <p:bldP spid="17" grpId="0" build="whole" animBg="1"/>
      <p:bldP spid="18" grpId="0" build="whole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 DE GESTIÓN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Tu reporte de avance y cumplimiento</a:t>
            </a:r>
          </a:p>
        </p:txBody>
      </p:sp>
      <p:pic>
        <p:nvPicPr>
          <p:cNvPr id="3" name="Picture 2" descr="mu_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6071457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206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El reporte en PDF muestra: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103120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Datos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IVA y 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514600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tarea y nivel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su estado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926079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Modalidad: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programación o convalidación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337560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Fecha e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instructor OJT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749039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Validación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institucional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4251960"/>
            <a:ext cx="4206240" cy="868680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Avance (%)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=</a:t>
            </a:r>
          </a:p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niveles cumplidos o convalidados ÷ niveles aplicables ×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79" y="5303520"/>
            <a:ext cx="388620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Descargar el reporte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sustituye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resguardo de tus formatos, bitácoras y anexos.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0" y="534924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Anexo 2 (Manual de usuario del Módulo OJT), numerales 9.1 a 9.3 (ejemplo ilustrativo del reporte).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17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97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09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 DE GESTIÓN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Migración de tus antecedentes al Módulo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CIAAC migrará los registros históricos del OJT al Módulo </a:t>
            </a:r>
            <a:r>
              <a:rPr sz="17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 manera gradual, por Dirección</a:t>
            </a: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Mientras tanto: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Formatos heredados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ICOJT te pedirá tus formatos anteriores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digitalizados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cargarlos.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33172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Nada automático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78892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Ningún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antecedente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convierte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por</a:t>
            </a:r>
            <a:r>
              <a:rPr sz="14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sí</a:t>
            </a:r>
            <a:r>
              <a:rPr sz="14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solo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cumplido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se </a:t>
            </a:r>
            <a:r>
              <a:rPr lang="es-MX" sz="14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realiza el inventario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lang="es-MX"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valida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vincula.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Continuidad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migración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detiene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tu OJT: el programa sigue operando en forma habitual.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93192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Sin repetir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38912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Pasar a digital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obliga a repetir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entrenamiento válidamente realizado.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623560"/>
            <a:ext cx="10104120" cy="62179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Para operar el Módulo consulta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Anexo 2 del MEPT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el manual de usuario del Módulo OJT, disponible en la plataforma.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623560"/>
            <a:ext cx="621792" cy="62179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3.4.5 o) y p), 4.11.1 y 4.11.4; MEPT, Anexo 2 (Manual de usuario del Módulo OJT), numeral 10.3.</a:t>
            </a:r>
          </a:p>
        </p:txBody>
      </p:sp>
      <p:pic>
        <p:nvPicPr>
          <p:cNvPr id="53" name="Picture 52" descr="w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274320" cy="274320"/>
          </a:xfrm>
          <a:prstGeom prst="rect">
            <a:avLst/>
          </a:prstGeom>
        </p:spPr>
      </p:pic>
      <p:pic>
        <p:nvPicPr>
          <p:cNvPr id="54" name="Picture 53" descr="w_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23160"/>
            <a:ext cx="274320" cy="274320"/>
          </a:xfrm>
          <a:prstGeom prst="rect">
            <a:avLst/>
          </a:prstGeom>
        </p:spPr>
      </p:pic>
      <p:pic>
        <p:nvPicPr>
          <p:cNvPr id="55" name="Picture 54" descr="w_cy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23360"/>
            <a:ext cx="274320" cy="274320"/>
          </a:xfrm>
          <a:prstGeom prst="rect">
            <a:avLst/>
          </a:prstGeom>
        </p:spPr>
      </p:pic>
      <p:pic>
        <p:nvPicPr>
          <p:cNvPr id="56" name="Picture 55" descr="w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2336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12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09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821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8" grpId="0" build="whole" animBg="1"/>
      <p:bldP spid="9" grpId="0" build="whole" animBg="1"/>
      <p:bldP spid="6" grpId="0" build="whole" animBg="1"/>
      <p:bldP spid="7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  <p:bldP spid="14" grpId="0" build="whole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822960"/>
            <a:ext cx="4663440" cy="4206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800" b="1" i="0" u="none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CONCLUSIONES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66359" y="1097280"/>
            <a:ext cx="0" cy="4297680"/>
          </a:xfrm>
          <a:prstGeom prst="line">
            <a:avLst/>
          </a:prstGeom>
          <a:ln w="31750">
            <a:solidFill>
              <a:srgbClr val="B9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59" y="640080"/>
            <a:ext cx="6080760" cy="5120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El </a:t>
            </a:r>
            <a:r>
              <a:rPr sz="2000" b="1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proceso general</a:t>
            </a:r>
            <a:r>
              <a:rPr sz="20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(5.3) es tu ruta completa en el Programa; el </a:t>
            </a:r>
            <a:r>
              <a:rPr sz="2000" b="1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proceso de entrenamiento</a:t>
            </a:r>
            <a:r>
              <a:rPr sz="20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(5.4) ocurre en cada evento.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Cada evento: </a:t>
            </a:r>
            <a:r>
              <a:rPr sz="2000" b="1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una tarea, un nivel</a:t>
            </a:r>
            <a:r>
              <a:rPr sz="20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, una fecha real y su evidencia.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Entrega tu documentación en </a:t>
            </a:r>
            <a:r>
              <a:rPr sz="2000" b="1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3 días naturales</a:t>
            </a:r>
            <a:r>
              <a:rPr sz="20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; la devolución no acredita el nivel.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El Módulo OJT registra y da seguimiento; </a:t>
            </a:r>
            <a:r>
              <a:rPr sz="2000" b="1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no sustituye</a:t>
            </a:r>
            <a:r>
              <a:rPr sz="20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la evaluación técnica.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Retoma tu reflexión inicial: ¿podrías demostrar hoy tu OJT?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67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82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909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36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63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79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whole" animBg="1"/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sz="3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¡Gracias!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14948</TotalTime>
  <Words>3263</Words>
  <Application>Microsoft Office PowerPoint</Application>
  <PresentationFormat>Panorámica</PresentationFormat>
  <Paragraphs>400</Paragraphs>
  <Slides>28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6" baseType="lpstr">
      <vt:lpstr>Aptos</vt:lpstr>
      <vt:lpstr>Aptos Display</vt:lpstr>
      <vt:lpstr>Arial</vt:lpstr>
      <vt:lpstr>Montserrat</vt:lpstr>
      <vt:lpstr>Montserrat Medium</vt:lpstr>
      <vt:lpstr>Montserrat SemiBold</vt:lpstr>
      <vt:lpstr>Noto Sans</vt:lpstr>
      <vt:lpstr>Tema de Office</vt:lpstr>
      <vt:lpstr>Módulo 3 Proceso de ejecución del Programa OJT Actualización del Manual de Entrenamiento en el Puesto de Trabajo</vt:lpstr>
      <vt:lpstr>ACTIVIDAD DE INICIO Para iniciar, reflexiona</vt:lpstr>
      <vt:lpstr>3.1 PROCESO GENERAL DEL PROGRAMA OJT (P-DCIA-CPEPT-01-R04): ALCANCE, RESPONSABILIDADES Y ETAPAS Proceso general del Programa OJT</vt:lpstr>
      <vt:lpstr>3.1 PROCESO GENERAL DEL PROGRAMA OJT (P-DCIA-CPEPT-01-R04): ALCANCE, RESPONSABILIDADES Y ETAPAS Dos procesos que no debes confundir</vt:lpstr>
      <vt:lpstr>3.1 PROCESO GENERAL DEL PROGRAMA OJT (P-DCIA-CPEPT-01-R04): ALCANCE, RESPONSABILIDADES Y ETAPAS Responsabilidades en el proceso general</vt:lpstr>
      <vt:lpstr>3.1 PROCESO GENERAL DEL PROGRAMA OJT (P-DCIA-CPEPT-01-R04): ALCANCE, RESPONSABILIDADES Y ETAPAS Fases del proceso general</vt:lpstr>
      <vt:lpstr>3.2 FASE DE ENTRENAMIENTO Y PLAZOS PARA LA INTEGRACIÓN DOCUMENTAL Proceso de entrenamiento: cuatro etapas</vt:lpstr>
      <vt:lpstr>3.2 FASE DE ENTRENAMIENTO Y PLAZOS PARA LA INTEGRACIÓN DOCUMENTAL Flujo de un evento de entrenamiento</vt:lpstr>
      <vt:lpstr>3.2 FASE DE ENTRENAMIENTO Y PLAZOS PARA LA INTEGRACIÓN DOCUMENTAL Cuando el evento no concluye</vt:lpstr>
      <vt:lpstr>3.2 FASE DE ENTRENAMIENTO Y PLAZOS PARA LA INTEGRACIÓN DOCUMENTAL Plazos para entregar la documentación</vt:lpstr>
      <vt:lpstr>3.3 FORMATOS GENERALES OJT: LLENADO, FIRMA, ENTREGA Y RESGUARDO Documentos del Anexo 1</vt:lpstr>
      <vt:lpstr>3.3 FORMATOS GENERALES OJT: LLENADO, FIRMA, ENTREGA Y RESGUARDO ¿Cómo se llena el formato general OJT?</vt:lpstr>
      <vt:lpstr>3.3 FORMATOS GENERALES OJT: LLENADO, FIRMA, ENTREGA Y RESGUARDO Lo que todo registro debe contener</vt:lpstr>
      <vt:lpstr>3.3 FORMATOS GENERALES OJT: LLENADO, FIRMA, ENTREGA Y RESGUARDO Firma, entrega y resguardo</vt:lpstr>
      <vt:lpstr>3.3 FORMATOS GENERALES OJT: LLENADO, FIRMA, ENTREGA Y RESGUARDO Errores que invalidan un registro</vt:lpstr>
      <vt:lpstr>3.4 MODIFICACIÓN, ADICIÓN O EXCLUSIÓN DE TAREAS/SUBTAREAS ¿Por qué se modifican las tareas?</vt:lpstr>
      <vt:lpstr>3.4 MODIFICACIÓN, ADICIÓN O EXCLUSIÓN DE TAREAS/SUBTAREAS Procedimiento de modificación</vt:lpstr>
      <vt:lpstr>3.5 HERRAMIENTA ELECTRÓNICA DE GESTIÓN OJT Módulo OJT de la plataforma de la AFAC</vt:lpstr>
      <vt:lpstr>3.5 HERRAMIENTA ELECTRÓNICA DE GESTIÓN OJT Perfiles y buenas prácticas en el Módulo</vt:lpstr>
      <vt:lpstr>3.5 HERRAMIENTA ELECTRÓNICA DE GESTIÓN OJT Tu OJT en físico y en digital</vt:lpstr>
      <vt:lpstr>3.5 HERRAMIENTA ELECTRÓNICA DE GESTIÓN OJT Ruta operativa del Módulo OJT</vt:lpstr>
      <vt:lpstr>3.5 HERRAMIENTA ELECTRÓNICA DE GESTIÓN OJT Responde tu convocatoria</vt:lpstr>
      <vt:lpstr>3.5 HERRAMIENTA ELECTRÓNICA DE GESTIÓN OJT Registro del resultado y estados</vt:lpstr>
      <vt:lpstr>3.5 HERRAMIENTA ELECTRÓNICA DE GESTIÓN OJT Convalidación en el Módulo OJT</vt:lpstr>
      <vt:lpstr>3.5 HERRAMIENTA ELECTRÓNICA DE GESTIÓN OJT Tu reporte de avance y cumplimiento</vt:lpstr>
      <vt:lpstr>3.5 HERRAMIENTA ELECTRÓNICA DE GESTIÓN OJT Migración de tus antecedentes al Módulo</vt:lpstr>
      <vt:lpstr>Presentación de PowerPoint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AVANZADO PARA EL INSPECTOR VERIFICADOR AERONÁUTICO DE INVESTIGACIÓN ADMINISTRATIVA Y SEGURIDAD AÉREA (IVA-IASA)</dc:title>
  <dc:creator>Ricardo Elias Delgado Villalobos</dc:creator>
  <cp:lastModifiedBy>Jose Manuel Figueroa Hernandez</cp:lastModifiedBy>
  <cp:revision>224</cp:revision>
  <dcterms:created xsi:type="dcterms:W3CDTF">2025-01-15T19:01:35Z</dcterms:created>
  <dcterms:modified xsi:type="dcterms:W3CDTF">2026-09-27T00:45:43Z</dcterms:modified>
</cp:coreProperties>
</file>