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63" r:id="rId2"/>
    <p:sldId id="266" r:id="rId3"/>
    <p:sldId id="304" r:id="rId4"/>
    <p:sldId id="305" r:id="rId5"/>
    <p:sldId id="267" r:id="rId6"/>
    <p:sldId id="268" r:id="rId7"/>
    <p:sldId id="269" r:id="rId8"/>
    <p:sldId id="301" r:id="rId9"/>
    <p:sldId id="306" r:id="rId10"/>
    <p:sldId id="300" r:id="rId11"/>
    <p:sldId id="302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4" r:id="rId35"/>
    <p:sldId id="298" r:id="rId3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E4CDAC"/>
    <a:srgbClr val="BC9C16"/>
    <a:srgbClr val="156082"/>
    <a:srgbClr val="0B3041"/>
    <a:srgbClr val="7B95AF"/>
    <a:srgbClr val="003764"/>
    <a:srgbClr val="4E95D9"/>
    <a:srgbClr val="AEAEA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30" autoAdjust="0"/>
    <p:restoredTop sz="94038" autoAdjust="0"/>
  </p:normalViewPr>
  <p:slideViewPr>
    <p:cSldViewPr snapToGrid="0">
      <p:cViewPr varScale="1">
        <p:scale>
          <a:sx n="65" d="100"/>
          <a:sy n="65" d="100"/>
        </p:scale>
        <p:origin x="8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anuel Figueroa Hernandez" userId="c23fd2b0-07fd-455e-80a2-756e0be2378e" providerId="ADAL" clId="{19EAFD33-AF50-43D6-BF52-FC06C69CD06D}"/>
    <pc:docChg chg="undo redo custSel delSld modSld">
      <pc:chgData name="Jose Manuel Figueroa Hernandez" userId="c23fd2b0-07fd-455e-80a2-756e0be2378e" providerId="ADAL" clId="{19EAFD33-AF50-43D6-BF52-FC06C69CD06D}" dt="2026-09-23T19:33:56.312" v="82" actId="47"/>
      <pc:docMkLst>
        <pc:docMk/>
      </pc:docMkLst>
      <pc:sldChg chg="del">
        <pc:chgData name="Jose Manuel Figueroa Hernandez" userId="c23fd2b0-07fd-455e-80a2-756e0be2378e" providerId="ADAL" clId="{19EAFD33-AF50-43D6-BF52-FC06C69CD06D}" dt="2026-09-23T19:17:48.907" v="1" actId="47"/>
        <pc:sldMkLst>
          <pc:docMk/>
          <pc:sldMk cId="0" sldId="256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7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8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9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0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1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2"/>
        </pc:sldMkLst>
      </pc:sldChg>
      <pc:sldChg chg="modSp mod">
        <pc:chgData name="Jose Manuel Figueroa Hernandez" userId="c23fd2b0-07fd-455e-80a2-756e0be2378e" providerId="ADAL" clId="{19EAFD33-AF50-43D6-BF52-FC06C69CD06D}" dt="2026-09-23T19:18:19.306" v="4" actId="1076"/>
        <pc:sldMkLst>
          <pc:docMk/>
          <pc:sldMk cId="0" sldId="263"/>
        </pc:sldMkLst>
        <pc:spChg chg="mod">
          <ac:chgData name="Jose Manuel Figueroa Hernandez" userId="c23fd2b0-07fd-455e-80a2-756e0be2378e" providerId="ADAL" clId="{19EAFD33-AF50-43D6-BF52-FC06C69CD06D}" dt="2026-09-23T19:18:19.306" v="4" actId="1076"/>
          <ac:spMkLst>
            <pc:docMk/>
            <pc:sldMk cId="0" sldId="263"/>
            <ac:spMk id="2" creationId="{00000000-0000-0000-0000-000000000000}"/>
          </ac:spMkLst>
        </pc:spChg>
      </pc:sldChg>
      <pc:sldChg chg="del">
        <pc:chgData name="Jose Manuel Figueroa Hernandez" userId="c23fd2b0-07fd-455e-80a2-756e0be2378e" providerId="ADAL" clId="{19EAFD33-AF50-43D6-BF52-FC06C69CD06D}" dt="2026-09-23T19:19:08.704" v="5" actId="47"/>
        <pc:sldMkLst>
          <pc:docMk/>
          <pc:sldMk cId="0" sldId="264"/>
        </pc:sldMkLst>
      </pc:sldChg>
      <pc:sldChg chg="del">
        <pc:chgData name="Jose Manuel Figueroa Hernandez" userId="c23fd2b0-07fd-455e-80a2-756e0be2378e" providerId="ADAL" clId="{19EAFD33-AF50-43D6-BF52-FC06C69CD06D}" dt="2026-09-23T19:19:17.723" v="6" actId="47"/>
        <pc:sldMkLst>
          <pc:docMk/>
          <pc:sldMk cId="0" sldId="265"/>
        </pc:sldMkLst>
      </pc:sldChg>
      <pc:sldChg chg="modSp mod">
        <pc:chgData name="Jose Manuel Figueroa Hernandez" userId="c23fd2b0-07fd-455e-80a2-756e0be2378e" providerId="ADAL" clId="{19EAFD33-AF50-43D6-BF52-FC06C69CD06D}" dt="2026-09-23T19:20:24.478" v="9" actId="207"/>
        <pc:sldMkLst>
          <pc:docMk/>
          <pc:sldMk cId="0" sldId="266"/>
        </pc:sldMkLst>
        <pc:spChg chg="mod">
          <ac:chgData name="Jose Manuel Figueroa Hernandez" userId="c23fd2b0-07fd-455e-80a2-756e0be2378e" providerId="ADAL" clId="{19EAFD33-AF50-43D6-BF52-FC06C69CD06D}" dt="2026-09-23T19:20:24.478" v="9" actId="207"/>
          <ac:spMkLst>
            <pc:docMk/>
            <pc:sldMk cId="0" sldId="266"/>
            <ac:spMk id="4" creationId="{00000000-0000-0000-0000-000000000000}"/>
          </ac:spMkLst>
        </pc:spChg>
      </pc:sldChg>
      <pc:sldChg chg="modSp mod">
        <pc:chgData name="Jose Manuel Figueroa Hernandez" userId="c23fd2b0-07fd-455e-80a2-756e0be2378e" providerId="ADAL" clId="{19EAFD33-AF50-43D6-BF52-FC06C69CD06D}" dt="2026-09-23T19:30:59.577" v="73" actId="13926"/>
        <pc:sldMkLst>
          <pc:docMk/>
          <pc:sldMk cId="0" sldId="268"/>
        </pc:sldMkLst>
        <pc:spChg chg="mod">
          <ac:chgData name="Jose Manuel Figueroa Hernandez" userId="c23fd2b0-07fd-455e-80a2-756e0be2378e" providerId="ADAL" clId="{19EAFD33-AF50-43D6-BF52-FC06C69CD06D}" dt="2026-09-23T19:30:59.577" v="73" actId="13926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Jose Manuel Figueroa Hernandez" userId="c23fd2b0-07fd-455e-80a2-756e0be2378e" providerId="ADAL" clId="{19EAFD33-AF50-43D6-BF52-FC06C69CD06D}" dt="2026-09-23T19:31:21.282" v="79" actId="207"/>
        <pc:sldMkLst>
          <pc:docMk/>
          <pc:sldMk cId="0" sldId="269"/>
        </pc:sldMkLst>
        <pc:spChg chg="mod">
          <ac:chgData name="Jose Manuel Figueroa Hernandez" userId="c23fd2b0-07fd-455e-80a2-756e0be2378e" providerId="ADAL" clId="{19EAFD33-AF50-43D6-BF52-FC06C69CD06D}" dt="2026-09-23T19:31:21.282" v="79" actId="207"/>
          <ac:spMkLst>
            <pc:docMk/>
            <pc:sldMk cId="0" sldId="269"/>
            <ac:spMk id="14" creationId="{00000000-0000-0000-0000-000000000000}"/>
          </ac:spMkLst>
        </pc:spChg>
      </pc:sldChg>
      <pc:sldChg chg="addSp delSp modSp mod">
        <pc:chgData name="Jose Manuel Figueroa Hernandez" userId="c23fd2b0-07fd-455e-80a2-756e0be2378e" providerId="ADAL" clId="{19EAFD33-AF50-43D6-BF52-FC06C69CD06D}" dt="2026-09-23T19:31:05.449" v="75" actId="1076"/>
        <pc:sldMkLst>
          <pc:docMk/>
          <pc:sldMk cId="0" sldId="270"/>
        </pc:sldMkLst>
        <pc:spChg chg="mod">
          <ac:chgData name="Jose Manuel Figueroa Hernandez" userId="c23fd2b0-07fd-455e-80a2-756e0be2378e" providerId="ADAL" clId="{19EAFD33-AF50-43D6-BF52-FC06C69CD06D}" dt="2026-09-23T19:27:27.408" v="32" actId="1076"/>
          <ac:spMkLst>
            <pc:docMk/>
            <pc:sldMk cId="0" sldId="270"/>
            <ac:spMk id="4" creationId="{00000000-0000-0000-0000-000000000000}"/>
          </ac:spMkLst>
        </pc:spChg>
        <pc:picChg chg="del">
          <ac:chgData name="Jose Manuel Figueroa Hernandez" userId="c23fd2b0-07fd-455e-80a2-756e0be2378e" providerId="ADAL" clId="{19EAFD33-AF50-43D6-BF52-FC06C69CD06D}" dt="2026-09-23T19:24:25.640" v="20" actId="478"/>
          <ac:picMkLst>
            <pc:docMk/>
            <pc:sldMk cId="0" sldId="270"/>
            <ac:picMk id="3" creationId="{00000000-0000-0000-0000-000000000000}"/>
          </ac:picMkLst>
        </pc:picChg>
        <pc:picChg chg="add mod">
          <ac:chgData name="Jose Manuel Figueroa Hernandez" userId="c23fd2b0-07fd-455e-80a2-756e0be2378e" providerId="ADAL" clId="{19EAFD33-AF50-43D6-BF52-FC06C69CD06D}" dt="2026-09-23T19:31:05.449" v="75" actId="1076"/>
          <ac:picMkLst>
            <pc:docMk/>
            <pc:sldMk cId="0" sldId="270"/>
            <ac:picMk id="6" creationId="{739894BC-31E1-A146-FA8E-977AC571FB7F}"/>
          </ac:picMkLst>
        </pc:picChg>
      </pc:sldChg>
      <pc:sldChg chg="del">
        <pc:chgData name="Jose Manuel Figueroa Hernandez" userId="c23fd2b0-07fd-455e-80a2-756e0be2378e" providerId="ADAL" clId="{19EAFD33-AF50-43D6-BF52-FC06C69CD06D}" dt="2026-09-23T19:33:56.312" v="82" actId="47"/>
        <pc:sldMkLst>
          <pc:docMk/>
          <pc:sldMk cId="0" sldId="295"/>
        </pc:sldMkLst>
      </pc:sldChg>
      <pc:sldChg chg="del">
        <pc:chgData name="Jose Manuel Figueroa Hernandez" userId="c23fd2b0-07fd-455e-80a2-756e0be2378e" providerId="ADAL" clId="{19EAFD33-AF50-43D6-BF52-FC06C69CD06D}" dt="2026-09-23T19:33:52.826" v="81" actId="47"/>
        <pc:sldMkLst>
          <pc:docMk/>
          <pc:sldMk cId="0" sldId="296"/>
        </pc:sldMkLst>
      </pc:sldChg>
      <pc:sldChg chg="del">
        <pc:chgData name="Jose Manuel Figueroa Hernandez" userId="c23fd2b0-07fd-455e-80a2-756e0be2378e" providerId="ADAL" clId="{19EAFD33-AF50-43D6-BF52-FC06C69CD06D}" dt="2026-09-23T19:33:45.372" v="80" actId="47"/>
        <pc:sldMkLst>
          <pc:docMk/>
          <pc:sldMk cId="0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13DD9-E4B5-4997-8BD0-CCD1D82A46CA}" type="datetimeFigureOut">
              <a:rPr lang="es-MX" smtClean="0"/>
              <a:t>26/09/2026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ECBA-0A42-439B-8BB1-7C8EF8AA356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049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9FAAD-60BE-A3E0-8ABC-0BDFC9ACA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2C7CF-56A9-98EA-5EB5-98B7E766D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E09DF7-60E4-F8D1-FAE1-7BD60F6AF4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EE95D-E16B-0178-FFF2-84EE9C888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628799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547BF-BE95-2CFA-F73F-9231573C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BBDA6-6F1F-451A-4D65-5548D57E4B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F1C0CB-204D-9773-C94B-1D5F2338D9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DA117-7709-B264-95DD-09CFEF2BF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38158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Conclusiones del submódulo: integran los aspectos que el participante debe recordar y aplicar.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783C967-2F54-09E4-AA30-298CA5655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59DC73-C653-C81C-D52E-0C69633752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4899638"/>
            <a:ext cx="7766977" cy="107298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8FDDAFA-5E8D-9796-4199-96DDF49E0C4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78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, fin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6826DB8-4520-87EC-C957-39CC5FEDDF23}"/>
              </a:ext>
            </a:extLst>
          </p:cNvPr>
          <p:cNvCxnSpPr>
            <a:cxnSpLocks/>
          </p:cNvCxnSpPr>
          <p:nvPr userDrawn="1"/>
        </p:nvCxnSpPr>
        <p:spPr>
          <a:xfrm>
            <a:off x="2610003" y="3429000"/>
            <a:ext cx="6968946" cy="0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14770139-593C-68D8-65A7-D32A6375D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619" y="1992089"/>
            <a:ext cx="7329714" cy="1436911"/>
          </a:xfrm>
        </p:spPr>
        <p:txBody>
          <a:bodyPr anchor="ctr">
            <a:noAutofit/>
          </a:bodyPr>
          <a:lstStyle>
            <a:lvl1pPr algn="ctr">
              <a:defRPr sz="5000"/>
            </a:lvl1pPr>
          </a:lstStyle>
          <a:p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1A90F6-F9C8-C3DC-0206-47FA2B0E52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3772615"/>
            <a:ext cx="7766977" cy="107298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AADA8D9-AE01-0879-2B0F-D35E84BE7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54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9625AD5-FD90-7ED4-A463-1E5CB822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40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BA6592-4655-ECA7-5E54-6A2266196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01879A4-A5B6-7D86-61D5-66ACD9BA94ED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143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634EBF27-8651-00A8-AF4C-4E9644167F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E94F59-AD2E-40B1-B026-72BC4AB241A4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82609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9621210-2A91-1552-D4F2-DF2766531006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466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CEFCEBEC-42C8-C58C-CD8C-206F903423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02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532B9242-CE35-04A2-18AA-987DB5B40A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85BD324A-C024-0077-DF8F-20DCA813A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38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3F39D5-2B33-B76C-39CA-AE6BED786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D0F07-E6DF-E238-D01E-6075CA1AE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8337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55" r:id="rId5"/>
    <p:sldLayoutId id="2147483664" r:id="rId6"/>
    <p:sldLayoutId id="2147483663" r:id="rId7"/>
    <p:sldLayoutId id="2147483662" r:id="rId8"/>
    <p:sldLayoutId id="2147483666" r:id="rId9"/>
    <p:sldLayoutId id="214748366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hyperlink" Target="https://www.gob.mx/afac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13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669935"/>
            <a:ext cx="10515600" cy="2651760"/>
          </a:xfrm>
        </p:spPr>
        <p:txBody>
          <a:bodyPr wrap="square" anchor="ctr"/>
          <a:lstStyle/>
          <a:p>
            <a:pPr algn="ctr">
              <a:spcAft>
                <a:spcPts val="600"/>
              </a:spcAft>
            </a:pPr>
            <a:r>
              <a:rPr sz="5400" b="0" i="0" u="none" dirty="0" err="1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Módulo</a:t>
            </a:r>
            <a:r>
              <a:rPr sz="5400" b="0" i="0" u="none" dirty="0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 1</a:t>
            </a:r>
          </a:p>
          <a:p>
            <a:pPr algn="ctr">
              <a:spcAft>
                <a:spcPts val="800"/>
              </a:spcAft>
            </a:pP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Marco general del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Programa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OJT</a:t>
            </a:r>
          </a:p>
          <a:p>
            <a:pPr algn="ctr"/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Actualización del Manual de Entrenamiento en el Puesto de Trabajo</a:t>
            </a:r>
            <a:endParaRPr sz="1600" b="0" i="0" u="none" dirty="0">
              <a:solidFill>
                <a:srgbClr val="182430"/>
              </a:solidFill>
              <a:latin typeface="Montserrat SemiBold"/>
              <a:ea typeface="Montserrat SemiBold"/>
              <a:cs typeface="Montserrat SemiBold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ACTIVIDAD DE INICIO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Para iniciar, reflexiona</a:t>
            </a:r>
          </a:p>
        </p:txBody>
      </p:sp>
      <p:pic>
        <p:nvPicPr>
          <p:cNvPr id="3" name="Picture 2" descr="s02_9bed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9456" y="2463324"/>
            <a:ext cx="2988418" cy="29884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19" y="1687681"/>
            <a:ext cx="7651460" cy="4832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1200"/>
              </a:spcAft>
              <a:buClr>
                <a:srgbClr val="B98A2E"/>
              </a:buClr>
            </a:pPr>
            <a:r>
              <a:rPr lang="es-MX" sz="2800" dirty="0"/>
              <a:t>Recuerda tu primera inspección, vigilancia o certificación.</a:t>
            </a:r>
          </a:p>
          <a:p>
            <a:pPr marL="347472" indent="-347472"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lang="es-MX" sz="2800" dirty="0"/>
              <a:t>¿Recuerdas quién te enseñó a hacerla y de qué manera?</a:t>
            </a:r>
          </a:p>
          <a:p>
            <a:pPr marL="347472" indent="-347472"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800" dirty="0"/>
              <a:t>¿</a:t>
            </a:r>
            <a:r>
              <a:rPr lang="es-MX" sz="2800" dirty="0"/>
              <a:t>Sabías que lo estabas ejecutando conforme a algún proceso o procedimiento?</a:t>
            </a:r>
          </a:p>
          <a:p>
            <a:pPr marL="347472" indent="-347472"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lang="es-MX" sz="2800" dirty="0"/>
              <a:t>Ahora, al paso de los años, ¿reconoces que hubo cosas que</a:t>
            </a:r>
            <a:r>
              <a:rPr lang="es-MX" sz="2800" b="1" dirty="0">
                <a:solidFill>
                  <a:srgbClr val="FF0000"/>
                </a:solidFill>
              </a:rPr>
              <a:t> NO </a:t>
            </a:r>
            <a:r>
              <a:rPr lang="es-MX" sz="2800" dirty="0"/>
              <a:t>te enseñaron?</a:t>
            </a:r>
          </a:p>
          <a:p>
            <a:pPr marL="347472" indent="-347472"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endParaRPr sz="900" dirty="0"/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Anota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tu</a:t>
            </a:r>
            <a:r>
              <a:rPr lang="es-MX"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respuesta</a:t>
            </a:r>
            <a:r>
              <a:rPr lang="es-MX"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. La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retomarás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al final.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surge el Programa OJT?</a:t>
            </a:r>
          </a:p>
        </p:txBody>
      </p:sp>
      <p:sp>
        <p:nvSpPr>
          <p:cNvPr id="11" name="Rounded Rectangle 3">
            <a:extLst>
              <a:ext uri="{FF2B5EF4-FFF2-40B4-BE49-F238E27FC236}">
                <a16:creationId xmlns:a16="http://schemas.microsoft.com/office/drawing/2014/main" id="{C921A3A3-FF82-8F27-E6A0-B0978DA83213}"/>
              </a:ext>
            </a:extLst>
          </p:cNvPr>
          <p:cNvSpPr/>
          <p:nvPr/>
        </p:nvSpPr>
        <p:spPr>
          <a:xfrm>
            <a:off x="333988" y="2028785"/>
            <a:ext cx="5824263" cy="4077545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just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lang="es-MX" sz="2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Imagina que vas a enseñar </a:t>
            </a:r>
            <a:r>
              <a:rPr lang="es-MX" sz="28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 </a:t>
            </a:r>
            <a:r>
              <a:rPr lang="es-MX" sz="2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alguien a </a:t>
            </a:r>
            <a:r>
              <a:rPr lang="es-MX" sz="28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</a:t>
            </a:r>
            <a:r>
              <a:rPr lang="es-MX" sz="2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anejar.</a:t>
            </a:r>
          </a:p>
          <a:p>
            <a:pPr marL="228600" indent="-228600" algn="just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endParaRPr lang="es-MX" sz="28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 algn="just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lang="es-MX" sz="28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¿Bastará con una plática para dejarlo conducir por primera vez en una ciudad con tráfico intenso?</a:t>
            </a:r>
            <a:endParaRPr sz="28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6F26E808-B4B3-F419-F88C-8FD6BC450C14}"/>
              </a:ext>
            </a:extLst>
          </p:cNvPr>
          <p:cNvSpPr/>
          <p:nvPr/>
        </p:nvSpPr>
        <p:spPr>
          <a:xfrm>
            <a:off x="7152026" y="2642807"/>
            <a:ext cx="4735174" cy="2812025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algn="just">
              <a:spcAft>
                <a:spcPts val="1000"/>
              </a:spcAft>
              <a:buClr>
                <a:srgbClr val="B98A2E"/>
              </a:buClr>
            </a:pPr>
            <a:r>
              <a:rPr lang="es-MX" sz="28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¿O le prestarás el auto solo cuando estés seguro de que puede enfrentar cualquier situación al volante?</a:t>
            </a:r>
            <a:endParaRPr sz="28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15D6BDC-2C26-6A4E-20D8-9A3C193E97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975" y="4161116"/>
            <a:ext cx="3643929" cy="269688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17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67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194BB-7E52-F791-CA76-1DCEFFE38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67BA5-C9E4-B11A-ABBF-2B90428BE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surge el Programa OJT?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980BC14-28EE-D437-8318-9BD5C2653306}"/>
              </a:ext>
            </a:extLst>
          </p:cNvPr>
          <p:cNvSpPr txBox="1"/>
          <p:nvPr/>
        </p:nvSpPr>
        <p:spPr>
          <a:xfrm>
            <a:off x="1124196" y="1965459"/>
            <a:ext cx="100731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dirty="0"/>
              <a:t>Lo mismo ocurre en nuestro trabajo: la teoría es el inicio, pero la </a:t>
            </a:r>
            <a:r>
              <a:rPr lang="es-MX"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competencia</a:t>
            </a:r>
            <a:r>
              <a:rPr lang="es-MX" sz="2800" dirty="0"/>
              <a:t> se construye con </a:t>
            </a:r>
            <a:r>
              <a:rPr lang="es-MX"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práctica supervisada.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257B37A-D0ED-3AF2-6C56-DE8A33B85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6120" y="2919566"/>
            <a:ext cx="58293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728028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surge el Programa OJT?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82204"/>
            <a:ext cx="4572000" cy="498069"/>
          </a:xfrm>
          <a:prstGeom prst="roundRect">
            <a:avLst>
              <a:gd name="adj" fmla="val 8000"/>
            </a:avLst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80274"/>
            <a:ext cx="4572000" cy="2905406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aprendía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experiencia</a:t>
            </a:r>
            <a:r>
              <a:rPr sz="20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heredada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más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antiguos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Había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discrecionalidad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individual.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Surgían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diferencias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decisiones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532120" y="3217919"/>
            <a:ext cx="822960" cy="581081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0" y="1682204"/>
            <a:ext cx="4572000" cy="49806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 el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180274"/>
            <a:ext cx="4572000" cy="2905406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Entrenamiento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en</a:t>
            </a:r>
            <a:r>
              <a:rPr sz="20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campo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acompañado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personal con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experiencia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Alineado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manuales</a:t>
            </a:r>
            <a:r>
              <a:rPr sz="20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técnicos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normas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228600" indent="-228600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Desviaciones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corregidas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retroalimentación</a:t>
            </a:r>
            <a:r>
              <a:rPr lang="es-MX" sz="2000" dirty="0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20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 de ponerlas en práctica.</a:t>
            </a:r>
            <a:endParaRPr sz="20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Capítulo 1, numeral 1.1 Introducción general.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53949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inspector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aprendía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podía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criterios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variaban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entre personas. Con el OJT, la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práctica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campo se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planifica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se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supervisa</a:t>
            </a:r>
            <a:r>
              <a:rPr lang="es-MX"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se evalúa 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y se documenta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conforme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técnicos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3949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986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98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¿Qué es el OJT?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80451"/>
            <a:ext cx="10424160" cy="19236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(</a:t>
            </a:r>
            <a:r>
              <a:rPr lang="es-MX" sz="2500" b="1" i="0" u="none" dirty="0" err="1">
                <a:solidFill>
                  <a:srgbClr val="182430"/>
                </a:solidFill>
                <a:highlight>
                  <a:srgbClr val="CCCCFF"/>
                </a:highlight>
                <a:latin typeface="Montserrat Medium"/>
                <a:ea typeface="Montserrat Medium"/>
                <a:cs typeface="Montserrat Medium"/>
              </a:rPr>
              <a:t>On</a:t>
            </a:r>
            <a:r>
              <a:rPr lang="es-MX" sz="2500" b="1" i="0" u="none" dirty="0">
                <a:solidFill>
                  <a:srgbClr val="182430"/>
                </a:solidFill>
                <a:highlight>
                  <a:srgbClr val="CCCCF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2500" b="1" i="0" u="none" dirty="0" err="1">
                <a:solidFill>
                  <a:srgbClr val="182430"/>
                </a:solidFill>
                <a:highlight>
                  <a:srgbClr val="CCCCFF"/>
                </a:highlight>
                <a:latin typeface="Montserrat Medium"/>
                <a:ea typeface="Montserrat Medium"/>
                <a:cs typeface="Montserrat Medium"/>
              </a:rPr>
              <a:t>the</a:t>
            </a:r>
            <a:r>
              <a:rPr lang="es-MX" sz="2500" b="1" i="0" u="none" dirty="0">
                <a:solidFill>
                  <a:srgbClr val="182430"/>
                </a:solidFill>
                <a:highlight>
                  <a:srgbClr val="CCCCFF"/>
                </a:highlight>
                <a:latin typeface="Montserrat Medium"/>
                <a:ea typeface="Montserrat Medium"/>
                <a:cs typeface="Montserrat Medium"/>
              </a:rPr>
              <a:t> Job Training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por sus siglas en inglés)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endParaRPr lang="es-MX" sz="9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mediante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cual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aprendiz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desarrolla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aplica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demuestra</a:t>
            </a:r>
            <a:r>
              <a:rPr sz="2500" b="1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sus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funciones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con un 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designado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progresivos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con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671740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84048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Práctico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52928" y="3671740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84048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Planificado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74336" y="3671740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84048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95744" y="3671740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84048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Supervisado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17152" y="3671740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84048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" y="6193908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OJT: On the Job Training. Fuente: MEPT, </a:t>
            </a:r>
            <a:r>
              <a:rPr sz="14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Definiciones</a:t>
            </a:r>
            <a:r>
              <a:rPr sz="14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y numeral 2.1.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486687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basta con saber la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teoría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demuestras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puedes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acompañado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designado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86687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pic>
        <p:nvPicPr>
          <p:cNvPr id="44" name="Picture 43" descr="w_pract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2" y="3790612"/>
            <a:ext cx="329184" cy="329184"/>
          </a:xfrm>
          <a:prstGeom prst="rect">
            <a:avLst/>
          </a:prstGeom>
        </p:spPr>
      </p:pic>
      <p:pic>
        <p:nvPicPr>
          <p:cNvPr id="45" name="Picture 44" descr="w_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3790612"/>
            <a:ext cx="329184" cy="329184"/>
          </a:xfrm>
          <a:prstGeom prst="rect">
            <a:avLst/>
          </a:prstGeom>
        </p:spPr>
      </p:pic>
      <p:pic>
        <p:nvPicPr>
          <p:cNvPr id="46" name="Picture 45" descr="w_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08" y="3790612"/>
            <a:ext cx="329184" cy="329184"/>
          </a:xfrm>
          <a:prstGeom prst="rect">
            <a:avLst/>
          </a:prstGeom>
        </p:spPr>
      </p:pic>
      <p:pic>
        <p:nvPicPr>
          <p:cNvPr id="47" name="Picture 46" descr="w_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416" y="3790612"/>
            <a:ext cx="329184" cy="329184"/>
          </a:xfrm>
          <a:prstGeom prst="rect">
            <a:avLst/>
          </a:prstGeom>
        </p:spPr>
      </p:pic>
      <p:pic>
        <p:nvPicPr>
          <p:cNvPr id="48" name="Picture 47" descr="w_do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1824" y="3790612"/>
            <a:ext cx="329184" cy="32918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2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79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46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913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41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135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¿Dónde se ubica el OJT en tu formación?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01463" y="2021938"/>
            <a:ext cx="1911096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Inducción SICT/AFAC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68580" y="3264803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Al ingresar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95497" y="2395490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37246" y="2047413"/>
            <a:ext cx="1911096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</a:t>
            </a:r>
            <a:r>
              <a:rPr sz="1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</a:t>
            </a:r>
            <a:r>
              <a:rPr lang="es-MX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inicial</a:t>
            </a:r>
            <a:endParaRPr sz="18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45876" y="3272334"/>
            <a:ext cx="233172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s-MX" sz="16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Formación general</a:t>
            </a:r>
            <a:endParaRPr sz="1600" b="0" i="0" u="none" dirty="0">
              <a:solidFill>
                <a:srgbClr val="5C6B7A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6979353" y="2434130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24139" y="1755648"/>
            <a:ext cx="1711505" cy="1673352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OJT </a:t>
            </a:r>
            <a:r>
              <a:rPr sz="1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niveles</a:t>
            </a:r>
            <a:r>
              <a:rPr sz="1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1, 2 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233" y="3509111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En </a:t>
            </a:r>
            <a:r>
              <a:rPr sz="16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6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puesto</a:t>
            </a:r>
            <a:endParaRPr sz="1600" b="0" i="0" u="none" dirty="0">
              <a:solidFill>
                <a:srgbClr val="5C6B7A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9175068" y="2420965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570324" y="2062943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 recurrente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6798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Cada 3 </a:t>
            </a:r>
            <a:r>
              <a:rPr sz="16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años</a:t>
            </a:r>
            <a:endParaRPr sz="1600" b="0" i="0" u="none" dirty="0">
              <a:solidFill>
                <a:srgbClr val="5C6B7A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3993463"/>
            <a:ext cx="10424160" cy="9643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Sin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básico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acreditado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esp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ecíficos</a:t>
            </a:r>
            <a:r>
              <a:rPr sz="2500" b="0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complementan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Carta de Política CP CIAAC-01/23 R03; MEPT, numeral 5.2.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1663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OJT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llega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después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básico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puesto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trabajo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Los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recurrentes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3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años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)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específicos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mantienen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amplían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1663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736340A2-9C54-8477-B5CB-AE06874584DA}"/>
              </a:ext>
            </a:extLst>
          </p:cNvPr>
          <p:cNvSpPr txBox="1"/>
          <p:nvPr/>
        </p:nvSpPr>
        <p:spPr>
          <a:xfrm>
            <a:off x="4789025" y="327233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De </a:t>
            </a:r>
            <a:r>
              <a:rPr sz="16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6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endParaRPr sz="1600" b="0" i="0" u="none" dirty="0">
              <a:solidFill>
                <a:srgbClr val="5C6B7A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21" name="Rounded Rectangle 5">
            <a:extLst>
              <a:ext uri="{FF2B5EF4-FFF2-40B4-BE49-F238E27FC236}">
                <a16:creationId xmlns:a16="http://schemas.microsoft.com/office/drawing/2014/main" id="{A8520B37-FEE4-4155-93C7-79274D1B5425}"/>
              </a:ext>
            </a:extLst>
          </p:cNvPr>
          <p:cNvSpPr/>
          <p:nvPr/>
        </p:nvSpPr>
        <p:spPr>
          <a:xfrm>
            <a:off x="4999337" y="2047413"/>
            <a:ext cx="1911096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</a:t>
            </a:r>
            <a:r>
              <a:rPr lang="es-MX" sz="1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básico</a:t>
            </a:r>
            <a:r>
              <a:rPr sz="1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</a:t>
            </a:r>
          </a:p>
        </p:txBody>
      </p:sp>
      <p:sp>
        <p:nvSpPr>
          <p:cNvPr id="22" name="Right Arrow 7">
            <a:extLst>
              <a:ext uri="{FF2B5EF4-FFF2-40B4-BE49-F238E27FC236}">
                <a16:creationId xmlns:a16="http://schemas.microsoft.com/office/drawing/2014/main" id="{1CC93996-8737-649D-183C-BFED1925DB8E}"/>
              </a:ext>
            </a:extLst>
          </p:cNvPr>
          <p:cNvSpPr/>
          <p:nvPr/>
        </p:nvSpPr>
        <p:spPr>
          <a:xfrm>
            <a:off x="4582449" y="2395490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686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78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475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67"/>
                            </p:stCondLst>
                            <p:childTnLst>
                              <p:par>
                                <p:cTn id="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264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656"/>
                            </p:stCondLst>
                            <p:childTnLst>
                              <p:par>
                                <p:cTn id="6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153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4878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49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Documento 9734 de la OACI</a:t>
            </a:r>
          </a:p>
        </p:txBody>
      </p:sp>
      <p:pic>
        <p:nvPicPr>
          <p:cNvPr id="3" name="Picture 2" descr="doc97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484" y="1738893"/>
            <a:ext cx="3620729" cy="416383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6949440" cy="23541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Doc 9734,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Parte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establece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responsabilidades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Estados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miembros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OACI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vigilancia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de la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seguridad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operacional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signatarios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Convenio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de Chicago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mediante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implantación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ocho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elementos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críticos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48096"/>
            <a:ext cx="6949440" cy="747104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Manual de vigilancia de la seguridad operacional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A · Tercera edición, 2017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02730"/>
            <a:ext cx="694944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Parte A; MEPT, Documentos de referencia.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3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787DD-6463-F64D-B710-CB31D183B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70ADF-29CA-42B2-473F-F29E9398C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Los 8 elementos críticos de la OACI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8F628E-2103-A829-3C80-00F497086C58}"/>
              </a:ext>
            </a:extLst>
          </p:cNvPr>
          <p:cNvSpPr txBox="1"/>
          <p:nvPr/>
        </p:nvSpPr>
        <p:spPr>
          <a:xfrm>
            <a:off x="731520" y="1669137"/>
            <a:ext cx="8412480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OACI define 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8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elementos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críticos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(CE)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sistema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vigilancia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seguridad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operacional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un Estado. La AFAC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debe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cumplirlos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todos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38F123-E98A-3AB7-362D-55550D4931CE}"/>
              </a:ext>
            </a:extLst>
          </p:cNvPr>
          <p:cNvSpPr txBox="1"/>
          <p:nvPr/>
        </p:nvSpPr>
        <p:spPr>
          <a:xfrm>
            <a:off x="731520" y="5902730"/>
            <a:ext cx="100584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Manual de vigilancia de la seguridad operacional, Parte A (3.ª ed., 2017); Anexo 19, Apéndice 1; MEPT, Documentos de referencia.</a:t>
            </a:r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AFF2ED79-1A18-6FA6-DD91-8D905FF902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760" y="1823878"/>
            <a:ext cx="7251291" cy="4078852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BCE4C333-C3B2-A9B9-A6FD-6EC3589503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009" y="3429000"/>
            <a:ext cx="3951186" cy="132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534712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85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CE-4: personal técnico cualificado y el OJT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9137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cumplir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CE-4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el Estado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debe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sus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inspectores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estén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cualificados</a:t>
            </a:r>
            <a:r>
              <a:rPr lang="es-MX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para desarrollar las funciones a la que han sido asignados. 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Esto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implica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</p:txBody>
      </p:sp>
      <p:sp>
        <p:nvSpPr>
          <p:cNvPr id="4" name="Oval 3"/>
          <p:cNvSpPr/>
          <p:nvPr/>
        </p:nvSpPr>
        <p:spPr>
          <a:xfrm>
            <a:off x="210312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Requisitos mínimos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cualificación para el personal técnico que realiza funciones de vigilancia.</a:t>
            </a:r>
          </a:p>
        </p:txBody>
      </p:sp>
      <p:sp>
        <p:nvSpPr>
          <p:cNvPr id="7" name="Oval 6"/>
          <p:cNvSpPr/>
          <p:nvPr/>
        </p:nvSpPr>
        <p:spPr>
          <a:xfrm>
            <a:off x="562356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Instrucción continua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inicial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periódica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especializada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el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puesto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trabajo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(OJT)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la instrucción de cada inspector, para demostrar su competencia.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48096"/>
            <a:ext cx="10424160" cy="830116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¿Por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qué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te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importa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?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 y sus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demuestran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ante la OACI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AFAC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cumple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CE-4.</a:t>
            </a:r>
            <a:endParaRPr lang="es-MX"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endParaRPr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MEPT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exige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propios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(numeral 4.2.4).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02730"/>
            <a:ext cx="100584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Parte A, capítulo 3, apartado 3.4 (numerales 3.4.2.5, 3.4.2.7 y 3.4.2.10), citado en el MEPT, numeral 4.2.4.</a:t>
            </a:r>
          </a:p>
        </p:txBody>
      </p:sp>
      <p:pic>
        <p:nvPicPr>
          <p:cNvPr id="55" name="Picture 54" descr="w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3150703"/>
            <a:ext cx="274320" cy="274320"/>
          </a:xfrm>
          <a:prstGeom prst="rect">
            <a:avLst/>
          </a:prstGeom>
        </p:spPr>
      </p:pic>
      <p:pic>
        <p:nvPicPr>
          <p:cNvPr id="56" name="Picture 55" descr="w_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3150703"/>
            <a:ext cx="274320" cy="274320"/>
          </a:xfrm>
          <a:prstGeom prst="rect">
            <a:avLst/>
          </a:prstGeom>
        </p:spPr>
      </p:pic>
      <p:pic>
        <p:nvPicPr>
          <p:cNvPr id="57" name="Picture 56" descr="w_fo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992" y="3150703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1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79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476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951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se actualizó el MEPT?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la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R05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(05 de enero de 2024) a la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R06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(11 de septiembre de 2026), el manual se actualizó para: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23774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Sustento</a:t>
            </a:r>
            <a:r>
              <a:rPr sz="17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OACI</a:t>
            </a:r>
            <a:r>
              <a:rPr lang="es-MX" sz="170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- FAA</a:t>
            </a:r>
            <a:endParaRPr sz="17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417320" y="2880360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Precisar el CE-4 del Doc 9734 para que el programa sea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verificable en auditoría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Oval 6"/>
          <p:cNvSpPr/>
          <p:nvPr/>
        </p:nvSpPr>
        <p:spPr>
          <a:xfrm>
            <a:off x="6035040" y="24231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3774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Trazabilidad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880360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 evento por aprendiz, tarea y nivel, con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y evidencia propias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251959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42062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Responsabilidades claras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4709159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CIAAC conduce; las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áreas ejecutan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evalúan y conservan la evidencia.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0" y="4251959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42062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Operación ordenada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4709159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Validez del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Módulo OJT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un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ciclo documental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plazos definidos.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CIAAC, Cuadro comparativo MEPT R05 – R06.</a:t>
            </a:r>
          </a:p>
        </p:txBody>
      </p:sp>
      <p:pic>
        <p:nvPicPr>
          <p:cNvPr id="68" name="Picture 67" descr="w_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12" y="2482596"/>
            <a:ext cx="292608" cy="292608"/>
          </a:xfrm>
          <a:prstGeom prst="rect">
            <a:avLst/>
          </a:prstGeom>
        </p:spPr>
      </p:pic>
      <p:pic>
        <p:nvPicPr>
          <p:cNvPr id="69" name="Picture 68" descr="w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2482596"/>
            <a:ext cx="292608" cy="292608"/>
          </a:xfrm>
          <a:prstGeom prst="rect">
            <a:avLst/>
          </a:prstGeom>
        </p:spPr>
      </p:pic>
      <p:pic>
        <p:nvPicPr>
          <p:cNvPr id="70" name="Picture 69" descr="w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912" y="4311396"/>
            <a:ext cx="292608" cy="292608"/>
          </a:xfrm>
          <a:prstGeom prst="rect">
            <a:avLst/>
          </a:prstGeom>
        </p:spPr>
      </p:pic>
      <p:pic>
        <p:nvPicPr>
          <p:cNvPr id="71" name="Picture 70" descr="w_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2" y="4311396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79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46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913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38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847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4314"/>
                            </p:stCondLst>
                            <p:childTnLst>
                              <p:par>
                                <p:cTn id="6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4761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Marco documental del Programa OJT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691640"/>
            <a:ext cx="6664445" cy="3383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Carta de Política CP CIAAC-01/23 R0</a:t>
            </a:r>
            <a:r>
              <a:rPr lang="es-MX"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3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: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adiestramiento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MEPT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sus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manuales</a:t>
            </a:r>
            <a:r>
              <a:rPr lang="es-MX" sz="25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complementarios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MSIG · MPPC · MAC · MGCC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39894BC-31E1-A146-FA8E-977AC571F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35" y="1752149"/>
            <a:ext cx="3715273" cy="470357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Rounded Rectangle 6"/>
          <p:cNvSpPr/>
          <p:nvPr/>
        </p:nvSpPr>
        <p:spPr>
          <a:xfrm>
            <a:off x="5166359" y="5257800"/>
            <a:ext cx="6080760" cy="914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Carta de Política establece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qué capacitación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recibes; el MEPT explica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cómo se realiza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OJT, paso a paso.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532638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¿Dónde consultar la Carta de Política?</a:t>
            </a:r>
          </a:p>
        </p:txBody>
      </p:sp>
      <p:sp>
        <p:nvSpPr>
          <p:cNvPr id="3" name="Oval 2"/>
          <p:cNvSpPr/>
          <p:nvPr/>
        </p:nvSpPr>
        <p:spPr>
          <a:xfrm>
            <a:off x="132588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80467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Ingresa a gob.mx/afac</a:t>
            </a:r>
          </a:p>
        </p:txBody>
      </p:sp>
      <p:sp>
        <p:nvSpPr>
          <p:cNvPr id="5" name="Oval 4"/>
          <p:cNvSpPr/>
          <p:nvPr/>
        </p:nvSpPr>
        <p:spPr>
          <a:xfrm>
            <a:off x="356616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80467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Abre el apartado «Legislación»</a:t>
            </a:r>
          </a:p>
        </p:txBody>
      </p:sp>
      <p:sp>
        <p:nvSpPr>
          <p:cNvPr id="7" name="Oval 6"/>
          <p:cNvSpPr/>
          <p:nvPr/>
        </p:nvSpPr>
        <p:spPr>
          <a:xfrm>
            <a:off x="580644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80467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Elige «Cartas de Política»</a:t>
            </a:r>
          </a:p>
        </p:txBody>
      </p:sp>
      <p:sp>
        <p:nvSpPr>
          <p:cNvPr id="9" name="Oval 8"/>
          <p:cNvSpPr/>
          <p:nvPr/>
        </p:nvSpPr>
        <p:spPr>
          <a:xfrm>
            <a:off x="804672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80467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Da clic en «Capacitación»</a:t>
            </a:r>
          </a:p>
        </p:txBody>
      </p:sp>
      <p:sp>
        <p:nvSpPr>
          <p:cNvPr id="11" name="Oval 10"/>
          <p:cNvSpPr/>
          <p:nvPr/>
        </p:nvSpPr>
        <p:spPr>
          <a:xfrm>
            <a:off x="1028700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80467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o descarga el documento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4023360" y="4657556"/>
            <a:ext cx="4023360" cy="498069"/>
          </a:xfrm>
          <a:prstGeom prst="roundRect">
            <a:avLst>
              <a:gd name="adj" fmla="val 5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Ir</a:t>
            </a: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al portal de la AFAC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63154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Practica: localiza la Carta de Política y revisa qué revisión está vigente.</a:t>
            </a:r>
          </a:p>
        </p:txBody>
      </p:sp>
      <p:pic>
        <p:nvPicPr>
          <p:cNvPr id="58" name="Picture 57" descr="c_w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811581"/>
            <a:ext cx="640080" cy="640080"/>
          </a:xfrm>
          <a:prstGeom prst="rect">
            <a:avLst/>
          </a:prstGeom>
        </p:spPr>
      </p:pic>
      <p:pic>
        <p:nvPicPr>
          <p:cNvPr id="59" name="Picture 58" descr="c_fo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2811581"/>
            <a:ext cx="640080" cy="640080"/>
          </a:xfrm>
          <a:prstGeom prst="rect">
            <a:avLst/>
          </a:prstGeom>
        </p:spPr>
      </p:pic>
      <p:pic>
        <p:nvPicPr>
          <p:cNvPr id="60" name="Picture 59" descr="c_do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2811581"/>
            <a:ext cx="640080" cy="640080"/>
          </a:xfrm>
          <a:prstGeom prst="rect">
            <a:avLst/>
          </a:prstGeom>
        </p:spPr>
      </p:pic>
      <p:pic>
        <p:nvPicPr>
          <p:cNvPr id="61" name="Picture 60" descr="c_cli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2811581"/>
            <a:ext cx="640080" cy="640080"/>
          </a:xfrm>
          <a:prstGeom prst="rect">
            <a:avLst/>
          </a:prstGeom>
        </p:spPr>
      </p:pic>
      <p:pic>
        <p:nvPicPr>
          <p:cNvPr id="62" name="Picture 61" descr="c_downloa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87000" y="2811581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88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935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46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 general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10424160" cy="2988418"/>
          </a:xfrm>
          <a:prstGeom prst="roundRect">
            <a:avLst>
              <a:gd name="adj" fmla="val 5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bIns="32004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Capacitar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de forma práctica en el puesto de trabajo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todo el personal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IVA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AFAC, conforme a estándares nacionales e internacionales, mejorando su desempeño mediante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tareas específicas de vigilancia e inspección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realizadas de forma acompañada.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31108"/>
            <a:ext cx="10424160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Aplica</a:t>
            </a:r>
            <a:r>
              <a:rPr sz="18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en</a:t>
            </a:r>
            <a:r>
              <a:rPr sz="18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Direcciones</a:t>
            </a:r>
            <a:r>
              <a:rPr sz="18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Ejecutivas</a:t>
            </a:r>
            <a:r>
              <a:rPr sz="18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y de </a:t>
            </a: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Área</a:t>
            </a:r>
            <a:r>
              <a:rPr sz="18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, Comandancias </a:t>
            </a: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Regionales</a:t>
            </a:r>
            <a:r>
              <a:rPr lang="es-MX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, Comandancias de Aeropuerto, Comandancias del AICM y AIFA.</a:t>
            </a:r>
            <a:endParaRPr sz="1800" b="0" i="0" u="none" dirty="0">
              <a:solidFill>
                <a:srgbClr val="5C6B7A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2.3.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Objetivos específicos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Estandarizar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formatos por especialidad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Asegurar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IVA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aprendiz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demuestre</a:t>
            </a:r>
            <a:r>
              <a:rPr lang="es-MX"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conocimiento y experiencia en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sus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6" name="Oval 5"/>
          <p:cNvSpPr/>
          <p:nvPr/>
        </p:nvSpPr>
        <p:spPr>
          <a:xfrm>
            <a:off x="4361688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Llenar correctamente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formato OJT y bitácoras</a:t>
            </a:r>
          </a:p>
        </p:txBody>
      </p:sp>
      <p:sp>
        <p:nvSpPr>
          <p:cNvPr id="8" name="Oval 7"/>
          <p:cNvSpPr/>
          <p:nvPr/>
        </p:nvSpPr>
        <p:spPr>
          <a:xfrm>
            <a:off x="7882127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Controlar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desempeño y los resultados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instructores principales e instructores OJT</a:t>
            </a:r>
          </a:p>
        </p:txBody>
      </p:sp>
      <p:sp>
        <p:nvSpPr>
          <p:cNvPr id="12" name="Oval 11"/>
          <p:cNvSpPr/>
          <p:nvPr/>
        </p:nvSpPr>
        <p:spPr>
          <a:xfrm>
            <a:off x="4361688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Mejorar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continuamente el programa</a:t>
            </a:r>
          </a:p>
        </p:txBody>
      </p:sp>
      <p:sp>
        <p:nvSpPr>
          <p:cNvPr id="14" name="Oval 13"/>
          <p:cNvSpPr/>
          <p:nvPr/>
        </p:nvSpPr>
        <p:spPr>
          <a:xfrm>
            <a:off x="7882127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2.4.</a:t>
            </a:r>
          </a:p>
        </p:txBody>
      </p:sp>
      <p:pic>
        <p:nvPicPr>
          <p:cNvPr id="62" name="Picture 61" descr="c_est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424" y="1986394"/>
            <a:ext cx="502920" cy="502920"/>
          </a:xfrm>
          <a:prstGeom prst="rect">
            <a:avLst/>
          </a:prstGeom>
        </p:spPr>
      </p:pic>
      <p:pic>
        <p:nvPicPr>
          <p:cNvPr id="63" name="Picture 62" descr="c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1986394"/>
            <a:ext cx="502920" cy="502920"/>
          </a:xfrm>
          <a:prstGeom prst="rect">
            <a:avLst/>
          </a:prstGeom>
        </p:spPr>
      </p:pic>
      <p:pic>
        <p:nvPicPr>
          <p:cNvPr id="64" name="Picture 63" descr="c_fi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3304" y="1986394"/>
            <a:ext cx="502920" cy="502920"/>
          </a:xfrm>
          <a:prstGeom prst="rect">
            <a:avLst/>
          </a:prstGeom>
        </p:spPr>
      </p:pic>
      <p:pic>
        <p:nvPicPr>
          <p:cNvPr id="65" name="Picture 64" descr="c_gau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2424" y="3937167"/>
            <a:ext cx="502920" cy="502920"/>
          </a:xfrm>
          <a:prstGeom prst="rect">
            <a:avLst/>
          </a:prstGeom>
        </p:spPr>
      </p:pic>
      <p:pic>
        <p:nvPicPr>
          <p:cNvPr id="66" name="Picture 65" descr="al_inst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2864" y="3937167"/>
            <a:ext cx="502920" cy="502920"/>
          </a:xfrm>
          <a:prstGeom prst="rect">
            <a:avLst/>
          </a:prstGeom>
        </p:spPr>
      </p:pic>
      <p:pic>
        <p:nvPicPr>
          <p:cNvPr id="67" name="Picture 66" descr="c_mejor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33304" y="3937167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88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855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302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¿A quién aplica el Programa OJT?</a:t>
            </a:r>
          </a:p>
        </p:txBody>
      </p:sp>
      <p:pic>
        <p:nvPicPr>
          <p:cNvPr id="3" name="Picture 2" descr="s19_cbde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6666"/>
            <a:ext cx="2988418" cy="2786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6858000" cy="387798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IVA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todas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especialidades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coordinadores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principales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Áreas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personal IVA y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Dirección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CIAAC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</a:pPr>
            <a:endParaRPr lang="es-MX" sz="25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1200"/>
              </a:spcAft>
              <a:buClr>
                <a:srgbClr val="B98A2E"/>
              </a:buClr>
            </a:pPr>
            <a:r>
              <a:rPr lang="es-MX" sz="2500" dirty="0">
                <a:solidFill>
                  <a:srgbClr val="182430"/>
                </a:solidFill>
                <a:latin typeface="Montserrat Medium"/>
              </a:rPr>
              <a:t>Su aplicación comprenderá la gestión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física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digital o mixta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Definiciones: los documentos del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Tarea genérica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Unidad de trabajo con las subtareas necesarias para tus funciones.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Subtarea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de una tarea. Completarlas permite acreditar la tarea.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Formato general OJT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donde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registra</a:t>
            </a:r>
            <a:r>
              <a:rPr lang="es-MX"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valida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Bitácora 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describe las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subtareas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lang="es-MX"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su validación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4236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apartado de Definiciones.</a:t>
            </a:r>
          </a:p>
        </p:txBody>
      </p:sp>
      <p:pic>
        <p:nvPicPr>
          <p:cNvPr id="44" name="Picture 43" descr="w_pract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46193"/>
            <a:ext cx="292608" cy="292608"/>
          </a:xfrm>
          <a:prstGeom prst="rect">
            <a:avLst/>
          </a:prstGeom>
        </p:spPr>
      </p:pic>
      <p:pic>
        <p:nvPicPr>
          <p:cNvPr id="45" name="Picture 44" descr="w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946193"/>
            <a:ext cx="292608" cy="292608"/>
          </a:xfrm>
          <a:prstGeom prst="rect">
            <a:avLst/>
          </a:prstGeom>
        </p:spPr>
      </p:pic>
      <p:pic>
        <p:nvPicPr>
          <p:cNvPr id="46" name="Picture 45" descr="w_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979977"/>
            <a:ext cx="292608" cy="292608"/>
          </a:xfrm>
          <a:prstGeom prst="rect">
            <a:avLst/>
          </a:prstGeom>
        </p:spPr>
      </p:pic>
      <p:pic>
        <p:nvPicPr>
          <p:cNvPr id="47" name="Picture 46" descr="w_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979977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68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Definiciones: resultado y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Competencia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Capacidad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demostrada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realizar una tarea conforme a procedimientos y criterios.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Acreditación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 satisfactorio documentado de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una tarea y un nivel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Reconocimiento de entrenamiento previo, por tarea y nivel, con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fechas reales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Módulo 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Apartado de la plataforma de la AFAC para formatos, bitácoras y evidencias.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4236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La acreditación OJT no autoriza por sí sola a ejercer funciones ni designa instructor.</a:t>
            </a:r>
          </a:p>
        </p:txBody>
      </p:sp>
      <p:pic>
        <p:nvPicPr>
          <p:cNvPr id="44" name="Picture 43" descr="w_me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46193"/>
            <a:ext cx="292608" cy="292608"/>
          </a:xfrm>
          <a:prstGeom prst="rect">
            <a:avLst/>
          </a:prstGeom>
        </p:spPr>
      </p:pic>
      <p:pic>
        <p:nvPicPr>
          <p:cNvPr id="45" name="Picture 44" descr="w_c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946193"/>
            <a:ext cx="292608" cy="292608"/>
          </a:xfrm>
          <a:prstGeom prst="rect">
            <a:avLst/>
          </a:prstGeom>
        </p:spPr>
      </p:pic>
      <p:pic>
        <p:nvPicPr>
          <p:cNvPr id="46" name="Picture 45" descr="w_stam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979977"/>
            <a:ext cx="292608" cy="292608"/>
          </a:xfrm>
          <a:prstGeom prst="rect">
            <a:avLst/>
          </a:prstGeom>
        </p:spPr>
      </p:pic>
      <p:pic>
        <p:nvPicPr>
          <p:cNvPr id="47" name="Picture 46" descr="w_moni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979977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418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Abreviaturas: figuras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52149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752149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del Programa de Entrenamiento en el Puesto de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752149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52149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Jefe de División del Seguimiento Operacional de Programas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5663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565663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Jefe de División de Análisis Técnico del Entrenamiento 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565663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565663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Coordinador OJT (ICOJT-S: suplente)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79177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379177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Principal OJT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3379177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3379177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OJT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92690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4192690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OJT (adscrito al CIAAC)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4192690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IIFTA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192690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de Formación Técnica Aeronáutica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06204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0" y="5006204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Verificador Aeronáutico Aprendiz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5006204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5006204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Aprendiz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87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54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921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88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55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322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789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6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723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9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657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124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91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7058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7525"/>
                            </p:stCondLst>
                            <p:childTnLst>
                              <p:par>
                                <p:cTn id="8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7992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459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926"/>
                            </p:stCondLst>
                            <p:childTnLst>
                              <p:par>
                                <p:cTn id="9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9393"/>
                            </p:stCondLst>
                            <p:childTnLst>
                              <p:par>
                                <p:cTn id="10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1.3 ESTRUCTURA DEL MEPT: CAPÍTULOS Y ANEXOS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 del MEPT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Descripción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Uso, control de revisiones y responsables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5196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1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Introducción general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600" b="1">
                <a:solidFill>
                  <a:srgbClr val="9A7323"/>
                </a:solidFill>
                <a:latin typeface="Montserrat Medium"/>
              </a:rPr>
              <a:t>Cap. 2</a:t>
            </a:r>
          </a:p>
          <a:p>
            <a:pPr algn="ctr"/>
            <a:r>
              <a:rPr sz="1600" b="1">
                <a:solidFill>
                  <a:srgbClr val="9A7323"/>
                </a:solidFill>
                <a:latin typeface="Montserrat Medium"/>
              </a:rPr>
              <a:t>Objetivos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3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Estructura del sistema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4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Requisitos para el 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5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 de ejecución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6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Evaluación y mejora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Anexo 1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OJT y bitácoras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4391918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 dirty="0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Anexo 2</a:t>
            </a:r>
          </a:p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 de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usuario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Módulo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87000" y="4391918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Recuadros dorados: capítulos que estudias en este curso.</a:t>
            </a:r>
          </a:p>
        </p:txBody>
      </p:sp>
      <p:sp>
        <p:nvSpPr>
          <p:cNvPr id="19" name="Rounded Rectangle 6">
            <a:extLst>
              <a:ext uri="{FF2B5EF4-FFF2-40B4-BE49-F238E27FC236}">
                <a16:creationId xmlns:a16="http://schemas.microsoft.com/office/drawing/2014/main" id="{4EB2E0AC-E1A8-3EF6-98E8-2FEB6E2AE6AC}"/>
              </a:ext>
            </a:extLst>
          </p:cNvPr>
          <p:cNvSpPr/>
          <p:nvPr/>
        </p:nvSpPr>
        <p:spPr>
          <a:xfrm>
            <a:off x="10283305" y="15944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418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1.3 ESTRUCTURA DEL MEPT: CAPÍTULOS Y ANEXOS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Anexo 1: formatos y bitácoras</a:t>
            </a:r>
          </a:p>
        </p:txBody>
      </p:sp>
      <p:pic>
        <p:nvPicPr>
          <p:cNvPr id="3" name="Picture 2" descr="s08_fd98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959678"/>
            <a:ext cx="2905406" cy="29054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6949440" cy="41505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 general 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Bitácora de entrenamiento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 de cumplimiento y evaluación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y bitácoras por especialidad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Modelos de oficio de designación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44805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Estos documentos acompañan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cada evento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OJT. Usa siempre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revisión vigente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Anexo 1 de tu especialidad: con la R06, cada registro refleja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una tarea, un nivel y su evidencia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44805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1.4 ORGANIGRAMA AFAC/CIAAC Y ESTRUCTURA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Organigrama AFAC – CIAAC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40236" y="1710643"/>
            <a:ext cx="4023360" cy="62258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</a:t>
            </a: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General de la AFAC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51916" y="2333229"/>
            <a:ext cx="0" cy="290541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940236" y="2623771"/>
            <a:ext cx="4023360" cy="62258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51916" y="3246358"/>
            <a:ext cx="0" cy="29054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53560" y="3536899"/>
            <a:ext cx="8778240" cy="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54480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Programas para la Capacitación de Autoridades Aeronáuticas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4903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4320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Formación Técnica Aeronáutica Especializada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37759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Diseño Pedagógico de Programas Aeronáuticos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3815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32319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Calidad del CIAAC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1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32688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Programa de Entrenamiento en el Puesto de Trabajo (CPEPT)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12189"/>
            <a:ext cx="1042416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La CPEPT conduce el Programa OJT a nombre de la Dirección del CIAAC.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75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4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15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45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61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875"/>
                            </p:stCondLst>
                            <p:childTnLst>
                              <p:par>
                                <p:cTn id="3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140"/>
                            </p:stCondLst>
                            <p:childTnLst>
                              <p:par>
                                <p:cTn id="3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405"/>
                            </p:stCondLst>
                            <p:childTnLst>
                              <p:par>
                                <p:cTn id="4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79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257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724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191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658"/>
                            </p:stCondLst>
                            <p:childTnLst>
                              <p:par>
                                <p:cTn id="6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6155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1.4 ORGANIGRAMA AFAC/CIAAC Y ESTRUCTURA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06240" y="1669137"/>
            <a:ext cx="3657600" cy="498069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0" y="2167207"/>
            <a:ext cx="0" cy="207529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931920" y="2374736"/>
            <a:ext cx="4206240" cy="49806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Coordinador del Programa OJT (CPEPT)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35040" y="2872806"/>
            <a:ext cx="0" cy="207529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94560" y="3080335"/>
            <a:ext cx="7680960" cy="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3080335"/>
            <a:ext cx="0" cy="166023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1520" y="3246358"/>
            <a:ext cx="2926080" cy="705598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Seguimiento operacional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875519" y="3080335"/>
            <a:ext cx="0" cy="166023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0" y="3246358"/>
            <a:ext cx="2926080" cy="705598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Análisis técnico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246358"/>
            <a:ext cx="3657600" cy="70559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OJT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(adscrito al CIAAC)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00992"/>
            <a:ext cx="10515600" cy="128668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225895"/>
            <a:ext cx="8229600" cy="2905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 u="none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En cada Dirección o Comandancia (designados por el área):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7238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2044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7842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2648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8446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3252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IVA Aprendiz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12189"/>
            <a:ext cx="10515600" cy="415058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Llenado de formatos OJT, bitácoras e integración de evidencias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75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4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15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45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61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995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62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929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426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951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426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823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6215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612"/>
                            </p:stCondLst>
                            <p:childTnLst>
                              <p:par>
                                <p:cTn id="7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7004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7401"/>
                            </p:stCondLst>
                            <p:childTnLst>
                              <p:par>
                                <p:cTn id="8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7793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829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9" grpId="0" animBg="1"/>
      <p:bldP spid="21" grpId="0" animBg="1"/>
      <p:bldP spid="2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Una responsabilidad compartida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Conduce: metodología, estandarización, registro, supervisión y mejora.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Direcciones y Comandancias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ejecución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IVA de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adscripción</a:t>
            </a:r>
            <a:r>
              <a:rPr lang="es-MX"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vigila su desempeño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designado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 la evaluación técnica de la tarea.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06590"/>
            <a:ext cx="10241280" cy="788610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Ninguna intervención sustituye a las demás ni transfiere atribuciones.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</a:t>
            </a:r>
          </a:p>
        </p:txBody>
      </p:sp>
      <p:pic>
        <p:nvPicPr>
          <p:cNvPr id="39" name="Picture 38" descr="w_buil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67338"/>
            <a:ext cx="365760" cy="365760"/>
          </a:xfrm>
          <a:prstGeom prst="rect">
            <a:avLst/>
          </a:prstGeom>
        </p:spPr>
      </p:pic>
      <p:pic>
        <p:nvPicPr>
          <p:cNvPr id="40" name="Picture 39" descr="w_to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2067338"/>
            <a:ext cx="365760" cy="365760"/>
          </a:xfrm>
          <a:prstGeom prst="rect">
            <a:avLst/>
          </a:prstGeom>
        </p:spPr>
      </p:pic>
      <p:pic>
        <p:nvPicPr>
          <p:cNvPr id="41" name="Picture 40" descr="w_ba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992" y="2067338"/>
            <a:ext cx="365760" cy="365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51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426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Director del CIAAC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Conduce el Programa OJT de la AFAC a través de la CPEPT.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Define programas OJT con las áreas técnicas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 su implementación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 el registro de resultados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Gestiona los recursos del programa</a:t>
            </a:r>
          </a:p>
        </p:txBody>
      </p:sp>
      <p:pic>
        <p:nvPicPr>
          <p:cNvPr id="5" name="Picture 4" descr="s27_2dd7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3.4.1.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Director del CIAAC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conduce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programa a través de la CPEPT, pero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tu área: tu Dirección sigue siendo responsable de que realices y evidencies tu OJT.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Coordinador del Programa OJT (CPEPT)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Dirige las acciones que garantizan el cumplimiento del Programa OJT.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 la implementación en la AFAC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Valida designaciones de instructores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 formatos y cambios de tareas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 mejoras al MEPT</a:t>
            </a:r>
          </a:p>
        </p:txBody>
      </p:sp>
      <p:pic>
        <p:nvPicPr>
          <p:cNvPr id="5" name="Picture 4" descr="s28_312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752149"/>
            <a:ext cx="1909267" cy="3106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3.4.2.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1089"/>
              <a:gd name="adj2" fmla="val -7581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CPEPT es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coordinación central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programa: valida a los instructores, autoriza los formatos y los cambios de tareas, y propone mejoras al MEPT.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JDOP: Seguimiento Operacional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Coordina las acciones que garantizan el cumplimiento del programa.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formatos y tareas en el Módulo 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 a IPOJT e IOJT en campo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Asesora en el uso de formatos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Vigila el proceso de designación</a:t>
            </a:r>
          </a:p>
        </p:txBody>
      </p:sp>
      <p:pic>
        <p:nvPicPr>
          <p:cNvPr id="5" name="Picture 4" descr="s10_b20e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3.4.3.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JDOP da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seguimiento operativo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revisa lo que se registra en el Módulo OJT y verifica que los instructores apliquen correctamente los formatos.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JDAE: Análisis Técnico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Supervisa que tareas y subtareas se apeguen al MEPT y a los manuales técnicos.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Analiza cambios a tareas y subtareas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hallazgos para la mejora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 a IPOJT e IOJT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Formula el presupuesto del programa</a:t>
            </a:r>
          </a:p>
        </p:txBody>
      </p:sp>
      <p:pic>
        <p:nvPicPr>
          <p:cNvPr id="5" name="Picture 4" descr="s30_4d61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3.4.4.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JDAE cuida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calidad técnica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analiza los cambios de tareas, revisa los hallazgos y evalúa a los instructores para mejorar el entrenamiento.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Coordinador OJT (ICOJT)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Designado por el titular del área; da seguimiento al OJT de su personal.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Define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área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Reprograma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hasta 2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veces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más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Integra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expedientes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reporta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pic>
        <p:nvPicPr>
          <p:cNvPr id="5" name="Picture 4" descr="s19_cbde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553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3.4.5.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12298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ICOJT es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enlace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directo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el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</a:t>
            </a:r>
            <a:r>
              <a:rPr lang="es-MX"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él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reprograma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eventos</a:t>
            </a:r>
            <a:r>
              <a:rPr lang="es-MX" sz="15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cuando es necesario reforzar tus conocimientos, habilidades y actitudes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integra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expediente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Principal OJT (IPOJT)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Instructor líder, experto en la implementación del programa.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 a los IOJT en enseñanza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Monitorea y asiste su desempeño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Recomienda candidatos a IOJT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Funge como IOJT cuando se requiere</a:t>
            </a:r>
          </a:p>
        </p:txBody>
      </p:sp>
      <p:pic>
        <p:nvPicPr>
          <p:cNvPr id="5" name="Picture 4" descr="s33_7692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3.4.6.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IPOJT es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experto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área: forma y acompaña a los instructores OJT para que la enseñanza sea uniforme.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(IOJT)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Persona con mayor experiencia y competencia en la especialidad.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Instruye la tarea en cada nivel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 y registra resultado y evidencias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 firma técnica expresa lo aprobado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 nuevas tareas y subtareas</a:t>
            </a:r>
          </a:p>
        </p:txBody>
      </p:sp>
      <p:pic>
        <p:nvPicPr>
          <p:cNvPr id="5" name="Picture 4" descr="s20_906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3.4.7.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IOJT te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instruye, evalúa y firma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cada nivel. Su firma técnica indica exactamente qué tareas y niveles aprobaste.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Aprendiz (IVA 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IVA de cualquier especialidad que recibe el entrenamiento OJT.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Completa las tareas programadas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Lleva su formato a cada evento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Resguarda el original del formato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Justifica sus inasistencias</a:t>
            </a:r>
          </a:p>
        </p:txBody>
      </p:sp>
      <p:pic>
        <p:nvPicPr>
          <p:cNvPr id="5" name="Picture 4" descr="s21_2921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3.4.8.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eres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protagonista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OJT: completas tus tareas,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resguardas el original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formato y lo llevas a cada evento.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Titulares de área y Comandancias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93655"/>
            <a:ext cx="10424160" cy="26314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personal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gestionan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recursos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Mantienen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 individual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IVA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formalizan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comisiones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acceso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Plazo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aplicación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OJT: 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mayor a un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año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(Carta de Política)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3.4.9 a 3.4.12.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512064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Dirección o Comandancia debe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asegurar que completes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 en el plazo de la Carta de Política; el vencimiento del plazo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entrenamiento.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512064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75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887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822960"/>
            <a:ext cx="4846320" cy="4206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400" b="1" i="0" u="none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CONCLUSIONES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49240" y="1097280"/>
            <a:ext cx="0" cy="4297680"/>
          </a:xfrm>
          <a:prstGeom prst="line">
            <a:avLst/>
          </a:prstGeom>
          <a:ln w="31750">
            <a:solidFill>
              <a:srgbClr val="B9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577840" y="640080"/>
            <a:ext cx="5897880" cy="5120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El OJT es práctico, planificado, supervisado y </a:t>
            </a:r>
            <a:r>
              <a:rPr sz="28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documentado</a:t>
            </a: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El MEPT R06 es la referencia vigente.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Cada figura tiene funciones delimitadas.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Retoma tu reflexión inicial: ¿qué cambia con el OJT?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67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8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09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36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63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sz="3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¡Gracias!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15097</TotalTime>
  <Words>2816</Words>
  <Application>Microsoft Office PowerPoint</Application>
  <PresentationFormat>Panorámica</PresentationFormat>
  <Paragraphs>364</Paragraphs>
  <Slides>35</Slides>
  <Notes>32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Montserrat</vt:lpstr>
      <vt:lpstr>Montserrat Medium</vt:lpstr>
      <vt:lpstr>Montserrat SemiBold</vt:lpstr>
      <vt:lpstr>Noto Sans</vt:lpstr>
      <vt:lpstr>Tema de Office</vt:lpstr>
      <vt:lpstr>Módulo 1 Marco general del Programa OJT Actualización del Manual de Entrenamiento en el Puesto de Trabajo</vt:lpstr>
      <vt:lpstr>ACTIVIDAD DE INICIO Para iniciar, reflexiona</vt:lpstr>
      <vt:lpstr>1.1 ANTECEDENTES, OBJETIVO GENERAL Y OBJETIVOS ESPECÍFICOS DEL PROGRAMA OJT ¿Por qué surge el Programa OJT?</vt:lpstr>
      <vt:lpstr>1.1 ANTECEDENTES, OBJETIVO GENERAL Y OBJETIVOS ESPECÍFICOS DEL PROGRAMA OJT ¿Por qué surge el Programa OJT?</vt:lpstr>
      <vt:lpstr>1.1 ANTECEDENTES, OBJETIVO GENERAL Y OBJETIVOS ESPECÍFICOS DEL PROGRAMA OJT ¿Por qué surge el Programa OJT?</vt:lpstr>
      <vt:lpstr>1.1 ANTECEDENTES, OBJETIVO GENERAL Y OBJETIVOS ESPECÍFICOS DEL PROGRAMA OJT ¿Qué es el OJT?</vt:lpstr>
      <vt:lpstr>1.1 ANTECEDENTES, OBJETIVO GENERAL Y OBJETIVOS ESPECÍFICOS DEL PROGRAMA OJT ¿Dónde se ubica el OJT en tu formación?</vt:lpstr>
      <vt:lpstr>1.1 ANTECEDENTES, OBJETIVO GENERAL Y OBJETIVOS ESPECÍFICOS DEL PROGRAMA OJT Documento 9734 de la OACI</vt:lpstr>
      <vt:lpstr>1.1 ANTECEDENTES, OBJETIVO GENERAL Y OBJETIVOS ESPECÍFICOS DEL PROGRAMA OJT Los 8 elementos críticos de la OACI</vt:lpstr>
      <vt:lpstr>1.1 ANTECEDENTES, OBJETIVO GENERAL Y OBJETIVOS ESPECÍFICOS DEL PROGRAMA OJT CE-4: personal técnico cualificado y el OJT</vt:lpstr>
      <vt:lpstr>1.1 ANTECEDENTES, OBJETIVO GENERAL Y OBJETIVOS ESPECÍFICOS DEL PROGRAMA OJT ¿Por qué se actualizó el MEPT?</vt:lpstr>
      <vt:lpstr>1.1 ANTECEDENTES, OBJETIVO GENERAL Y OBJETIVOS ESPECÍFICOS DEL PROGRAMA OJT Marco documental del Programa OJT</vt:lpstr>
      <vt:lpstr>1.1 ANTECEDENTES, OBJETIVO GENERAL Y OBJETIVOS ESPECÍFICOS DEL PROGRAMA OJT ¿Dónde consultar la Carta de Política?</vt:lpstr>
      <vt:lpstr>1.1 ANTECEDENTES, OBJETIVO GENERAL Y OBJETIVOS ESPECÍFICOS DEL PROGRAMA OJT Objetivo general del Programa OJT</vt:lpstr>
      <vt:lpstr>1.1 ANTECEDENTES, OBJETIVO GENERAL Y OBJETIVOS ESPECÍFICOS DEL PROGRAMA OJT Objetivos específicos del Programa OJT</vt:lpstr>
      <vt:lpstr>1.1 ANTECEDENTES, OBJETIVO GENERAL Y OBJETIVOS ESPECÍFICOS DEL PROGRAMA OJT ¿A quién aplica el Programa OJT?</vt:lpstr>
      <vt:lpstr>1.2 DEFINICIONES Y ABREVIATURAS DEL MANUAL Definiciones: los documentos del OJT</vt:lpstr>
      <vt:lpstr>1.2 DEFINICIONES Y ABREVIATURAS DEL MANUAL Definiciones: resultado y registro</vt:lpstr>
      <vt:lpstr>1.2 DEFINICIONES Y ABREVIATURAS DEL MANUAL Abreviaturas: figuras del Programa OJT</vt:lpstr>
      <vt:lpstr>1.3 ESTRUCTURA DEL MEPT: CAPÍTULOS Y ANEXOS Estructura del MEPT</vt:lpstr>
      <vt:lpstr>1.3 ESTRUCTURA DEL MEPT: CAPÍTULOS Y ANEXOS Anexo 1: formatos y bitácoras</vt:lpstr>
      <vt:lpstr>1.4 ORGANIGRAMA AFAC/CIAAC Y ESTRUCTURA DEL PROGRAMA OJT Organigrama AFAC – CIAAC</vt:lpstr>
      <vt:lpstr>1.4 ORGANIGRAMA AFAC/CIAAC Y ESTRUCTURA DEL PROGRAMA OJT Estructura del Programa OJT</vt:lpstr>
      <vt:lpstr>1.5 FUNCIONES Y RESPONSABILIDADES: DIRECTOR DEL CIAAC, CPEPT, JDOP Y JDAE Una responsabilidad compartida</vt:lpstr>
      <vt:lpstr>1.5 FUNCIONES Y RESPONSABILIDADES: DIRECTOR DEL CIAAC, CPEPT, JDOP Y JDAE Director del CIAAC</vt:lpstr>
      <vt:lpstr>1.5 FUNCIONES Y RESPONSABILIDADES: DIRECTOR DEL CIAAC, CPEPT, JDOP Y JDAE Coordinador del Programa OJT (CPEPT)</vt:lpstr>
      <vt:lpstr>1.5 FUNCIONES Y RESPONSABILIDADES: DIRECTOR DEL CIAAC, CPEPT, JDOP Y JDAE JDOP: Seguimiento Operacional</vt:lpstr>
      <vt:lpstr>1.5 FUNCIONES Y RESPONSABILIDADES: DIRECTOR DEL CIAAC, CPEPT, JDOP Y JDAE JDAE: Análisis Técnico</vt:lpstr>
      <vt:lpstr>1.6 FUNCIONES Y RESPONSABILIDADES: ICOJT, IPOJT, IOJT E IVA APRENDIZ Instructor Coordinador OJT (ICOJT)</vt:lpstr>
      <vt:lpstr>1.6 FUNCIONES Y RESPONSABILIDADES: ICOJT, IPOJT, IOJT E IVA APRENDIZ Instructor Principal OJT (IPOJT)</vt:lpstr>
      <vt:lpstr>1.6 FUNCIONES Y RESPONSABILIDADES: ICOJT, IPOJT, IOJT E IVA APRENDIZ Instructor OJT (IOJT)</vt:lpstr>
      <vt:lpstr>1.6 FUNCIONES Y RESPONSABILIDADES: ICOJT, IPOJT, IOJT E IVA APRENDIZ IVA Aprendiz (IVA AP)</vt:lpstr>
      <vt:lpstr>1.6 FUNCIONES Y RESPONSABILIDADES: ICOJT, IPOJT, IOJT E IVA APRENDIZ Titulares de área y Comandancias</vt:lpstr>
      <vt:lpstr>Presentación de PowerPoint</vt:lpstr>
      <vt:lpstr>¡Gracias!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AVANZADO PARA EL INSPECTOR VERIFICADOR AERONÁUTICO DE INVESTIGACIÓN ADMINISTRATIVA Y SEGURIDAD AÉREA (IVA-IASA)</dc:title>
  <dc:creator>Ricardo Elias Delgado Villalobos</dc:creator>
  <cp:lastModifiedBy>Jose Manuel Figueroa Hernandez</cp:lastModifiedBy>
  <cp:revision>232</cp:revision>
  <dcterms:created xsi:type="dcterms:W3CDTF">2025-01-15T19:01:35Z</dcterms:created>
  <dcterms:modified xsi:type="dcterms:W3CDTF">2026-09-27T02:58:31Z</dcterms:modified>
</cp:coreProperties>
</file>