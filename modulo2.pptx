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63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92" r:id="rId10"/>
    <p:sldId id="301" r:id="rId11"/>
    <p:sldId id="293" r:id="rId12"/>
    <p:sldId id="294" r:id="rId13"/>
    <p:sldId id="300" r:id="rId14"/>
    <p:sldId id="295" r:id="rId15"/>
    <p:sldId id="291" r:id="rId16"/>
    <p:sldId id="296" r:id="rId17"/>
    <p:sldId id="302" r:id="rId18"/>
    <p:sldId id="277" r:id="rId19"/>
    <p:sldId id="297" r:id="rId20"/>
    <p:sldId id="298" r:id="rId21"/>
    <p:sldId id="278" r:id="rId22"/>
    <p:sldId id="279" r:id="rId23"/>
    <p:sldId id="280" r:id="rId24"/>
    <p:sldId id="281" r:id="rId25"/>
    <p:sldId id="282" r:id="rId26"/>
    <p:sldId id="283" r:id="rId27"/>
    <p:sldId id="299" r:id="rId28"/>
    <p:sldId id="286" r:id="rId29"/>
    <p:sldId id="290" r:id="rId3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9C16"/>
    <a:srgbClr val="156082"/>
    <a:srgbClr val="0B3041"/>
    <a:srgbClr val="CCCCFF"/>
    <a:srgbClr val="E4CDAC"/>
    <a:srgbClr val="7B95AF"/>
    <a:srgbClr val="003764"/>
    <a:srgbClr val="4E95D9"/>
    <a:srgbClr val="AEAEAE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30" autoAdjust="0"/>
    <p:restoredTop sz="94038" autoAdjust="0"/>
  </p:normalViewPr>
  <p:slideViewPr>
    <p:cSldViewPr snapToGrid="0">
      <p:cViewPr varScale="1">
        <p:scale>
          <a:sx n="65" d="100"/>
          <a:sy n="65" d="100"/>
        </p:scale>
        <p:origin x="82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 Manuel Figueroa Hernandez" userId="c23fd2b0-07fd-455e-80a2-756e0be2378e" providerId="ADAL" clId="{19EAFD33-AF50-43D6-BF52-FC06C69CD06D}"/>
    <pc:docChg chg="delSld modSld">
      <pc:chgData name="Jose Manuel Figueroa Hernandez" userId="c23fd2b0-07fd-455e-80a2-756e0be2378e" providerId="ADAL" clId="{19EAFD33-AF50-43D6-BF52-FC06C69CD06D}" dt="2026-09-23T22:15:07.545" v="14" actId="47"/>
      <pc:docMkLst>
        <pc:docMk/>
      </pc:docMkLst>
      <pc:sldChg chg="del">
        <pc:chgData name="Jose Manuel Figueroa Hernandez" userId="c23fd2b0-07fd-455e-80a2-756e0be2378e" providerId="ADAL" clId="{19EAFD33-AF50-43D6-BF52-FC06C69CD06D}" dt="2026-09-23T22:13:23.744" v="0" actId="47"/>
        <pc:sldMkLst>
          <pc:docMk/>
          <pc:sldMk cId="0" sldId="256"/>
        </pc:sldMkLst>
      </pc:sldChg>
      <pc:sldChg chg="del">
        <pc:chgData name="Jose Manuel Figueroa Hernandez" userId="c23fd2b0-07fd-455e-80a2-756e0be2378e" providerId="ADAL" clId="{19EAFD33-AF50-43D6-BF52-FC06C69CD06D}" dt="2026-09-23T22:13:24.796" v="1" actId="47"/>
        <pc:sldMkLst>
          <pc:docMk/>
          <pc:sldMk cId="0" sldId="257"/>
        </pc:sldMkLst>
      </pc:sldChg>
      <pc:sldChg chg="del">
        <pc:chgData name="Jose Manuel Figueroa Hernandez" userId="c23fd2b0-07fd-455e-80a2-756e0be2378e" providerId="ADAL" clId="{19EAFD33-AF50-43D6-BF52-FC06C69CD06D}" dt="2026-09-23T22:13:25.681" v="2" actId="47"/>
        <pc:sldMkLst>
          <pc:docMk/>
          <pc:sldMk cId="0" sldId="258"/>
        </pc:sldMkLst>
      </pc:sldChg>
      <pc:sldChg chg="del">
        <pc:chgData name="Jose Manuel Figueroa Hernandez" userId="c23fd2b0-07fd-455e-80a2-756e0be2378e" providerId="ADAL" clId="{19EAFD33-AF50-43D6-BF52-FC06C69CD06D}" dt="2026-09-23T22:13:27.921" v="3" actId="47"/>
        <pc:sldMkLst>
          <pc:docMk/>
          <pc:sldMk cId="0" sldId="259"/>
        </pc:sldMkLst>
      </pc:sldChg>
      <pc:sldChg chg="del">
        <pc:chgData name="Jose Manuel Figueroa Hernandez" userId="c23fd2b0-07fd-455e-80a2-756e0be2378e" providerId="ADAL" clId="{19EAFD33-AF50-43D6-BF52-FC06C69CD06D}" dt="2026-09-23T22:13:28.839" v="4" actId="47"/>
        <pc:sldMkLst>
          <pc:docMk/>
          <pc:sldMk cId="0" sldId="260"/>
        </pc:sldMkLst>
      </pc:sldChg>
      <pc:sldChg chg="del">
        <pc:chgData name="Jose Manuel Figueroa Hernandez" userId="c23fd2b0-07fd-455e-80a2-756e0be2378e" providerId="ADAL" clId="{19EAFD33-AF50-43D6-BF52-FC06C69CD06D}" dt="2026-09-23T22:13:29.764" v="5" actId="47"/>
        <pc:sldMkLst>
          <pc:docMk/>
          <pc:sldMk cId="0" sldId="261"/>
        </pc:sldMkLst>
      </pc:sldChg>
      <pc:sldChg chg="del">
        <pc:chgData name="Jose Manuel Figueroa Hernandez" userId="c23fd2b0-07fd-455e-80a2-756e0be2378e" providerId="ADAL" clId="{19EAFD33-AF50-43D6-BF52-FC06C69CD06D}" dt="2026-09-23T22:13:30.751" v="6" actId="47"/>
        <pc:sldMkLst>
          <pc:docMk/>
          <pc:sldMk cId="0" sldId="262"/>
        </pc:sldMkLst>
      </pc:sldChg>
      <pc:sldChg chg="modSp mod">
        <pc:chgData name="Jose Manuel Figueroa Hernandez" userId="c23fd2b0-07fd-455e-80a2-756e0be2378e" providerId="ADAL" clId="{19EAFD33-AF50-43D6-BF52-FC06C69CD06D}" dt="2026-09-23T22:14:18.880" v="9" actId="20577"/>
        <pc:sldMkLst>
          <pc:docMk/>
          <pc:sldMk cId="0" sldId="263"/>
        </pc:sldMkLst>
        <pc:spChg chg="mod">
          <ac:chgData name="Jose Manuel Figueroa Hernandez" userId="c23fd2b0-07fd-455e-80a2-756e0be2378e" providerId="ADAL" clId="{19EAFD33-AF50-43D6-BF52-FC06C69CD06D}" dt="2026-09-23T22:14:18.880" v="9" actId="20577"/>
          <ac:spMkLst>
            <pc:docMk/>
            <pc:sldMk cId="0" sldId="263"/>
            <ac:spMk id="2" creationId="{00000000-0000-0000-0000-000000000000}"/>
          </ac:spMkLst>
        </pc:spChg>
      </pc:sldChg>
      <pc:sldChg chg="del">
        <pc:chgData name="Jose Manuel Figueroa Hernandez" userId="c23fd2b0-07fd-455e-80a2-756e0be2378e" providerId="ADAL" clId="{19EAFD33-AF50-43D6-BF52-FC06C69CD06D}" dt="2026-09-23T22:14:35.506" v="10" actId="47"/>
        <pc:sldMkLst>
          <pc:docMk/>
          <pc:sldMk cId="0" sldId="264"/>
        </pc:sldMkLst>
      </pc:sldChg>
      <pc:sldChg chg="del">
        <pc:chgData name="Jose Manuel Figueroa Hernandez" userId="c23fd2b0-07fd-455e-80a2-756e0be2378e" providerId="ADAL" clId="{19EAFD33-AF50-43D6-BF52-FC06C69CD06D}" dt="2026-09-23T22:14:37.349" v="11" actId="47"/>
        <pc:sldMkLst>
          <pc:docMk/>
          <pc:sldMk cId="0" sldId="265"/>
        </pc:sldMkLst>
      </pc:sldChg>
      <pc:sldChg chg="del">
        <pc:chgData name="Jose Manuel Figueroa Hernandez" userId="c23fd2b0-07fd-455e-80a2-756e0be2378e" providerId="ADAL" clId="{19EAFD33-AF50-43D6-BF52-FC06C69CD06D}" dt="2026-09-23T22:15:07.545" v="14" actId="47"/>
        <pc:sldMkLst>
          <pc:docMk/>
          <pc:sldMk cId="0" sldId="287"/>
        </pc:sldMkLst>
      </pc:sldChg>
      <pc:sldChg chg="del">
        <pc:chgData name="Jose Manuel Figueroa Hernandez" userId="c23fd2b0-07fd-455e-80a2-756e0be2378e" providerId="ADAL" clId="{19EAFD33-AF50-43D6-BF52-FC06C69CD06D}" dt="2026-09-23T22:15:04.497" v="12" actId="47"/>
        <pc:sldMkLst>
          <pc:docMk/>
          <pc:sldMk cId="0" sldId="288"/>
        </pc:sldMkLst>
      </pc:sldChg>
      <pc:sldChg chg="del">
        <pc:chgData name="Jose Manuel Figueroa Hernandez" userId="c23fd2b0-07fd-455e-80a2-756e0be2378e" providerId="ADAL" clId="{19EAFD33-AF50-43D6-BF52-FC06C69CD06D}" dt="2026-09-23T22:15:06.062" v="13" actId="47"/>
        <pc:sldMkLst>
          <pc:docMk/>
          <pc:sldMk cId="0" sldId="28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313DD9-E4B5-4997-8BD0-CCD1D82A46CA}" type="datetimeFigureOut">
              <a:rPr lang="es-MX" smtClean="0"/>
              <a:t>26/09/2026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F0ECBA-0A42-439B-8BB1-7C8EF8AA356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40494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Conclusiones del submódulo: integran los aspectos que el participante debe recordar y aplicar.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F8A2C392-B539-B6D8-7851-5351BEE0B7B2}"/>
              </a:ext>
            </a:extLst>
          </p:cNvPr>
          <p:cNvPicPr/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3855720" y="1760220"/>
            <a:ext cx="8336280" cy="509778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783C967-2F54-09E4-AA30-298CA56551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BB59DC73-C653-C81C-D52E-0C69633752F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2210987" y="4899638"/>
            <a:ext cx="7766977" cy="1072989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A8FDDAFA-5E8D-9796-4199-96DDF49E0C4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365" t="2142" b="1"/>
          <a:stretch/>
        </p:blipFill>
        <p:spPr>
          <a:xfrm>
            <a:off x="-1525" y="0"/>
            <a:ext cx="12192000" cy="2031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787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, fin de present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F8A2C392-B539-B6D8-7851-5351BEE0B7B2}"/>
              </a:ext>
            </a:extLst>
          </p:cNvPr>
          <p:cNvPicPr/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3855720" y="1760220"/>
            <a:ext cx="8336280" cy="5097780"/>
          </a:xfrm>
          <a:prstGeom prst="rect">
            <a:avLst/>
          </a:prstGeom>
        </p:spPr>
      </p:pic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66826DB8-4520-87EC-C957-39CC5FEDDF23}"/>
              </a:ext>
            </a:extLst>
          </p:cNvPr>
          <p:cNvCxnSpPr>
            <a:cxnSpLocks/>
          </p:cNvCxnSpPr>
          <p:nvPr userDrawn="1"/>
        </p:nvCxnSpPr>
        <p:spPr>
          <a:xfrm>
            <a:off x="2610003" y="3429000"/>
            <a:ext cx="6968946" cy="0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14770139-593C-68D8-65A7-D32A6375D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29619" y="1992089"/>
            <a:ext cx="7329714" cy="1436911"/>
          </a:xfrm>
        </p:spPr>
        <p:txBody>
          <a:bodyPr anchor="ctr">
            <a:noAutofit/>
          </a:bodyPr>
          <a:lstStyle>
            <a:lvl1pPr algn="ctr">
              <a:defRPr sz="5000"/>
            </a:lvl1pPr>
          </a:lstStyle>
          <a:p>
            <a:endParaRPr lang="es-MX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51A90F6-F9C8-C3DC-0206-47FA2B0E52A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2210987" y="3772615"/>
            <a:ext cx="7766977" cy="1072989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FAADA8D9-AE01-0879-2B0F-D35E84BE75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365" t="2142" b="1"/>
          <a:stretch/>
        </p:blipFill>
        <p:spPr>
          <a:xfrm>
            <a:off x="-1525" y="0"/>
            <a:ext cx="12192000" cy="2031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854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B9625AD5-FD90-7ED4-A463-1E5CB822AA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65" b="4156"/>
          <a:stretch/>
        </p:blipFill>
        <p:spPr>
          <a:xfrm>
            <a:off x="0" y="0"/>
            <a:ext cx="12192000" cy="141604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98B7789-9006-E47A-926E-AC183E215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486" y="0"/>
            <a:ext cx="8955314" cy="1325563"/>
          </a:xfrm>
        </p:spPr>
        <p:txBody>
          <a:bodyPr>
            <a:normAutofit/>
          </a:bodyPr>
          <a:lstStyle>
            <a:lvl1pPr algn="just">
              <a:defRPr sz="40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pic>
        <p:nvPicPr>
          <p:cNvPr id="7" name="Imagen 6" descr="Patrón de fondo&#10;&#10;Descripción generada automáticamente">
            <a:extLst>
              <a:ext uri="{FF2B5EF4-FFF2-40B4-BE49-F238E27FC236}">
                <a16:creationId xmlns:a16="http://schemas.microsoft.com/office/drawing/2014/main" id="{A6FA8314-6B07-608F-1066-971AAD27014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8146" y="6096500"/>
            <a:ext cx="992252" cy="70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240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CBA6592-4655-ECA7-5E54-6A22661969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65" b="4156"/>
          <a:stretch/>
        </p:blipFill>
        <p:spPr>
          <a:xfrm>
            <a:off x="0" y="0"/>
            <a:ext cx="12192000" cy="141604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98B7789-9006-E47A-926E-AC183E215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486" y="0"/>
            <a:ext cx="8955314" cy="1325563"/>
          </a:xfrm>
        </p:spPr>
        <p:txBody>
          <a:bodyPr>
            <a:normAutofit/>
          </a:bodyPr>
          <a:lstStyle>
            <a:lvl1pPr algn="just">
              <a:defRPr sz="40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pic>
        <p:nvPicPr>
          <p:cNvPr id="7" name="Imagen 6" descr="Patrón de fondo&#10;&#10;Descripción generada automáticamente">
            <a:extLst>
              <a:ext uri="{FF2B5EF4-FFF2-40B4-BE49-F238E27FC236}">
                <a16:creationId xmlns:a16="http://schemas.microsoft.com/office/drawing/2014/main" id="{A6FA8314-6B07-608F-1066-971AAD27014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4" y="6082877"/>
            <a:ext cx="992252" cy="70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53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Patrón de fondo&#10;&#10;Descripción generada automáticamente">
            <a:extLst>
              <a:ext uri="{FF2B5EF4-FFF2-40B4-BE49-F238E27FC236}">
                <a16:creationId xmlns:a16="http://schemas.microsoft.com/office/drawing/2014/main" id="{A5A1F8B5-C537-E163-7F62-A12931C7E1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8146" y="6096500"/>
            <a:ext cx="992252" cy="702553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801879A4-A5B6-7D86-61D5-66ACD9BA94ED}"/>
              </a:ext>
            </a:extLst>
          </p:cNvPr>
          <p:cNvSpPr/>
          <p:nvPr userDrawn="1"/>
        </p:nvSpPr>
        <p:spPr>
          <a:xfrm>
            <a:off x="11829143" y="0"/>
            <a:ext cx="362857" cy="174691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31143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Patrón de fondo&#10;&#10;Descripción generada automáticamente">
            <a:extLst>
              <a:ext uri="{FF2B5EF4-FFF2-40B4-BE49-F238E27FC236}">
                <a16:creationId xmlns:a16="http://schemas.microsoft.com/office/drawing/2014/main" id="{634EBF27-8651-00A8-AF4C-4E9644167F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4" y="6082877"/>
            <a:ext cx="992252" cy="702553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FBE94F59-AD2E-40B1-B026-72BC4AB241A4}"/>
              </a:ext>
            </a:extLst>
          </p:cNvPr>
          <p:cNvSpPr/>
          <p:nvPr userDrawn="1"/>
        </p:nvSpPr>
        <p:spPr>
          <a:xfrm>
            <a:off x="11829143" y="0"/>
            <a:ext cx="362857" cy="174691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82609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Patrón de fondo&#10;&#10;Descripción generada automáticamente">
            <a:extLst>
              <a:ext uri="{FF2B5EF4-FFF2-40B4-BE49-F238E27FC236}">
                <a16:creationId xmlns:a16="http://schemas.microsoft.com/office/drawing/2014/main" id="{A5A1F8B5-C537-E163-7F62-A12931C7E1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8" y="66706"/>
            <a:ext cx="992252" cy="702553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79621210-2A91-1552-D4F2-DF2766531006}"/>
              </a:ext>
            </a:extLst>
          </p:cNvPr>
          <p:cNvSpPr/>
          <p:nvPr userDrawn="1"/>
        </p:nvSpPr>
        <p:spPr>
          <a:xfrm>
            <a:off x="11829143" y="0"/>
            <a:ext cx="362857" cy="174691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44666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C42BCD7-7546-798B-E3E1-8978EB603A65}"/>
              </a:ext>
            </a:extLst>
          </p:cNvPr>
          <p:cNvSpPr/>
          <p:nvPr userDrawn="1"/>
        </p:nvSpPr>
        <p:spPr>
          <a:xfrm>
            <a:off x="11832609" y="0"/>
            <a:ext cx="359391" cy="1746913"/>
          </a:xfrm>
          <a:prstGeom prst="rect">
            <a:avLst/>
          </a:prstGeom>
          <a:solidFill>
            <a:srgbClr val="7B95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Noto Sans"/>
            </a:endParaRPr>
          </a:p>
        </p:txBody>
      </p:sp>
      <p:pic>
        <p:nvPicPr>
          <p:cNvPr id="4" name="Imagen 3" descr="Patrón de fondo&#10;&#10;Descripción generada automáticamente">
            <a:extLst>
              <a:ext uri="{FF2B5EF4-FFF2-40B4-BE49-F238E27FC236}">
                <a16:creationId xmlns:a16="http://schemas.microsoft.com/office/drawing/2014/main" id="{CEFCEBEC-42C8-C58C-CD8C-206F903423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8146" y="6096500"/>
            <a:ext cx="992252" cy="70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102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C42BCD7-7546-798B-E3E1-8978EB603A65}"/>
              </a:ext>
            </a:extLst>
          </p:cNvPr>
          <p:cNvSpPr/>
          <p:nvPr userDrawn="1"/>
        </p:nvSpPr>
        <p:spPr>
          <a:xfrm>
            <a:off x="11832609" y="0"/>
            <a:ext cx="359391" cy="1746913"/>
          </a:xfrm>
          <a:prstGeom prst="rect">
            <a:avLst/>
          </a:prstGeom>
          <a:solidFill>
            <a:srgbClr val="7B95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Noto Sans"/>
            </a:endParaRPr>
          </a:p>
        </p:txBody>
      </p:sp>
      <p:pic>
        <p:nvPicPr>
          <p:cNvPr id="3" name="Imagen 2" descr="Patrón de fondo&#10;&#10;Descripción generada automáticamente">
            <a:extLst>
              <a:ext uri="{FF2B5EF4-FFF2-40B4-BE49-F238E27FC236}">
                <a16:creationId xmlns:a16="http://schemas.microsoft.com/office/drawing/2014/main" id="{532B9242-CE35-04A2-18AA-987DB5B40A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4" y="6082877"/>
            <a:ext cx="992252" cy="70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5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C42BCD7-7546-798B-E3E1-8978EB603A65}"/>
              </a:ext>
            </a:extLst>
          </p:cNvPr>
          <p:cNvSpPr/>
          <p:nvPr userDrawn="1"/>
        </p:nvSpPr>
        <p:spPr>
          <a:xfrm>
            <a:off x="11832609" y="0"/>
            <a:ext cx="359391" cy="1746913"/>
          </a:xfrm>
          <a:prstGeom prst="rect">
            <a:avLst/>
          </a:prstGeom>
          <a:solidFill>
            <a:srgbClr val="7B95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Noto Sans"/>
            </a:endParaRPr>
          </a:p>
        </p:txBody>
      </p:sp>
      <p:pic>
        <p:nvPicPr>
          <p:cNvPr id="3" name="Imagen 2" descr="Patrón de fondo&#10;&#10;Descripción generada automáticamente">
            <a:extLst>
              <a:ext uri="{FF2B5EF4-FFF2-40B4-BE49-F238E27FC236}">
                <a16:creationId xmlns:a16="http://schemas.microsoft.com/office/drawing/2014/main" id="{85BD324A-C024-0077-DF8F-20DCA813A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8" y="66706"/>
            <a:ext cx="992252" cy="70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138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D3F39D5-2B33-B76C-39CA-AE6BED786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DBD0F07-E6DF-E238-D01E-6075CA1AE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83371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61" r:id="rId4"/>
    <p:sldLayoutId id="2147483655" r:id="rId5"/>
    <p:sldLayoutId id="2147483664" r:id="rId6"/>
    <p:sldLayoutId id="2147483663" r:id="rId7"/>
    <p:sldLayoutId id="2147483662" r:id="rId8"/>
    <p:sldLayoutId id="2147483666" r:id="rId9"/>
    <p:sldLayoutId id="2147483665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8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0.png"/><Relationship Id="rId11" Type="http://schemas.openxmlformats.org/officeDocument/2006/relationships/image" Target="../media/image64.png"/><Relationship Id="rId5" Type="http://schemas.openxmlformats.org/officeDocument/2006/relationships/image" Target="../media/image59.png"/><Relationship Id="rId10" Type="http://schemas.openxmlformats.org/officeDocument/2006/relationships/image" Target="../media/image63.png"/><Relationship Id="rId4" Type="http://schemas.openxmlformats.org/officeDocument/2006/relationships/image" Target="../media/image7.png"/><Relationship Id="rId9" Type="http://schemas.openxmlformats.org/officeDocument/2006/relationships/image" Target="../media/image6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103120"/>
            <a:ext cx="10515600" cy="2651760"/>
          </a:xfr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sz="5400" b="0" i="0" u="none" dirty="0" err="1">
                <a:solidFill>
                  <a:srgbClr val="B98A2E"/>
                </a:solidFill>
                <a:latin typeface="Montserrat SemiBold"/>
                <a:ea typeface="Montserrat SemiBold"/>
                <a:cs typeface="Montserrat SemiBold"/>
              </a:rPr>
              <a:t>Módulo</a:t>
            </a:r>
            <a:r>
              <a:rPr sz="5400" b="0" i="0" u="none" dirty="0">
                <a:solidFill>
                  <a:srgbClr val="B98A2E"/>
                </a:solidFill>
                <a:latin typeface="Montserrat SemiBold"/>
                <a:ea typeface="Montserrat SemiBold"/>
                <a:cs typeface="Montserrat SemiBold"/>
              </a:rPr>
              <a:t> 2</a:t>
            </a:r>
          </a:p>
          <a:p>
            <a:pPr algn="ctr">
              <a:spcAft>
                <a:spcPts val="800"/>
              </a:spcAft>
            </a:pPr>
            <a:r>
              <a:rPr sz="4000" b="1" i="0" u="none" dirty="0" err="1">
                <a:solidFill>
                  <a:srgbClr val="0E2A47"/>
                </a:solidFill>
                <a:latin typeface="Montserrat"/>
                <a:ea typeface="Montserrat"/>
                <a:cs typeface="Montserrat"/>
              </a:rPr>
              <a:t>Requisitos</a:t>
            </a:r>
            <a:r>
              <a:rPr sz="4000" b="1" i="0" u="none" dirty="0">
                <a:solidFill>
                  <a:srgbClr val="0E2A47"/>
                </a:solidFill>
                <a:latin typeface="Montserrat"/>
                <a:ea typeface="Montserrat"/>
                <a:cs typeface="Montserrat"/>
              </a:rPr>
              <a:t> de </a:t>
            </a:r>
            <a:r>
              <a:rPr sz="4000" b="1" i="0" u="none" dirty="0" err="1">
                <a:solidFill>
                  <a:srgbClr val="0E2A47"/>
                </a:solidFill>
                <a:latin typeface="Montserrat"/>
                <a:ea typeface="Montserrat"/>
                <a:cs typeface="Montserrat"/>
              </a:rPr>
              <a:t>implementación</a:t>
            </a:r>
            <a:r>
              <a:rPr sz="4000" b="1" i="0" u="none" dirty="0">
                <a:solidFill>
                  <a:srgbClr val="0E2A47"/>
                </a:solidFill>
                <a:latin typeface="Montserrat"/>
                <a:ea typeface="Montserrat"/>
                <a:cs typeface="Montserrat"/>
              </a:rPr>
              <a:t> del </a:t>
            </a:r>
            <a:r>
              <a:rPr sz="4000" b="1" i="0" u="none" dirty="0" err="1">
                <a:solidFill>
                  <a:srgbClr val="0E2A47"/>
                </a:solidFill>
                <a:latin typeface="Montserrat"/>
                <a:ea typeface="Montserrat"/>
                <a:cs typeface="Montserrat"/>
              </a:rPr>
              <a:t>Programa</a:t>
            </a:r>
            <a:r>
              <a:rPr sz="4000" b="1" i="0" u="none" dirty="0">
                <a:solidFill>
                  <a:srgbClr val="0E2A47"/>
                </a:solidFill>
                <a:latin typeface="Montserrat"/>
                <a:ea typeface="Montserrat"/>
                <a:cs typeface="Montserrat"/>
              </a:rPr>
              <a:t> OJT</a:t>
            </a:r>
          </a:p>
          <a:p>
            <a:pPr algn="ctr"/>
            <a:r>
              <a:rPr sz="1600" b="0" i="0" u="none" dirty="0" err="1">
                <a:solidFill>
                  <a:srgbClr val="182430"/>
                </a:solidFill>
                <a:latin typeface="Montserrat SemiBold"/>
                <a:ea typeface="Montserrat SemiBold"/>
                <a:cs typeface="Montserrat SemiBold"/>
              </a:rPr>
              <a:t>Actualización del Manual de Entrenamiento en el Puesto de Trabajo</a:t>
            </a:r>
            <a:endParaRPr sz="1600" b="0" i="0" u="none" dirty="0">
              <a:solidFill>
                <a:srgbClr val="182430"/>
              </a:solidFill>
              <a:latin typeface="Montserrat SemiBold"/>
              <a:ea typeface="Montserrat SemiBold"/>
              <a:cs typeface="Montserrat SemiBold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ACTIVIDAD DE INICIO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Para iniciar, reflexiona</a:t>
            </a:r>
          </a:p>
        </p:txBody>
      </p:sp>
      <p:pic>
        <p:nvPicPr>
          <p:cNvPr id="3" name="Picture 2" descr="cour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6660" y="2034389"/>
            <a:ext cx="4342559" cy="33871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835161"/>
            <a:ext cx="7040880" cy="37856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Aprobaste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el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curso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básico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tu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especialidad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  <a:p>
            <a:pPr marL="347472" indent="-347472">
              <a:spcAft>
                <a:spcPts val="12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¿</a:t>
            </a:r>
            <a:r>
              <a:rPr lang="es-MX" sz="2500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Consideras que con la teoría, basta para acreditar una tarea en campo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?</a:t>
            </a:r>
          </a:p>
          <a:p>
            <a:pPr marL="347472" indent="-347472" algn="l">
              <a:lnSpc>
                <a:spcPct val="100000"/>
              </a:lnSpc>
              <a:spcAft>
                <a:spcPts val="12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¿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Qué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tendrías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que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demostrar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ante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quién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?</a:t>
            </a:r>
            <a:endParaRPr lang="es-MX" sz="2500" b="0" i="0" u="none" dirty="0">
              <a:solidFill>
                <a:srgbClr val="182430"/>
              </a:solidFill>
              <a:latin typeface="Montserrat Medium"/>
              <a:ea typeface="Montserrat Medium"/>
              <a:cs typeface="Montserrat Medium"/>
            </a:endParaRPr>
          </a:p>
          <a:p>
            <a:pPr marL="347472" indent="-347472" algn="l">
              <a:lnSpc>
                <a:spcPct val="100000"/>
              </a:lnSpc>
              <a:spcAft>
                <a:spcPts val="1200"/>
              </a:spcAft>
              <a:buClr>
                <a:srgbClr val="B98A2E"/>
              </a:buClr>
              <a:buFont typeface="Arial"/>
              <a:buChar char="•"/>
            </a:pPr>
            <a:endParaRPr sz="2500" b="0" i="0" u="none" dirty="0">
              <a:solidFill>
                <a:srgbClr val="182430"/>
              </a:solidFill>
              <a:latin typeface="Montserrat Medium"/>
              <a:ea typeface="Montserrat Medium"/>
              <a:cs typeface="Montserrat Medium"/>
            </a:endParaRPr>
          </a:p>
          <a:p>
            <a:pPr algn="ctr">
              <a:lnSpc>
                <a:spcPct val="100000"/>
              </a:lnSpc>
              <a:spcAft>
                <a:spcPts val="1200"/>
              </a:spcAft>
            </a:pPr>
            <a:r>
              <a:rPr sz="2500" b="1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Anota</a:t>
            </a:r>
            <a:r>
              <a:rPr sz="2500" b="1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 </a:t>
            </a:r>
            <a:r>
              <a:rPr sz="2500" b="1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tu</a:t>
            </a:r>
            <a:r>
              <a:rPr sz="2500" b="1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 </a:t>
            </a:r>
            <a:r>
              <a:rPr sz="2500" b="1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respuesta</a:t>
            </a:r>
            <a:r>
              <a:rPr sz="2500" b="1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 y </a:t>
            </a:r>
            <a:r>
              <a:rPr sz="2500" b="1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compárala</a:t>
            </a:r>
            <a:r>
              <a:rPr sz="2500" b="1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 al final.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75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1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2.1 REQUISITOS GENERALES PARA LLEVAR A CABO EL ENTRENAMIENTO OJT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Requisitos para realizar el OJT</a:t>
            </a:r>
          </a:p>
        </p:txBody>
      </p:sp>
      <p:sp>
        <p:nvSpPr>
          <p:cNvPr id="3" name="Oval 2"/>
          <p:cNvSpPr/>
          <p:nvPr/>
        </p:nvSpPr>
        <p:spPr>
          <a:xfrm>
            <a:off x="2144412" y="1589921"/>
            <a:ext cx="731520" cy="664092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2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4252" y="2378531"/>
            <a:ext cx="3291840" cy="747104"/>
          </a:xfrm>
          <a:prstGeom prst="roundRect">
            <a:avLst>
              <a:gd name="adj" fmla="val 10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Instructor OJT designado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4252" y="3125636"/>
            <a:ext cx="3291840" cy="2158302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Con experiencia y conocimientos; designado por su área con anuencia del Director del CIAAC.</a:t>
            </a:r>
          </a:p>
        </p:txBody>
      </p:sp>
      <p:sp>
        <p:nvSpPr>
          <p:cNvPr id="6" name="Oval 5"/>
          <p:cNvSpPr/>
          <p:nvPr/>
        </p:nvSpPr>
        <p:spPr>
          <a:xfrm>
            <a:off x="5664852" y="1589921"/>
            <a:ext cx="731520" cy="664092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2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4692" y="2378531"/>
            <a:ext cx="3291840" cy="747104"/>
          </a:xfrm>
          <a:prstGeom prst="roundRect">
            <a:avLst>
              <a:gd name="adj" fmla="val 10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Condiciones completas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4692" y="3125636"/>
            <a:ext cx="3291840" cy="2158302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Curso básico acreditado, programación autorizada y procedimientos vigentes.</a:t>
            </a:r>
          </a:p>
        </p:txBody>
      </p:sp>
      <p:sp>
        <p:nvSpPr>
          <p:cNvPr id="9" name="Oval 8"/>
          <p:cNvSpPr/>
          <p:nvPr/>
        </p:nvSpPr>
        <p:spPr>
          <a:xfrm>
            <a:off x="9185292" y="1589921"/>
            <a:ext cx="731520" cy="664092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2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5132" y="2378531"/>
            <a:ext cx="3291840" cy="747104"/>
          </a:xfrm>
          <a:prstGeom prst="roundRect">
            <a:avLst>
              <a:gd name="adj" fmla="val 10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Todo se documenta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5132" y="3125636"/>
            <a:ext cx="3291840" cy="2158302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En el expediente del IVA y en el Módulo OJT de la plataforma de la AFAC.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55080"/>
            <a:ext cx="86868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 4.1.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532120"/>
            <a:ext cx="10104120" cy="6400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4E2DA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Si falta cualquiera de estos requisitos,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el evento no puede realizarse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: primero se regulariza y después se programa.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5532120"/>
            <a:ext cx="640080" cy="64008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2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987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454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151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763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1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2.1 REQUISITOS GENERALES PARA LLEVAR A CABO EL ENTRENAMIENTO OJT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Lista de verificación antes de iniciar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93655"/>
            <a:ext cx="731520" cy="747104"/>
          </a:xfrm>
          <a:prstGeom prst="roundRect">
            <a:avLst>
              <a:gd name="adj" fmla="val 15000"/>
            </a:avLst>
          </a:prstGeom>
          <a:solidFill>
            <a:srgbClr val="2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5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554480" y="1793655"/>
            <a:ext cx="4206240" cy="747104"/>
          </a:xfrm>
          <a:prstGeom prst="roundRect">
            <a:avLst>
              <a:gd name="adj" fmla="val 10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777240" bIns="182880" rtlCol="0" anchor="ctr"/>
          <a:lstStyle/>
          <a:p>
            <a:pPr algn="l">
              <a:spcAft>
                <a:spcPts val="0"/>
              </a:spcAft>
            </a:pPr>
            <a:r>
              <a:rPr sz="20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Curso básico acreditado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793655"/>
            <a:ext cx="731520" cy="747104"/>
          </a:xfrm>
          <a:prstGeom prst="roundRect">
            <a:avLst>
              <a:gd name="adj" fmla="val 15000"/>
            </a:avLst>
          </a:prstGeom>
          <a:solidFill>
            <a:srgbClr val="2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5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793655"/>
            <a:ext cx="4206240" cy="747104"/>
          </a:xfrm>
          <a:prstGeom prst="roundRect">
            <a:avLst>
              <a:gd name="adj" fmla="val 10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777240" bIns="182880" rtlCol="0" anchor="ctr"/>
          <a:lstStyle/>
          <a:p>
            <a:pPr algn="l">
              <a:spcAft>
                <a:spcPts val="0"/>
              </a:spcAft>
            </a:pPr>
            <a:r>
              <a:rPr sz="20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Instructor designado para la tarea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89793"/>
            <a:ext cx="731520" cy="747104"/>
          </a:xfrm>
          <a:prstGeom prst="roundRect">
            <a:avLst>
              <a:gd name="adj" fmla="val 15000"/>
            </a:avLst>
          </a:prstGeom>
          <a:solidFill>
            <a:srgbClr val="2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5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54480" y="2789793"/>
            <a:ext cx="4206240" cy="747104"/>
          </a:xfrm>
          <a:prstGeom prst="roundRect">
            <a:avLst>
              <a:gd name="adj" fmla="val 10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777240" bIns="182880" rtlCol="0" anchor="ctr"/>
          <a:lstStyle/>
          <a:p>
            <a:pPr algn="l">
              <a:spcAft>
                <a:spcPts val="0"/>
              </a:spcAft>
            </a:pPr>
            <a:r>
              <a:rPr sz="20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Programación autorizada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789793"/>
            <a:ext cx="731520" cy="747104"/>
          </a:xfrm>
          <a:prstGeom prst="roundRect">
            <a:avLst>
              <a:gd name="adj" fmla="val 15000"/>
            </a:avLst>
          </a:prstGeom>
          <a:solidFill>
            <a:srgbClr val="2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5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2789793"/>
            <a:ext cx="4206240" cy="747104"/>
          </a:xfrm>
          <a:prstGeom prst="roundRect">
            <a:avLst>
              <a:gd name="adj" fmla="val 10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777240" bIns="182880" rtlCol="0" anchor="ctr"/>
          <a:lstStyle/>
          <a:p>
            <a:pPr algn="l">
              <a:spcAft>
                <a:spcPts val="0"/>
              </a:spcAft>
            </a:pPr>
            <a:r>
              <a:rPr sz="20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Procedimientos vigentes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85934"/>
            <a:ext cx="731520" cy="747104"/>
          </a:xfrm>
          <a:prstGeom prst="roundRect">
            <a:avLst>
              <a:gd name="adj" fmla="val 15000"/>
            </a:avLst>
          </a:prstGeom>
          <a:solidFill>
            <a:srgbClr val="2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5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54480" y="3785934"/>
            <a:ext cx="4206240" cy="747104"/>
          </a:xfrm>
          <a:prstGeom prst="roundRect">
            <a:avLst>
              <a:gd name="adj" fmla="val 10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777240" bIns="182880" rtlCol="0" anchor="ctr"/>
          <a:lstStyle/>
          <a:p>
            <a:pPr algn="l">
              <a:spcAft>
                <a:spcPts val="0"/>
              </a:spcAft>
            </a:pPr>
            <a:r>
              <a:rPr sz="20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Recursos disponibles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3785934"/>
            <a:ext cx="731520" cy="747104"/>
          </a:xfrm>
          <a:prstGeom prst="roundRect">
            <a:avLst>
              <a:gd name="adj" fmla="val 15000"/>
            </a:avLst>
          </a:prstGeom>
          <a:solidFill>
            <a:srgbClr val="2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5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3785934"/>
            <a:ext cx="4206240" cy="747104"/>
          </a:xfrm>
          <a:prstGeom prst="roundRect">
            <a:avLst>
              <a:gd name="adj" fmla="val 10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777240" bIns="182880" rtlCol="0" anchor="ctr"/>
          <a:lstStyle/>
          <a:p>
            <a:pPr algn="l">
              <a:spcAft>
                <a:spcPts val="0"/>
              </a:spcAft>
            </a:pPr>
            <a:r>
              <a:rPr sz="20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Criterios de desempeño definidos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63240" y="4906590"/>
            <a:ext cx="8092440" cy="830116"/>
          </a:xfrm>
          <a:prstGeom prst="roundRect">
            <a:avLst>
              <a:gd name="adj" fmla="val 8000"/>
            </a:avLst>
          </a:prstGeom>
          <a:solidFill>
            <a:srgbClr val="F6EEDC"/>
          </a:solidFill>
          <a:ln w="15875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20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Antes de cada evento, el instructor explica al aprendiz </a:t>
            </a:r>
            <a:r>
              <a:rPr sz="2000" b="1" i="0" u="none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qué deberá demostrar</a:t>
            </a:r>
            <a:r>
              <a:rPr sz="20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944236"/>
            <a:ext cx="8686800" cy="33204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numerales 4.1, 4.2 y 5.2.</a:t>
            </a:r>
          </a:p>
        </p:txBody>
      </p:sp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2352" y="1911175"/>
            <a:ext cx="512064" cy="512064"/>
          </a:xfrm>
          <a:prstGeom prst="rect">
            <a:avLst/>
          </a:prstGeom>
        </p:spPr>
      </p:pic>
      <p:pic>
        <p:nvPicPr>
          <p:cNvPr id="73" name="Picture 72" descr="vc_ins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5872" y="1911175"/>
            <a:ext cx="512064" cy="512064"/>
          </a:xfrm>
          <a:prstGeom prst="rect">
            <a:avLst/>
          </a:prstGeom>
        </p:spPr>
      </p:pic>
      <p:pic>
        <p:nvPicPr>
          <p:cNvPr id="74" name="Picture 73" descr="vc_pro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2352" y="2907313"/>
            <a:ext cx="512064" cy="512064"/>
          </a:xfrm>
          <a:prstGeom prst="rect">
            <a:avLst/>
          </a:prstGeom>
        </p:spPr>
      </p:pic>
      <p:pic>
        <p:nvPicPr>
          <p:cNvPr id="75" name="Picture 74" descr="vc_pro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05872" y="2907313"/>
            <a:ext cx="512064" cy="512064"/>
          </a:xfrm>
          <a:prstGeom prst="rect">
            <a:avLst/>
          </a:prstGeom>
        </p:spPr>
      </p:pic>
      <p:pic>
        <p:nvPicPr>
          <p:cNvPr id="76" name="Picture 75" descr="vc_re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02352" y="3903454"/>
            <a:ext cx="512064" cy="512064"/>
          </a:xfrm>
          <a:prstGeom prst="rect">
            <a:avLst/>
          </a:prstGeom>
        </p:spPr>
      </p:pic>
      <p:pic>
        <p:nvPicPr>
          <p:cNvPr id="77" name="Picture 76" descr="vc_cri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05872" y="3903454"/>
            <a:ext cx="512064" cy="512064"/>
          </a:xfrm>
          <a:prstGeom prst="rect">
            <a:avLst/>
          </a:prstGeom>
        </p:spPr>
      </p:pic>
      <p:pic>
        <p:nvPicPr>
          <p:cNvPr id="78" name="Picture 77" descr="vc_scen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" y="4887308"/>
            <a:ext cx="2369127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47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3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3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389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4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786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228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45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625"/>
                            </p:stCondLst>
                            <p:childTnLst>
                              <p:par>
                                <p:cTn id="4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3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3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67"/>
                            </p:stCondLst>
                            <p:childTnLst>
                              <p:par>
                                <p:cTn id="5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5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464"/>
                            </p:stCondLst>
                            <p:childTnLst>
                              <p:par>
                                <p:cTn id="5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906"/>
                            </p:stCondLst>
                            <p:childTnLst>
                              <p:par>
                                <p:cTn id="6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4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4303"/>
                            </p:stCondLst>
                            <p:childTnLst>
                              <p:par>
                                <p:cTn id="7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4745"/>
                            </p:stCondLst>
                            <p:childTnLst>
                              <p:par>
                                <p:cTn id="8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4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142"/>
                            </p:stCondLst>
                            <p:childTnLst>
                              <p:par>
                                <p:cTn id="8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734"/>
                            </p:stCondLst>
                            <p:childTnLst>
                              <p:par>
                                <p:cTn id="9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55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5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6186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6716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1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2.2 NIVELES DE ENTRENAMIENTO OJT: NIVEL 1, NIVEL 2 Y NIVEL 3, Y CONVALIDACIÓN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Tres niveles progresivos por tarea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2729" y="5429834"/>
            <a:ext cx="11046541" cy="622587"/>
          </a:xfrm>
          <a:prstGeom prst="roundRect">
            <a:avLst>
              <a:gd name="adj" fmla="val 10000"/>
            </a:avLst>
          </a:prstGeom>
          <a:solidFill>
            <a:srgbClr val="F6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20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Cada </a:t>
            </a:r>
            <a:r>
              <a:rPr sz="20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nivel</a:t>
            </a:r>
            <a:r>
              <a:rPr sz="20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lang="es-MX" sz="20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se evalúa </a:t>
            </a:r>
            <a:r>
              <a:rPr sz="20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</a:t>
            </a:r>
            <a:r>
              <a:rPr lang="es-MX" sz="20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n</a:t>
            </a:r>
            <a:r>
              <a:rPr sz="20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un </a:t>
            </a:r>
            <a:r>
              <a:rPr sz="2000" b="1" i="0" u="none" dirty="0" err="1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evento</a:t>
            </a:r>
            <a:r>
              <a:rPr sz="2000" b="1" i="0" u="none" dirty="0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 </a:t>
            </a:r>
            <a:r>
              <a:rPr sz="2000" b="1" i="0" u="none" dirty="0" err="1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distinto</a:t>
            </a:r>
            <a:r>
              <a:rPr sz="20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</a:t>
            </a:r>
            <a:r>
              <a:rPr sz="20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en</a:t>
            </a:r>
            <a:r>
              <a:rPr sz="20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000" b="1" i="0" u="none" dirty="0" err="1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fecha</a:t>
            </a:r>
            <a:r>
              <a:rPr sz="2000" b="1" i="0" u="none" dirty="0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 </a:t>
            </a:r>
            <a:r>
              <a:rPr sz="2000" b="1" i="0" u="none" dirty="0" err="1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distinta</a:t>
            </a:r>
            <a:r>
              <a:rPr sz="20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</a:t>
            </a:r>
            <a:r>
              <a:rPr sz="20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en</a:t>
            </a:r>
            <a:r>
              <a:rPr sz="20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000" b="1" dirty="0" err="1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orden</a:t>
            </a:r>
            <a:r>
              <a:rPr lang="es-MX" sz="2000" b="1" dirty="0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 progresivo</a:t>
            </a:r>
            <a:r>
              <a:rPr sz="20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239198"/>
            <a:ext cx="8686800" cy="33204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numerales 4.2.1 a 4.2.4.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2F6B3575-A6D9-5A1C-682D-D9094278F4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3958" y="1598211"/>
            <a:ext cx="2905312" cy="3644846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80F4C99C-51DC-9CA5-30BB-B97A52EE5F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2739" y="1606577"/>
            <a:ext cx="2905313" cy="3644847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3D75D582-B020-7634-E416-9DC7E2DA37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" y="1606577"/>
            <a:ext cx="2905313" cy="3644846"/>
          </a:xfrm>
          <a:prstGeom prst="rect">
            <a:avLst/>
          </a:prstGeom>
        </p:spPr>
      </p:pic>
      <p:sp>
        <p:nvSpPr>
          <p:cNvPr id="23" name="Right Arrow 4">
            <a:extLst>
              <a:ext uri="{FF2B5EF4-FFF2-40B4-BE49-F238E27FC236}">
                <a16:creationId xmlns:a16="http://schemas.microsoft.com/office/drawing/2014/main" id="{31666E93-A23F-DE02-4FCC-15915E88A3B2}"/>
              </a:ext>
            </a:extLst>
          </p:cNvPr>
          <p:cNvSpPr/>
          <p:nvPr/>
        </p:nvSpPr>
        <p:spPr>
          <a:xfrm>
            <a:off x="3977639" y="3156612"/>
            <a:ext cx="320040" cy="415058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ight Arrow 4">
            <a:extLst>
              <a:ext uri="{FF2B5EF4-FFF2-40B4-BE49-F238E27FC236}">
                <a16:creationId xmlns:a16="http://schemas.microsoft.com/office/drawing/2014/main" id="{1D96FC85-594A-F834-91CB-38843C861F01}"/>
              </a:ext>
            </a:extLst>
          </p:cNvPr>
          <p:cNvSpPr/>
          <p:nvPr/>
        </p:nvSpPr>
        <p:spPr>
          <a:xfrm>
            <a:off x="8053112" y="3156612"/>
            <a:ext cx="320040" cy="415058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42"/>
                            </p:stCondLst>
                            <p:childTnLst>
                              <p:par>
                                <p:cTn id="1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92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334"/>
                            </p:stCondLst>
                            <p:childTnLst>
                              <p:par>
                                <p:cTn id="2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914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389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100" b="0" i="0" u="none" dirty="0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2.2 NIVELES DE ENTRENAMIENTO OJT: NIVEL 1, NIVEL 2 Y NIVEL 3, Y CONVALIDACIÓN</a:t>
            </a:r>
          </a:p>
          <a:p>
            <a:pPr algn="l"/>
            <a:r>
              <a:rPr sz="2800" b="0" i="0" u="none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Nivel 1: </a:t>
            </a:r>
            <a:r>
              <a:rPr sz="2800" b="0" i="0" u="none" dirty="0" err="1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Conocimiento</a:t>
            </a:r>
            <a:endParaRPr sz="2800" b="0" i="0" u="none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752149"/>
            <a:ext cx="3886200" cy="498069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El instructor OJT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50219"/>
            <a:ext cx="3886200" cy="2282819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t"/>
          <a:lstStyle/>
          <a:p>
            <a:pPr marL="228600" indent="-228600" algn="l">
              <a:spcAft>
                <a:spcPts val="600"/>
              </a:spcAft>
              <a:buClr>
                <a:srgbClr val="B98A2E"/>
              </a:buClr>
              <a:buFont typeface="Arial"/>
              <a:buChar char="•"/>
            </a:pPr>
            <a:r>
              <a:rPr sz="145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Relaciona el curso básico con la tarea</a:t>
            </a:r>
          </a:p>
          <a:p>
            <a:pPr marL="228600" indent="-228600" algn="l">
              <a:spcAft>
                <a:spcPts val="600"/>
              </a:spcAft>
              <a:buClr>
                <a:srgbClr val="B98A2E"/>
              </a:buClr>
              <a:buFont typeface="Arial"/>
              <a:buChar char="•"/>
            </a:pPr>
            <a:r>
              <a:rPr sz="145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Explica objetivo, fundamento, secuencia, recursos y seguridad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00600" y="1752149"/>
            <a:ext cx="3886200" cy="498069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El aprendiz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600" y="2250219"/>
            <a:ext cx="3886200" cy="2282819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t"/>
          <a:lstStyle/>
          <a:p>
            <a:pPr marL="228600" indent="-228600" algn="l">
              <a:spcAft>
                <a:spcPts val="600"/>
              </a:spcAft>
              <a:buClr>
                <a:srgbClr val="B98A2E"/>
              </a:buClr>
              <a:buFont typeface="Arial"/>
              <a:buChar char="•"/>
            </a:pPr>
            <a:r>
              <a:rPr sz="145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Identifica propósito y alcance</a:t>
            </a:r>
          </a:p>
          <a:p>
            <a:pPr marL="228600" indent="-228600" algn="l">
              <a:spcAft>
                <a:spcPts val="600"/>
              </a:spcAft>
              <a:buClr>
                <a:srgbClr val="B98A2E"/>
              </a:buClr>
              <a:buFont typeface="Arial"/>
              <a:buChar char="•"/>
            </a:pPr>
            <a:r>
              <a:rPr sz="145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Localiza las referencias</a:t>
            </a:r>
          </a:p>
          <a:p>
            <a:pPr marL="228600" indent="-228600" algn="l">
              <a:spcAft>
                <a:spcPts val="600"/>
              </a:spcAft>
              <a:buClr>
                <a:srgbClr val="B98A2E"/>
              </a:buClr>
              <a:buFont typeface="Arial"/>
              <a:buChar char="•"/>
            </a:pPr>
            <a:r>
              <a:rPr sz="145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Explica secuencia, registros y límites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40567"/>
            <a:ext cx="10424160" cy="996139"/>
          </a:xfrm>
          <a:prstGeom prst="roundRect">
            <a:avLst>
              <a:gd name="adj" fmla="val 8000"/>
            </a:avLst>
          </a:prstGeom>
          <a:solidFill>
            <a:srgbClr val="F6EEDC"/>
          </a:solidFill>
          <a:ln w="15875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0"/>
              </a:spcAft>
            </a:pPr>
            <a:r>
              <a:rPr sz="1800" b="1" i="0" u="none">
                <a:solidFill>
                  <a:srgbClr val="9A7323"/>
                </a:solidFill>
                <a:latin typeface="Montserrat Medium"/>
                <a:ea typeface="Montserrat Medium"/>
                <a:cs typeface="Montserrat Medium"/>
              </a:rPr>
              <a:t>Es satisfactorio cuando:</a:t>
            </a: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el instructor comprueba el conocimiento aplicado a la tarea. </a:t>
            </a:r>
            <a:r>
              <a:rPr sz="1800" b="1" i="0" u="none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No se acredita solo por un curso previo.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4236"/>
            <a:ext cx="8686800" cy="33204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 4.2.1.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7968" y="1755648"/>
            <a:ext cx="2215763" cy="277977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18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805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48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1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1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2.2 NIVELES DE ENTRENAMIENTO OJT: NIVEL 1, NIVEL 2 Y NIVEL 3, Y CONVALIDACIÓN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Nivel 2: Demostración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52149"/>
            <a:ext cx="3886200" cy="498069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El instructor OJT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50219"/>
            <a:ext cx="3886200" cy="2282819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t"/>
          <a:lstStyle/>
          <a:p>
            <a:pPr marL="228600" indent="-228600" algn="l">
              <a:spcAft>
                <a:spcPts val="600"/>
              </a:spcAft>
              <a:buClr>
                <a:srgbClr val="B98A2E"/>
              </a:buClr>
              <a:buFont typeface="Arial"/>
              <a:buChar char="•"/>
            </a:pPr>
            <a:r>
              <a:rPr sz="145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Ejecuta</a:t>
            </a:r>
            <a:r>
              <a:rPr sz="145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</a:t>
            </a:r>
            <a:r>
              <a:rPr sz="145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explica</a:t>
            </a:r>
            <a:r>
              <a:rPr sz="145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la </a:t>
            </a:r>
            <a:r>
              <a:rPr sz="145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tarea</a:t>
            </a:r>
            <a:endParaRPr sz="1800" b="0" i="0" u="none" dirty="0">
              <a:solidFill>
                <a:srgbClr val="182430"/>
              </a:solidFill>
              <a:latin typeface="Montserrat Medium"/>
              <a:ea typeface="Montserrat Medium"/>
              <a:cs typeface="Montserrat Medium"/>
            </a:endParaRPr>
          </a:p>
          <a:p>
            <a:pPr marL="228600" indent="-228600" algn="l">
              <a:spcAft>
                <a:spcPts val="600"/>
              </a:spcAft>
              <a:buClr>
                <a:srgbClr val="B98A2E"/>
              </a:buClr>
              <a:buFont typeface="Arial"/>
              <a:buChar char="•"/>
            </a:pPr>
            <a:r>
              <a:rPr sz="145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Muestra</a:t>
            </a:r>
            <a:r>
              <a:rPr sz="145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45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criterios</a:t>
            </a:r>
            <a:r>
              <a:rPr sz="145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puntos </a:t>
            </a:r>
            <a:r>
              <a:rPr sz="145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críticos</a:t>
            </a:r>
            <a:r>
              <a:rPr sz="145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</a:t>
            </a:r>
            <a:r>
              <a:rPr sz="145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registros</a:t>
            </a:r>
            <a:endParaRPr lang="es-MX" sz="1800" b="0" i="0" u="none" dirty="0">
              <a:solidFill>
                <a:srgbClr val="182430"/>
              </a:solidFill>
              <a:latin typeface="Montserrat Medium"/>
              <a:ea typeface="Montserrat Medium"/>
              <a:cs typeface="Montserrat Medium"/>
            </a:endParaRPr>
          </a:p>
          <a:p>
            <a:pPr marL="228600" indent="-228600">
              <a:spcAft>
                <a:spcPts val="600"/>
              </a:spcAft>
              <a:buClr>
                <a:srgbClr val="B98A2E"/>
              </a:buClr>
              <a:buFont typeface="Arial"/>
              <a:buChar char="•"/>
            </a:pPr>
            <a:r>
              <a:rPr lang="es-MX" sz="1450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Emite recomendaciones al </a:t>
            </a:r>
            <a:r>
              <a:rPr lang="es-MX" sz="1450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aprendíz</a:t>
            </a:r>
            <a:r>
              <a:rPr lang="es-MX" sz="1450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para mejorar la tarea</a:t>
            </a:r>
          </a:p>
          <a:p>
            <a:pPr marL="228600" indent="-228600" algn="l">
              <a:spcAft>
                <a:spcPts val="600"/>
              </a:spcAft>
              <a:buClr>
                <a:srgbClr val="B98A2E"/>
              </a:buClr>
              <a:buFont typeface="Arial"/>
              <a:buChar char="•"/>
            </a:pPr>
            <a:endParaRPr sz="1800" b="0" i="0" u="none" dirty="0">
              <a:solidFill>
                <a:srgbClr val="182430"/>
              </a:solidFill>
              <a:latin typeface="Montserrat Medium"/>
              <a:ea typeface="Montserrat Medium"/>
              <a:cs typeface="Montserrat Medium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800600" y="1752149"/>
            <a:ext cx="3886200" cy="498069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El aprendiz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600" y="2250219"/>
            <a:ext cx="3886200" cy="2282819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t"/>
          <a:lstStyle/>
          <a:p>
            <a:pPr marL="228600" indent="-228600" algn="l">
              <a:spcAft>
                <a:spcPts val="600"/>
              </a:spcAft>
              <a:buClr>
                <a:srgbClr val="B98A2E"/>
              </a:buClr>
              <a:buFont typeface="Arial"/>
              <a:buChar char="•"/>
            </a:pPr>
            <a:r>
              <a:rPr sz="145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Observa</a:t>
            </a:r>
            <a:r>
              <a:rPr sz="145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</a:t>
            </a:r>
            <a:r>
              <a:rPr sz="145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puede</a:t>
            </a:r>
            <a:r>
              <a:rPr sz="145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45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coadyuvar</a:t>
            </a:r>
            <a:endParaRPr sz="1800" b="0" i="0" u="none" dirty="0">
              <a:solidFill>
                <a:srgbClr val="182430"/>
              </a:solidFill>
              <a:latin typeface="Montserrat Medium"/>
              <a:ea typeface="Montserrat Medium"/>
              <a:cs typeface="Montserrat Medium"/>
            </a:endParaRPr>
          </a:p>
          <a:p>
            <a:pPr marL="228600" indent="-228600" algn="l">
              <a:spcAft>
                <a:spcPts val="600"/>
              </a:spcAft>
              <a:buClr>
                <a:srgbClr val="B98A2E"/>
              </a:buClr>
              <a:buFont typeface="Arial"/>
              <a:buChar char="•"/>
            </a:pPr>
            <a:r>
              <a:rPr sz="145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Explica</a:t>
            </a:r>
            <a:r>
              <a:rPr sz="145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la </a:t>
            </a:r>
            <a:r>
              <a:rPr sz="145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secuencia</a:t>
            </a:r>
            <a:r>
              <a:rPr sz="145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45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observada</a:t>
            </a:r>
            <a:endParaRPr sz="1800" b="0" i="0" u="none" dirty="0">
              <a:solidFill>
                <a:srgbClr val="182430"/>
              </a:solidFill>
              <a:latin typeface="Montserrat Medium"/>
              <a:ea typeface="Montserrat Medium"/>
              <a:cs typeface="Montserrat Medium"/>
            </a:endParaRPr>
          </a:p>
          <a:p>
            <a:pPr marL="228600" indent="-228600" algn="l">
              <a:spcAft>
                <a:spcPts val="600"/>
              </a:spcAft>
              <a:buClr>
                <a:srgbClr val="B98A2E"/>
              </a:buClr>
              <a:buFont typeface="Arial"/>
              <a:buChar char="•"/>
            </a:pPr>
            <a:r>
              <a:rPr sz="145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Identifica</a:t>
            </a:r>
            <a:r>
              <a:rPr sz="145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lang="es-MX" sz="1450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puntos clave</a:t>
            </a:r>
            <a:r>
              <a:rPr sz="145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</a:t>
            </a:r>
            <a:r>
              <a:rPr sz="145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precauciones</a:t>
            </a:r>
            <a:endParaRPr lang="es-MX" sz="1800" b="0" i="0" u="none" dirty="0">
              <a:solidFill>
                <a:srgbClr val="182430"/>
              </a:solidFill>
              <a:latin typeface="Montserrat Medium"/>
              <a:ea typeface="Montserrat Medium"/>
              <a:cs typeface="Montserrat Medium"/>
            </a:endParaRPr>
          </a:p>
          <a:p>
            <a:pPr marL="228600" indent="-228600">
              <a:spcAft>
                <a:spcPts val="600"/>
              </a:spcAft>
              <a:buClr>
                <a:srgbClr val="B98A2E"/>
              </a:buClr>
              <a:buFont typeface="Arial"/>
              <a:buChar char="•"/>
            </a:pPr>
            <a:r>
              <a:rPr lang="es-MX" sz="1450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Realiza la tarea nuevamente cuando existen recomendaciones</a:t>
            </a:r>
          </a:p>
          <a:p>
            <a:pPr marL="228600" indent="-228600" algn="l">
              <a:spcAft>
                <a:spcPts val="600"/>
              </a:spcAft>
              <a:buClr>
                <a:srgbClr val="B98A2E"/>
              </a:buClr>
              <a:buFont typeface="Arial"/>
              <a:buChar char="•"/>
            </a:pPr>
            <a:endParaRPr sz="1800" b="0" i="0" u="none" dirty="0">
              <a:solidFill>
                <a:srgbClr val="182430"/>
              </a:solidFill>
              <a:latin typeface="Montserrat Medium"/>
              <a:ea typeface="Montserrat Medium"/>
              <a:cs typeface="Montserrat Medium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4740567"/>
            <a:ext cx="10424160" cy="996139"/>
          </a:xfrm>
          <a:prstGeom prst="roundRect">
            <a:avLst>
              <a:gd name="adj" fmla="val 8000"/>
            </a:avLst>
          </a:prstGeom>
          <a:solidFill>
            <a:srgbClr val="F6EEDC"/>
          </a:solidFill>
          <a:ln w="15875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0"/>
              </a:spcAft>
            </a:pPr>
            <a:r>
              <a:rPr sz="1800" b="1" i="0" u="none">
                <a:solidFill>
                  <a:srgbClr val="9A7323"/>
                </a:solidFill>
                <a:latin typeface="Montserrat Medium"/>
                <a:ea typeface="Montserrat Medium"/>
                <a:cs typeface="Montserrat Medium"/>
              </a:rPr>
              <a:t>Es satisfactorio cuando:</a:t>
            </a: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se cubrió la demostración y el aprendiz demuestra comprensión. </a:t>
            </a:r>
            <a:r>
              <a:rPr sz="1800" b="1" i="0" u="none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Coadyuvar no acredita ejecución independiente.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4236"/>
            <a:ext cx="8686800" cy="33204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 4.2.2.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7968" y="1755648"/>
            <a:ext cx="2215763" cy="277977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18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805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48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1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1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2.2 NIVELES DE ENTRENAMIENTO OJT: NIVEL 1, NIVEL 2 Y NIVEL 3, Y CONVALIDACIÓN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Nivel 3: Ejecución supervisada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52149"/>
            <a:ext cx="3886200" cy="498069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El instructor OJT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50219"/>
            <a:ext cx="3886200" cy="2282819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t"/>
          <a:lstStyle/>
          <a:p>
            <a:pPr marL="228600" indent="-228600" algn="l">
              <a:spcAft>
                <a:spcPts val="600"/>
              </a:spcAft>
              <a:buClr>
                <a:srgbClr val="B98A2E"/>
              </a:buClr>
              <a:buFont typeface="Arial"/>
              <a:buChar char="•"/>
            </a:pPr>
            <a:r>
              <a:rPr sz="145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Observa</a:t>
            </a:r>
            <a:r>
              <a:rPr sz="145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</a:t>
            </a:r>
            <a:r>
              <a:rPr sz="145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supervisa</a:t>
            </a:r>
            <a:r>
              <a:rPr sz="145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</a:t>
            </a:r>
            <a:r>
              <a:rPr sz="145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evalúa</a:t>
            </a:r>
            <a:endParaRPr sz="1800" b="0" i="0" u="none" dirty="0">
              <a:solidFill>
                <a:srgbClr val="182430"/>
              </a:solidFill>
              <a:latin typeface="Montserrat Medium"/>
              <a:ea typeface="Montserrat Medium"/>
              <a:cs typeface="Montserrat Medium"/>
            </a:endParaRPr>
          </a:p>
          <a:p>
            <a:pPr marL="228600" indent="-228600" algn="l">
              <a:spcAft>
                <a:spcPts val="600"/>
              </a:spcAft>
              <a:buClr>
                <a:srgbClr val="B98A2E"/>
              </a:buClr>
              <a:buFont typeface="Arial"/>
              <a:buChar char="•"/>
            </a:pPr>
            <a:r>
              <a:rPr sz="145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Documenta </a:t>
            </a:r>
            <a:r>
              <a:rPr sz="145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cualquier</a:t>
            </a:r>
            <a:r>
              <a:rPr sz="145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45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intervención</a:t>
            </a:r>
            <a:endParaRPr lang="es-MX" sz="1800" b="0" i="0" u="none" dirty="0">
              <a:solidFill>
                <a:srgbClr val="182430"/>
              </a:solidFill>
              <a:latin typeface="Montserrat Medium"/>
              <a:ea typeface="Montserrat Medium"/>
              <a:cs typeface="Montserrat Medium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800600" y="1752149"/>
            <a:ext cx="3886200" cy="498069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El aprendiz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600" y="2250219"/>
            <a:ext cx="3886200" cy="2282819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t"/>
          <a:lstStyle/>
          <a:p>
            <a:pPr marL="228600" indent="-228600" algn="l">
              <a:spcAft>
                <a:spcPts val="600"/>
              </a:spcAft>
              <a:buClr>
                <a:srgbClr val="B98A2E"/>
              </a:buClr>
              <a:buFont typeface="Arial"/>
              <a:buChar char="•"/>
            </a:pPr>
            <a:r>
              <a:rPr sz="145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Ejecuta</a:t>
            </a:r>
            <a:r>
              <a:rPr sz="145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la </a:t>
            </a:r>
            <a:r>
              <a:rPr sz="145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tarea</a:t>
            </a:r>
            <a:r>
              <a:rPr sz="145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sus </a:t>
            </a:r>
            <a:r>
              <a:rPr sz="145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subtareas</a:t>
            </a:r>
            <a:endParaRPr sz="1800" b="0" i="0" u="none" dirty="0">
              <a:solidFill>
                <a:srgbClr val="182430"/>
              </a:solidFill>
              <a:latin typeface="Montserrat Medium"/>
              <a:ea typeface="Montserrat Medium"/>
              <a:cs typeface="Montserrat Medium"/>
            </a:endParaRPr>
          </a:p>
          <a:p>
            <a:pPr marL="228600" indent="-228600" algn="l">
              <a:spcAft>
                <a:spcPts val="600"/>
              </a:spcAft>
              <a:buClr>
                <a:srgbClr val="B98A2E"/>
              </a:buClr>
              <a:buFont typeface="Arial"/>
              <a:buChar char="•"/>
            </a:pPr>
            <a:r>
              <a:rPr sz="145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Sustenta</a:t>
            </a:r>
            <a:r>
              <a:rPr sz="145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sus </a:t>
            </a:r>
            <a:r>
              <a:rPr sz="145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decisiones</a:t>
            </a:r>
            <a:endParaRPr sz="1800" b="0" i="0" u="none" dirty="0">
              <a:solidFill>
                <a:srgbClr val="182430"/>
              </a:solidFill>
              <a:latin typeface="Montserrat Medium"/>
              <a:ea typeface="Montserrat Medium"/>
              <a:cs typeface="Montserrat Medium"/>
            </a:endParaRPr>
          </a:p>
          <a:p>
            <a:pPr marL="228600" indent="-228600" algn="l">
              <a:spcAft>
                <a:spcPts val="600"/>
              </a:spcAft>
              <a:buClr>
                <a:srgbClr val="B98A2E"/>
              </a:buClr>
              <a:buFont typeface="Arial"/>
              <a:buChar char="•"/>
            </a:pPr>
            <a:r>
              <a:rPr sz="145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Usa </a:t>
            </a:r>
            <a:r>
              <a:rPr sz="145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recursos</a:t>
            </a:r>
            <a:r>
              <a:rPr sz="145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45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autorizados</a:t>
            </a:r>
            <a:endParaRPr sz="1800" b="0" i="0" u="none" dirty="0">
              <a:solidFill>
                <a:srgbClr val="182430"/>
              </a:solidFill>
              <a:latin typeface="Montserrat Medium"/>
              <a:ea typeface="Montserrat Medium"/>
              <a:cs typeface="Montserrat Medium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4740567"/>
            <a:ext cx="10424160" cy="996139"/>
          </a:xfrm>
          <a:prstGeom prst="roundRect">
            <a:avLst>
              <a:gd name="adj" fmla="val 8000"/>
            </a:avLst>
          </a:prstGeom>
          <a:solidFill>
            <a:srgbClr val="F6EEDC"/>
          </a:solidFill>
          <a:ln w="15875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0"/>
              </a:spcAft>
            </a:pPr>
            <a:r>
              <a:rPr sz="1800" b="1" i="0" u="none">
                <a:solidFill>
                  <a:srgbClr val="9A7323"/>
                </a:solidFill>
                <a:latin typeface="Montserrat Medium"/>
                <a:ea typeface="Montserrat Medium"/>
                <a:cs typeface="Montserrat Medium"/>
              </a:rPr>
              <a:t>Es satisfactorio cuando:</a:t>
            </a: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cumple los criterios de aceptación y todas las subtareas aplicables. </a:t>
            </a:r>
            <a:r>
              <a:rPr sz="1800" b="1" i="0" u="none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La acreditación no se extiende a otras tareas.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4236"/>
            <a:ext cx="8686800" cy="33204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 4.2.3.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7968" y="1755648"/>
            <a:ext cx="2215763" cy="277977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18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805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48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1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1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2.2 NIVELES DE ENTRENAMIENTO OJT: NIVEL 1, NIVEL 2 Y NIVEL 3, Y CONVALIDACIÓN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Una tarea, tres eventos distintos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41208"/>
            <a:ext cx="104241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Con la R06,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cada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nivel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una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misma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tarea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se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realiza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en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un </a:t>
            </a:r>
            <a:r>
              <a:rPr sz="18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evento</a:t>
            </a:r>
            <a:r>
              <a:rPr sz="18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 </a:t>
            </a:r>
            <a:r>
              <a:rPr sz="18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propio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en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una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8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fecha</a:t>
            </a:r>
            <a:r>
              <a:rPr sz="18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 </a:t>
            </a:r>
            <a:r>
              <a:rPr sz="18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distinta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en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8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orden</a:t>
            </a:r>
            <a:r>
              <a:rPr sz="18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 </a:t>
            </a:r>
            <a:r>
              <a:rPr sz="18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progresivo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937678" y="3608535"/>
            <a:ext cx="502920" cy="411480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ight Arrow 8"/>
          <p:cNvSpPr/>
          <p:nvPr/>
        </p:nvSpPr>
        <p:spPr>
          <a:xfrm>
            <a:off x="7897669" y="3608535"/>
            <a:ext cx="502920" cy="411480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6355080"/>
            <a:ext cx="9052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 4.2.4 a) a d).</a:t>
            </a: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CA753B9E-2CFC-7577-3A27-8552D46A47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359" y="2260975"/>
            <a:ext cx="3345568" cy="3106600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4603C401-8617-4EF6-1EEE-86B8585300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6349" y="2239814"/>
            <a:ext cx="3345569" cy="3106600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A3E528C7-CE54-7B0D-7E36-02691DD89B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6340" y="2239814"/>
            <a:ext cx="3322780" cy="3085439"/>
          </a:xfrm>
          <a:prstGeom prst="rect">
            <a:avLst/>
          </a:prstGeom>
        </p:spPr>
      </p:pic>
      <p:sp>
        <p:nvSpPr>
          <p:cNvPr id="33" name="Rounded Rectangle 17">
            <a:extLst>
              <a:ext uri="{FF2B5EF4-FFF2-40B4-BE49-F238E27FC236}">
                <a16:creationId xmlns:a16="http://schemas.microsoft.com/office/drawing/2014/main" id="{B8581955-9230-2C49-C489-6851AA7CA990}"/>
              </a:ext>
            </a:extLst>
          </p:cNvPr>
          <p:cNvSpPr/>
          <p:nvPr/>
        </p:nvSpPr>
        <p:spPr>
          <a:xfrm>
            <a:off x="1051560" y="5425926"/>
            <a:ext cx="10104120" cy="8686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4E2DA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El</a:t>
            </a:r>
            <a:r>
              <a:rPr lang="es-MX"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siguiente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lang="es-MX"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nivel 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solo se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programa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cuando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el anterior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tiene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5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aprobación</a:t>
            </a:r>
            <a:r>
              <a:rPr sz="15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 </a:t>
            </a:r>
            <a:r>
              <a:rPr sz="15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técnica</a:t>
            </a:r>
            <a:r>
              <a:rPr sz="15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 </a:t>
            </a:r>
            <a:r>
              <a:rPr sz="15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documentada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 Si un</a:t>
            </a:r>
            <a:r>
              <a:rPr lang="es-MX"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 tarea de un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nivel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dura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varias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jornadas, se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registran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sus </a:t>
            </a:r>
            <a:r>
              <a:rPr sz="15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fechas</a:t>
            </a:r>
            <a:r>
              <a:rPr sz="15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 reales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inicio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conclusión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34" name="Oval 18">
            <a:extLst>
              <a:ext uri="{FF2B5EF4-FFF2-40B4-BE49-F238E27FC236}">
                <a16:creationId xmlns:a16="http://schemas.microsoft.com/office/drawing/2014/main" id="{2743D928-1DC0-2E4B-2C56-6141A0E631F1}"/>
              </a:ext>
            </a:extLst>
          </p:cNvPr>
          <p:cNvSpPr/>
          <p:nvPr/>
        </p:nvSpPr>
        <p:spPr>
          <a:xfrm>
            <a:off x="731520" y="5471646"/>
            <a:ext cx="777240" cy="77724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75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25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967"/>
                            </p:stCondLst>
                            <p:childTnLst>
                              <p:par>
                                <p:cTn id="1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417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859"/>
                            </p:stCondLst>
                            <p:childTnLst>
                              <p:par>
                                <p:cTn id="2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639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251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0" grpId="0" animBg="1"/>
      <p:bldP spid="33" grpId="0" animBg="1"/>
      <p:bldP spid="3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515CA-6D52-8539-65AE-7AC8B9051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F9AF0-0B95-AC27-883C-242EAE453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1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2.2 NIVELES DE ENTRENAMIENTO OJT: NIVEL 1, NIVEL 2 Y NIVEL 3, Y CONVALIDACIÓN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Una tarea, tres eventos distintos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4ABCBE-2069-2FD8-4D9C-513317F33E20}"/>
              </a:ext>
            </a:extLst>
          </p:cNvPr>
          <p:cNvSpPr txBox="1"/>
          <p:nvPr/>
        </p:nvSpPr>
        <p:spPr>
          <a:xfrm>
            <a:off x="731520" y="6355080"/>
            <a:ext cx="9052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 4.2.4 a) a d).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30CB198C-9131-9EE3-1B58-4EDE793265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6144" y="2118481"/>
            <a:ext cx="3783213" cy="3242754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0CEB8054-CDFE-C9B1-5FD2-5439D6BE47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964" y="2118481"/>
            <a:ext cx="3809764" cy="3265512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5EB7C533-8355-6425-F3F3-18E8158366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068" y="2143109"/>
            <a:ext cx="3754480" cy="3218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11107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13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1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24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1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2.2 NIVELES DE ENTRENAMIENTO OJT: NIVEL 1, NIVEL 2 Y NIVEL 3, Y CONVALIDACIÓN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¿Qué debe demostrar tu evidencia?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4241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Cada evento necesita evidencia </a:t>
            </a:r>
            <a:r>
              <a:rPr sz="18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pertinente, auténtica y suficiente</a:t>
            </a: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 Al revisarla, debe responder estas preguntas: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2651760"/>
            <a:ext cx="548640" cy="54864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89888" y="2377440"/>
            <a:ext cx="2651760" cy="1097280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749808" bIns="128016" rtlCol="0" anchor="ctr"/>
          <a:lstStyle/>
          <a:p>
            <a:pPr algn="l">
              <a:spcAft>
                <a:spcPts val="0"/>
              </a:spcAft>
            </a:pPr>
            <a:r>
              <a:rPr sz="14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¿</a:t>
            </a:r>
            <a:r>
              <a:rPr sz="14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Quién</a:t>
            </a:r>
            <a:r>
              <a:rPr sz="14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 </a:t>
            </a:r>
            <a:r>
              <a:rPr sz="14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participó</a:t>
            </a:r>
            <a:r>
              <a:rPr sz="14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?</a:t>
            </a:r>
          </a:p>
          <a:p>
            <a:pPr algn="l">
              <a:spcAft>
                <a:spcPts val="0"/>
              </a:spcAft>
            </a:pP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Tú y </a:t>
            </a:r>
            <a:r>
              <a:rPr sz="14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tu</a:t>
            </a: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instructor, </a:t>
            </a:r>
            <a:r>
              <a:rPr sz="14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identificados</a:t>
            </a: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6" name="Oval 5"/>
          <p:cNvSpPr/>
          <p:nvPr/>
        </p:nvSpPr>
        <p:spPr>
          <a:xfrm>
            <a:off x="4251960" y="2651760"/>
            <a:ext cx="548640" cy="54864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10328" y="2377440"/>
            <a:ext cx="2651760" cy="1097280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749808" bIns="128016" rtlCol="0" anchor="ctr"/>
          <a:lstStyle/>
          <a:p>
            <a:pPr algn="l">
              <a:spcAft>
                <a:spcPts val="0"/>
              </a:spcAft>
            </a:pPr>
            <a:r>
              <a:rPr sz="14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¿</a:t>
            </a:r>
            <a:r>
              <a:rPr sz="14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Qué</a:t>
            </a:r>
            <a:r>
              <a:rPr sz="14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 </a:t>
            </a:r>
            <a:r>
              <a:rPr lang="es-MX" sz="14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actividad realizaste</a:t>
            </a:r>
            <a:r>
              <a:rPr sz="14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?</a:t>
            </a:r>
          </a:p>
          <a:p>
            <a:pPr algn="l">
              <a:spcAft>
                <a:spcPts val="0"/>
              </a:spcAft>
            </a:pP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La </a:t>
            </a:r>
            <a:r>
              <a:rPr sz="14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actuación</a:t>
            </a: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4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concreta</a:t>
            </a: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4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en</a:t>
            </a: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la </a:t>
            </a:r>
            <a:r>
              <a:rPr sz="14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tarea</a:t>
            </a: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8" name="Oval 7"/>
          <p:cNvSpPr/>
          <p:nvPr/>
        </p:nvSpPr>
        <p:spPr>
          <a:xfrm>
            <a:off x="7772400" y="2651760"/>
            <a:ext cx="548640" cy="54864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30768" y="2377440"/>
            <a:ext cx="2651760" cy="1097280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749808" bIns="128016" rtlCol="0" anchor="ctr"/>
          <a:lstStyle/>
          <a:p>
            <a:pPr algn="l">
              <a:spcAft>
                <a:spcPts val="0"/>
              </a:spcAft>
            </a:pPr>
            <a:r>
              <a:rPr sz="14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¿En qué tarea y nivel?</a:t>
            </a:r>
          </a:p>
          <a:p>
            <a:pPr algn="l">
              <a:spcAft>
                <a:spcPts val="0"/>
              </a:spcAft>
            </a:pP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Con su código y denominación.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931920"/>
            <a:ext cx="548640" cy="54864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89888" y="3657600"/>
            <a:ext cx="2651760" cy="1097280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749808" bIns="128016" rtlCol="0" anchor="ctr"/>
          <a:lstStyle/>
          <a:p>
            <a:pPr algn="l">
              <a:spcAft>
                <a:spcPts val="0"/>
              </a:spcAft>
            </a:pPr>
            <a:r>
              <a:rPr sz="14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¿En qué evento y fecha?</a:t>
            </a:r>
          </a:p>
          <a:p>
            <a:pPr algn="l">
              <a:spcAft>
                <a:spcPts val="0"/>
              </a:spcAft>
            </a:pP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Fechas reales, no las de la comisión.</a:t>
            </a:r>
          </a:p>
        </p:txBody>
      </p:sp>
      <p:sp>
        <p:nvSpPr>
          <p:cNvPr id="12" name="Oval 11"/>
          <p:cNvSpPr/>
          <p:nvPr/>
        </p:nvSpPr>
        <p:spPr>
          <a:xfrm>
            <a:off x="4251960" y="3931920"/>
            <a:ext cx="548640" cy="54864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10328" y="3657600"/>
            <a:ext cx="2651760" cy="1097280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749808" bIns="128016" rtlCol="0" anchor="ctr"/>
          <a:lstStyle/>
          <a:p>
            <a:pPr algn="l">
              <a:spcAft>
                <a:spcPts val="0"/>
              </a:spcAft>
            </a:pPr>
            <a:r>
              <a:rPr sz="14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¿Bajo qué supervisión?</a:t>
            </a:r>
          </a:p>
          <a:p>
            <a:pPr algn="l">
              <a:spcAft>
                <a:spcPts val="0"/>
              </a:spcAft>
            </a:pP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La instrucción o supervisión recibida.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0" y="3931920"/>
            <a:ext cx="548640" cy="54864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30768" y="3657600"/>
            <a:ext cx="2651760" cy="1097280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749808" bIns="128016" rtlCol="0" anchor="ctr"/>
          <a:lstStyle/>
          <a:p>
            <a:pPr algn="l">
              <a:spcAft>
                <a:spcPts val="0"/>
              </a:spcAft>
            </a:pPr>
            <a:r>
              <a:rPr sz="14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¿Con qué resultado?</a:t>
            </a:r>
          </a:p>
          <a:p>
            <a:pPr algn="l">
              <a:spcAft>
                <a:spcPts val="0"/>
              </a:spcAft>
            </a:pP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Satisfactorio, pendiente o no satisfactorio.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5074920"/>
            <a:ext cx="10104120" cy="7315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4E2DA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Copiar un documento, cambiarle el nombre o cargarlo en otro apartado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no lo convierte en evidencia de otro evento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074920"/>
            <a:ext cx="731520" cy="73152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355080"/>
            <a:ext cx="9052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 4.2.4 e), g) y h).</a:t>
            </a:r>
          </a:p>
        </p:txBody>
      </p:sp>
      <p:pic>
        <p:nvPicPr>
          <p:cNvPr id="79" name="Picture 78" descr="ev_qui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2642616"/>
            <a:ext cx="566928" cy="566928"/>
          </a:xfrm>
          <a:prstGeom prst="rect">
            <a:avLst/>
          </a:prstGeom>
        </p:spPr>
      </p:pic>
      <p:pic>
        <p:nvPicPr>
          <p:cNvPr id="80" name="Picture 79" descr="ev_q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2642616"/>
            <a:ext cx="566928" cy="566928"/>
          </a:xfrm>
          <a:prstGeom prst="rect">
            <a:avLst/>
          </a:prstGeom>
        </p:spPr>
      </p:pic>
      <p:pic>
        <p:nvPicPr>
          <p:cNvPr id="81" name="Picture 80" descr="ev_tare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5872" y="2642616"/>
            <a:ext cx="566928" cy="566928"/>
          </a:xfrm>
          <a:prstGeom prst="rect">
            <a:avLst/>
          </a:prstGeom>
        </p:spPr>
      </p:pic>
      <p:pic>
        <p:nvPicPr>
          <p:cNvPr id="82" name="Picture 81" descr="ev_fech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992" y="3922776"/>
            <a:ext cx="566928" cy="566928"/>
          </a:xfrm>
          <a:prstGeom prst="rect">
            <a:avLst/>
          </a:prstGeom>
        </p:spPr>
      </p:pic>
      <p:pic>
        <p:nvPicPr>
          <p:cNvPr id="83" name="Picture 82" descr="ev_sup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5432" y="3922776"/>
            <a:ext cx="566928" cy="566928"/>
          </a:xfrm>
          <a:prstGeom prst="rect">
            <a:avLst/>
          </a:prstGeom>
        </p:spPr>
      </p:pic>
      <p:pic>
        <p:nvPicPr>
          <p:cNvPr id="84" name="Picture 83" descr="ev_resul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05872" y="3922776"/>
            <a:ext cx="566928" cy="56692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45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12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45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979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446"/>
                            </p:stCondLst>
                            <p:childTnLst>
                              <p:par>
                                <p:cTn id="2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5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913"/>
                            </p:stCondLst>
                            <p:childTnLst>
                              <p:par>
                                <p:cTn id="3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380"/>
                            </p:stCondLst>
                            <p:childTnLst>
                              <p:par>
                                <p:cTn id="4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4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847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314"/>
                            </p:stCondLst>
                            <p:childTnLst>
                              <p:par>
                                <p:cTn id="5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45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781"/>
                            </p:stCondLst>
                            <p:childTnLst>
                              <p:par>
                                <p:cTn id="6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248"/>
                            </p:stCondLst>
                            <p:childTnLst>
                              <p:par>
                                <p:cTn id="7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45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715"/>
                            </p:stCondLst>
                            <p:childTnLst>
                              <p:par>
                                <p:cTn id="7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6182"/>
                            </p:stCondLst>
                            <p:childTnLst>
                              <p:par>
                                <p:cTn id="8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45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6879"/>
                            </p:stCondLst>
                            <p:childTnLst>
                              <p:par>
                                <p:cTn id="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7491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1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2.2 NIVELES DE ENTRENAMIENTO OJT: NIVEL 1, NIVEL 2 Y NIVEL 3, Y CONVALIDACIÓN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Lo que por sí solo no acredita un nivel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4241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Estos elementos forman parte del proceso, pero </a:t>
            </a:r>
            <a:r>
              <a:rPr sz="18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ninguno demuestra por sí solo</a:t>
            </a: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que realizaste la tarea: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77440"/>
            <a:ext cx="548640" cy="731520"/>
          </a:xfrm>
          <a:prstGeom prst="roundRect">
            <a:avLst>
              <a:gd name="adj" fmla="val 15000"/>
            </a:avLst>
          </a:prstGeom>
          <a:solidFill>
            <a:srgbClr val="A3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0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53312" y="237744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F8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640080" bIns="137160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SemiBold"/>
                <a:ea typeface="Montserrat SemiBold"/>
                <a:cs typeface="Montserrat SemiBold"/>
              </a:rPr>
              <a:t>La programación del evento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2377440"/>
            <a:ext cx="548640" cy="731520"/>
          </a:xfrm>
          <a:prstGeom prst="roundRect">
            <a:avLst>
              <a:gd name="adj" fmla="val 15000"/>
            </a:avLst>
          </a:prstGeom>
          <a:solidFill>
            <a:srgbClr val="A3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0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73752" y="237744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F8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640080" bIns="137160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SemiBold"/>
                <a:ea typeface="Montserrat SemiBold"/>
                <a:cs typeface="Montserrat SemiBold"/>
              </a:rPr>
              <a:t>Tu asistencia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2377440"/>
            <a:ext cx="548640" cy="731520"/>
          </a:xfrm>
          <a:prstGeom prst="roundRect">
            <a:avLst>
              <a:gd name="adj" fmla="val 15000"/>
            </a:avLst>
          </a:prstGeom>
          <a:solidFill>
            <a:srgbClr val="A3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0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94192" y="237744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F8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640080" bIns="137160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SemiBold"/>
                <a:ea typeface="Montserrat SemiBold"/>
                <a:cs typeface="Montserrat SemiBold"/>
              </a:rPr>
              <a:t>El tiempo transcurrido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37560"/>
            <a:ext cx="548640" cy="731520"/>
          </a:xfrm>
          <a:prstGeom prst="roundRect">
            <a:avLst>
              <a:gd name="adj" fmla="val 15000"/>
            </a:avLst>
          </a:prstGeom>
          <a:solidFill>
            <a:srgbClr val="A3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0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53312" y="333756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F8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640080" bIns="137160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SemiBold"/>
                <a:ea typeface="Montserrat SemiBold"/>
                <a:cs typeface="Montserrat SemiBold"/>
              </a:rPr>
              <a:t>Un oficio de comisión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3337560"/>
            <a:ext cx="548640" cy="731520"/>
          </a:xfrm>
          <a:prstGeom prst="roundRect">
            <a:avLst>
              <a:gd name="adj" fmla="val 15000"/>
            </a:avLst>
          </a:prstGeom>
          <a:solidFill>
            <a:srgbClr val="A3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0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73752" y="333756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F8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640080" bIns="137160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SemiBold"/>
                <a:ea typeface="Montserrat SemiBold"/>
                <a:cs typeface="Montserrat SemiBold"/>
              </a:rPr>
              <a:t>Una constancia de curso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3337560"/>
            <a:ext cx="548640" cy="731520"/>
          </a:xfrm>
          <a:prstGeom prst="roundRect">
            <a:avLst>
              <a:gd name="adj" fmla="val 15000"/>
            </a:avLst>
          </a:prstGeom>
          <a:solidFill>
            <a:srgbClr val="A3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0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94192" y="333756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F8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640080" bIns="137160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SemiBold"/>
                <a:ea typeface="Montserrat SemiBold"/>
                <a:cs typeface="Montserrat SemiBold"/>
              </a:rPr>
              <a:t>Cargar documentos al Módulo OJT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434840"/>
            <a:ext cx="548640" cy="914400"/>
          </a:xfrm>
          <a:prstGeom prst="roundRect">
            <a:avLst>
              <a:gd name="adj" fmla="val 15000"/>
            </a:avLst>
          </a:prstGeom>
          <a:solidFill>
            <a:srgbClr val="2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2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53312" y="4434840"/>
            <a:ext cx="9802368" cy="914400"/>
          </a:xfrm>
          <a:prstGeom prst="roundRect">
            <a:avLst>
              <a:gd name="adj" fmla="val 10000"/>
            </a:avLst>
          </a:prstGeom>
          <a:solidFill>
            <a:srgbClr val="EA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l">
              <a:spcAft>
                <a:spcPts val="0"/>
              </a:spcAft>
            </a:pPr>
            <a:r>
              <a:rPr sz="16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Lo que sí acredita el nivel:</a:t>
            </a: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la </a:t>
            </a:r>
            <a:r>
              <a:rPr sz="16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evaluación satisfactoria</a:t>
            </a: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 tu instructor, con </a:t>
            </a:r>
            <a:r>
              <a:rPr sz="16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evidencia propia</a:t>
            </a: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del evento y registrada en tu formato y bitácora.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355080"/>
            <a:ext cx="9052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numerales 4.2.4 g), 4.2.5 y 4.11.2.</a:t>
            </a:r>
          </a:p>
        </p:txBody>
      </p:sp>
      <p:pic>
        <p:nvPicPr>
          <p:cNvPr id="81" name="Picture 80" descr="na_pr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3864" y="2505456"/>
            <a:ext cx="475488" cy="475488"/>
          </a:xfrm>
          <a:prstGeom prst="rect">
            <a:avLst/>
          </a:prstGeom>
        </p:spPr>
      </p:pic>
      <p:pic>
        <p:nvPicPr>
          <p:cNvPr id="82" name="Picture 81" descr="na_as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4304" y="2505456"/>
            <a:ext cx="475488" cy="475488"/>
          </a:xfrm>
          <a:prstGeom prst="rect">
            <a:avLst/>
          </a:prstGeom>
        </p:spPr>
      </p:pic>
      <p:pic>
        <p:nvPicPr>
          <p:cNvPr id="83" name="Picture 82" descr="na_tiemp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4744" y="2505456"/>
            <a:ext cx="475488" cy="475488"/>
          </a:xfrm>
          <a:prstGeom prst="rect">
            <a:avLst/>
          </a:prstGeom>
        </p:spPr>
      </p:pic>
      <p:pic>
        <p:nvPicPr>
          <p:cNvPr id="84" name="Picture 83" descr="na_ofici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3465576"/>
            <a:ext cx="475488" cy="475488"/>
          </a:xfrm>
          <a:prstGeom prst="rect">
            <a:avLst/>
          </a:prstGeom>
        </p:spPr>
      </p:pic>
      <p:pic>
        <p:nvPicPr>
          <p:cNvPr id="85" name="Picture 84" descr="na_con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4304" y="3465576"/>
            <a:ext cx="475488" cy="475488"/>
          </a:xfrm>
          <a:prstGeom prst="rect">
            <a:avLst/>
          </a:prstGeom>
        </p:spPr>
      </p:pic>
      <p:pic>
        <p:nvPicPr>
          <p:cNvPr id="86" name="Picture 85" descr="na_nub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24744" y="3465576"/>
            <a:ext cx="475488" cy="47548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45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12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4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979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446"/>
                            </p:stCondLst>
                            <p:childTnLst>
                              <p:par>
                                <p:cTn id="2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5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913"/>
                            </p:stCondLst>
                            <p:childTnLst>
                              <p:par>
                                <p:cTn id="3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380"/>
                            </p:stCondLst>
                            <p:childTnLst>
                              <p:par>
                                <p:cTn id="4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45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847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314"/>
                            </p:stCondLst>
                            <p:childTnLst>
                              <p:par>
                                <p:cTn id="5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45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781"/>
                            </p:stCondLst>
                            <p:childTnLst>
                              <p:par>
                                <p:cTn id="6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248"/>
                            </p:stCondLst>
                            <p:childTnLst>
                              <p:par>
                                <p:cTn id="7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4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715"/>
                            </p:stCondLst>
                            <p:childTnLst>
                              <p:par>
                                <p:cTn id="7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6182"/>
                            </p:stCondLst>
                            <p:childTnLst>
                              <p:par>
                                <p:cTn id="8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45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6649"/>
                            </p:stCondLst>
                            <p:childTnLst>
                              <p:par>
                                <p:cTn id="9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7146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7621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87CBE-6D2C-2DD5-5056-027F1D19E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94644-5294-7A64-CA13-311481901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1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2.2 NIVELES DE ENTRENAMIENTO OJT: NIVEL 1, NIVEL 2 Y NIVEL 3, Y CONVALIDACIÓN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Situaciones especiales durante el evento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81B647-CAA1-4B7E-220A-C511EEB3E5CE}"/>
              </a:ext>
            </a:extLst>
          </p:cNvPr>
          <p:cNvSpPr txBox="1"/>
          <p:nvPr/>
        </p:nvSpPr>
        <p:spPr>
          <a:xfrm>
            <a:off x="731520" y="1600200"/>
            <a:ext cx="104241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Durante el entrenamiento pueden presentarse estas situaciones. Así se tratan: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F2454BC-97EF-48A2-33A4-C0E6578505EB}"/>
              </a:ext>
            </a:extLst>
          </p:cNvPr>
          <p:cNvSpPr/>
          <p:nvPr/>
        </p:nvSpPr>
        <p:spPr>
          <a:xfrm>
            <a:off x="731520" y="2471825"/>
            <a:ext cx="5120640" cy="457200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spcAft>
                <a:spcPts val="0"/>
              </a:spcAft>
            </a:pPr>
            <a:r>
              <a:rPr sz="2000" b="0" i="0" u="none" dirty="0" err="1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Prácticas</a:t>
            </a:r>
            <a:r>
              <a:rPr sz="2000" b="0" i="0" u="none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 con </a:t>
            </a:r>
            <a:r>
              <a:rPr sz="2000" b="0" i="0" u="none" dirty="0" err="1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ayuda</a:t>
            </a:r>
            <a:endParaRPr sz="2000" b="0" i="0" u="none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3549A82-99EA-584B-AF4C-68A3F2B7CAF4}"/>
              </a:ext>
            </a:extLst>
          </p:cNvPr>
          <p:cNvSpPr/>
          <p:nvPr/>
        </p:nvSpPr>
        <p:spPr>
          <a:xfrm>
            <a:off x="731520" y="2929025"/>
            <a:ext cx="5120640" cy="3270607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B4F7CE-11B8-9F23-DED2-28EB6394D45C}"/>
              </a:ext>
            </a:extLst>
          </p:cNvPr>
          <p:cNvSpPr txBox="1"/>
          <p:nvPr/>
        </p:nvSpPr>
        <p:spPr>
          <a:xfrm>
            <a:off x="914400" y="3002177"/>
            <a:ext cx="4754880" cy="92333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Son </a:t>
            </a:r>
            <a:r>
              <a:rPr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parte</a:t>
            </a:r>
            <a:r>
              <a:rPr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 </a:t>
            </a:r>
            <a:r>
              <a:rPr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tu</a:t>
            </a:r>
            <a:r>
              <a:rPr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formación</a:t>
            </a:r>
            <a:r>
              <a:rPr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; no se </a:t>
            </a:r>
            <a:r>
              <a:rPr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confunden</a:t>
            </a:r>
            <a:r>
              <a:rPr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con la </a:t>
            </a:r>
            <a:r>
              <a:rPr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evaluación</a:t>
            </a:r>
            <a:r>
              <a:rPr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final del Nivel 3.</a:t>
            </a:r>
          </a:p>
        </p:txBody>
      </p: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C0020DD8-7D70-4608-5CC2-1D8BF918DB09}"/>
              </a:ext>
            </a:extLst>
          </p:cNvPr>
          <p:cNvCxnSpPr/>
          <p:nvPr/>
        </p:nvCxnSpPr>
        <p:spPr>
          <a:xfrm>
            <a:off x="914400" y="4015394"/>
            <a:ext cx="4754880" cy="0"/>
          </a:xfrm>
          <a:prstGeom prst="line">
            <a:avLst/>
          </a:prstGeom>
          <a:ln w="9525">
            <a:solidFill>
              <a:srgbClr val="D9D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4B7FBC5-9DC5-7983-B5A7-D45A13FEFE5A}"/>
              </a:ext>
            </a:extLst>
          </p:cNvPr>
          <p:cNvSpPr txBox="1"/>
          <p:nvPr/>
        </p:nvSpPr>
        <p:spPr>
          <a:xfrm>
            <a:off x="914400" y="4149597"/>
            <a:ext cx="4754880" cy="7386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 dirty="0" err="1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Ejemplo</a:t>
            </a:r>
            <a:r>
              <a:rPr sz="1400" b="0" i="0" u="none" dirty="0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: </a:t>
            </a:r>
            <a:r>
              <a:rPr sz="1400" b="0" i="0" u="none" dirty="0" err="1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en</a:t>
            </a:r>
            <a:r>
              <a:rPr sz="1400" b="0" i="0" u="none" dirty="0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400" b="0" i="0" u="none" dirty="0" err="1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tus</a:t>
            </a:r>
            <a:r>
              <a:rPr sz="1400" b="0" i="0" u="none" dirty="0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400" b="0" i="0" u="none" dirty="0" err="1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primeras</a:t>
            </a:r>
            <a:r>
              <a:rPr sz="1400" b="0" i="0" u="none" dirty="0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400" b="0" i="0" u="none" dirty="0" err="1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inspecciones</a:t>
            </a:r>
            <a:r>
              <a:rPr sz="1400" b="0" i="0" u="none" dirty="0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 de rampa el instructor </a:t>
            </a:r>
            <a:r>
              <a:rPr sz="1400" b="0" i="0" u="none" dirty="0" err="1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te</a:t>
            </a:r>
            <a:r>
              <a:rPr sz="1400" b="0" i="0" u="none" dirty="0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400" b="0" i="0" u="none" dirty="0" err="1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guía</a:t>
            </a:r>
            <a:r>
              <a:rPr sz="1400" b="0" i="0" u="none" dirty="0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 paso a paso; la </a:t>
            </a:r>
            <a:r>
              <a:rPr sz="1400" b="0" i="0" u="none" dirty="0" err="1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evaluación</a:t>
            </a:r>
            <a:r>
              <a:rPr lang="es-MX" sz="1400" b="0" i="0" u="none" dirty="0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 del Nivel 3</a:t>
            </a:r>
            <a:r>
              <a:rPr sz="1400" b="0" i="0" u="none" dirty="0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 es </a:t>
            </a:r>
            <a:r>
              <a:rPr sz="1400" b="0" i="0" u="none" dirty="0" err="1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cuando</a:t>
            </a:r>
            <a:r>
              <a:rPr sz="1400" b="0" i="0" u="none" dirty="0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 la </a:t>
            </a:r>
            <a:r>
              <a:rPr sz="1400" b="0" i="0" u="none" dirty="0" err="1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realizas</a:t>
            </a:r>
            <a:r>
              <a:rPr sz="1400" b="0" i="0" u="none" dirty="0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400" b="0" i="0" u="none" dirty="0" err="1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por</a:t>
            </a:r>
            <a:r>
              <a:rPr sz="1400" b="0" i="0" u="none" dirty="0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400" b="0" i="0" u="none" dirty="0" err="1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tu</a:t>
            </a:r>
            <a:r>
              <a:rPr sz="1400" b="0" i="0" u="none" dirty="0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400" b="0" i="0" u="none" dirty="0" err="1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cuenta</a:t>
            </a:r>
            <a:r>
              <a:rPr sz="1400" b="0" i="0" u="none" dirty="0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0FE1B72-D56F-C676-303D-5485D1ADF1C8}"/>
              </a:ext>
            </a:extLst>
          </p:cNvPr>
          <p:cNvSpPr/>
          <p:nvPr/>
        </p:nvSpPr>
        <p:spPr>
          <a:xfrm>
            <a:off x="6035040" y="2471825"/>
            <a:ext cx="5120640" cy="704088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spcAft>
                <a:spcPts val="0"/>
              </a:spcAft>
            </a:pPr>
            <a:r>
              <a:rPr sz="2000" b="0" i="0" u="none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El instructor </a:t>
            </a:r>
            <a:r>
              <a:rPr sz="2000" b="0" i="0" u="none" dirty="0" err="1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interviene</a:t>
            </a:r>
            <a:r>
              <a:rPr sz="2000" b="0" i="0" u="none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 </a:t>
            </a:r>
            <a:r>
              <a:rPr sz="2000" b="0" i="0" u="none" dirty="0" err="1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en</a:t>
            </a:r>
            <a:r>
              <a:rPr sz="2000" b="0" i="0" u="none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 la </a:t>
            </a:r>
            <a:r>
              <a:rPr sz="2000" b="0" i="0" u="none" dirty="0" err="1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evaluación</a:t>
            </a:r>
            <a:r>
              <a:rPr lang="es-MX" sz="2000" b="0" i="0" u="none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 del Nivel 3</a:t>
            </a:r>
            <a:endParaRPr sz="2000" b="0" i="0" u="none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0BDC4D7-B289-0CED-D271-B98817486032}"/>
              </a:ext>
            </a:extLst>
          </p:cNvPr>
          <p:cNvSpPr/>
          <p:nvPr/>
        </p:nvSpPr>
        <p:spPr>
          <a:xfrm>
            <a:off x="6035040" y="3175913"/>
            <a:ext cx="5120640" cy="3023719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00D8C6-9504-9C7D-AF08-5EDB17DD9452}"/>
              </a:ext>
            </a:extLst>
          </p:cNvPr>
          <p:cNvSpPr txBox="1"/>
          <p:nvPr/>
        </p:nvSpPr>
        <p:spPr>
          <a:xfrm>
            <a:off x="6217920" y="3208653"/>
            <a:ext cx="4754880" cy="92333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Si </a:t>
            </a:r>
            <a:r>
              <a:rPr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resuelve</a:t>
            </a:r>
            <a:r>
              <a:rPr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una</a:t>
            </a:r>
            <a:r>
              <a:rPr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decisión</a:t>
            </a:r>
            <a:r>
              <a:rPr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sustantiva</a:t>
            </a:r>
            <a:r>
              <a:rPr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o </a:t>
            </a:r>
            <a:r>
              <a:rPr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ejecuta</a:t>
            </a:r>
            <a:r>
              <a:rPr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una</a:t>
            </a:r>
            <a:r>
              <a:rPr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parte</a:t>
            </a:r>
            <a:r>
              <a:rPr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que</a:t>
            </a:r>
            <a:r>
              <a:rPr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te</a:t>
            </a:r>
            <a:r>
              <a:rPr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correspondía</a:t>
            </a:r>
            <a:r>
              <a:rPr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lo </a:t>
            </a:r>
            <a:r>
              <a:rPr b="1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documenta</a:t>
            </a:r>
            <a:r>
              <a:rPr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</a:t>
            </a:r>
            <a:r>
              <a:rPr lang="es-MX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el Nivel</a:t>
            </a:r>
            <a:r>
              <a:rPr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lang="es-MX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3 </a:t>
            </a:r>
            <a:r>
              <a:rPr b="1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no se </a:t>
            </a:r>
            <a:r>
              <a:rPr b="1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acredita</a:t>
            </a:r>
            <a:r>
              <a:rPr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38455E23-DFC6-E9FB-5EF8-DF1FEA8DE5A4}"/>
              </a:ext>
            </a:extLst>
          </p:cNvPr>
          <p:cNvCxnSpPr/>
          <p:nvPr/>
        </p:nvCxnSpPr>
        <p:spPr>
          <a:xfrm>
            <a:off x="6217920" y="4221863"/>
            <a:ext cx="4754880" cy="0"/>
          </a:xfrm>
          <a:prstGeom prst="line">
            <a:avLst/>
          </a:prstGeom>
          <a:ln w="9525">
            <a:solidFill>
              <a:srgbClr val="D9D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11ED62C-E73C-9A89-07E1-F818629C0826}"/>
              </a:ext>
            </a:extLst>
          </p:cNvPr>
          <p:cNvSpPr txBox="1"/>
          <p:nvPr/>
        </p:nvSpPr>
        <p:spPr>
          <a:xfrm>
            <a:off x="6217920" y="4311833"/>
            <a:ext cx="4754880" cy="7386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dirty="0" err="1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Ejemplo</a:t>
            </a:r>
            <a:r>
              <a:rPr sz="1400" dirty="0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: no </a:t>
            </a:r>
            <a:r>
              <a:rPr sz="1400" dirty="0" err="1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identificas</a:t>
            </a:r>
            <a:r>
              <a:rPr sz="1400" dirty="0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400" dirty="0" err="1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si</a:t>
            </a:r>
            <a:r>
              <a:rPr sz="1400" dirty="0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400" dirty="0" err="1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una</a:t>
            </a:r>
            <a:r>
              <a:rPr sz="1400" dirty="0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400" dirty="0" err="1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discrepancia</a:t>
            </a:r>
            <a:r>
              <a:rPr sz="1400" dirty="0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400" dirty="0" err="1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amerita</a:t>
            </a:r>
            <a:r>
              <a:rPr sz="1400" dirty="0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400" dirty="0" err="1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observación</a:t>
            </a:r>
            <a:r>
              <a:rPr sz="1400" dirty="0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 y el instructor lo </a:t>
            </a:r>
            <a:r>
              <a:rPr sz="1400" dirty="0" err="1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determina</a:t>
            </a:r>
            <a:r>
              <a:rPr sz="1400" dirty="0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; </a:t>
            </a:r>
            <a:r>
              <a:rPr sz="1400" dirty="0" err="1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esa</a:t>
            </a:r>
            <a:r>
              <a:rPr sz="1400" dirty="0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400" dirty="0" err="1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parte</a:t>
            </a:r>
            <a:r>
              <a:rPr sz="1400" dirty="0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400" dirty="0" err="1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queda</a:t>
            </a:r>
            <a:r>
              <a:rPr sz="1400" dirty="0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400" dirty="0" err="1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pendiente</a:t>
            </a:r>
            <a:r>
              <a:rPr sz="1400" dirty="0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EB8CC92-8ADD-635D-54A1-3B41E0F4DE3B}"/>
              </a:ext>
            </a:extLst>
          </p:cNvPr>
          <p:cNvSpPr txBox="1"/>
          <p:nvPr/>
        </p:nvSpPr>
        <p:spPr>
          <a:xfrm>
            <a:off x="731520" y="6355080"/>
            <a:ext cx="9052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numerales 4.2.3 y 4.2.5.</a:t>
            </a:r>
          </a:p>
        </p:txBody>
      </p:sp>
      <p:pic>
        <p:nvPicPr>
          <p:cNvPr id="54" name="Picture 53" descr="sc_ayu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869" y="5230368"/>
            <a:ext cx="2443942" cy="896112"/>
          </a:xfrm>
          <a:prstGeom prst="rect">
            <a:avLst/>
          </a:prstGeom>
        </p:spPr>
      </p:pic>
      <p:pic>
        <p:nvPicPr>
          <p:cNvPr id="55" name="Picture 54" descr="sc_inter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3389" y="5230368"/>
            <a:ext cx="2443942" cy="89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07616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45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4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12"/>
                            </p:stCondLst>
                            <p:childTnLst>
                              <p:par>
                                <p:cTn id="3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4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859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124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489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8" grpId="0" animBg="1"/>
      <p:bldP spid="9" grpId="0" animBg="1"/>
      <p:bldP spid="11" grpId="0" animBg="1"/>
      <p:bldP spid="13" grpId="0" animBg="1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1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2.2 NIVELES DE ENTRENAMIENTO OJT: NIVEL 1, NIVEL 2 Y NIVEL 3, Y CONVALIDACIÓN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Situaciones especiales durante el evento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611938"/>
            <a:ext cx="5120640" cy="457200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spcAft>
                <a:spcPts val="0"/>
              </a:spcAft>
            </a:pPr>
            <a:r>
              <a:rPr sz="2000" b="0" i="0" u="none" dirty="0" err="1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Interrupción</a:t>
            </a:r>
            <a:r>
              <a:rPr sz="2000" b="0" i="0" u="none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 externa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69138"/>
            <a:ext cx="5120640" cy="3130494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142290"/>
            <a:ext cx="4754880" cy="92333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Queda </a:t>
            </a:r>
            <a:r>
              <a:rPr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pendiente</a:t>
            </a:r>
            <a:r>
              <a:rPr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 de </a:t>
            </a:r>
            <a:r>
              <a:rPr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conclusión</a:t>
            </a:r>
            <a:r>
              <a:rPr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con </a:t>
            </a:r>
            <a:r>
              <a:rPr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su</a:t>
            </a:r>
            <a:r>
              <a:rPr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causa; no se </a:t>
            </a:r>
            <a:r>
              <a:rPr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califica</a:t>
            </a:r>
            <a:r>
              <a:rPr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como</a:t>
            </a:r>
            <a:r>
              <a:rPr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falta</a:t>
            </a:r>
            <a:r>
              <a:rPr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 </a:t>
            </a:r>
            <a:r>
              <a:rPr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competencia</a:t>
            </a:r>
            <a:r>
              <a:rPr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4400" y="4273488"/>
            <a:ext cx="4754880" cy="0"/>
          </a:xfrm>
          <a:prstGeom prst="line">
            <a:avLst/>
          </a:prstGeom>
          <a:ln w="9525">
            <a:solidFill>
              <a:srgbClr val="D9D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14400" y="4445536"/>
            <a:ext cx="4754880" cy="7386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dirty="0" err="1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Ejemplo</a:t>
            </a:r>
            <a:r>
              <a:rPr sz="1400" dirty="0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: se </a:t>
            </a:r>
            <a:r>
              <a:rPr sz="1400" dirty="0" err="1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cancela</a:t>
            </a:r>
            <a:r>
              <a:rPr sz="1400" dirty="0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 el </a:t>
            </a:r>
            <a:r>
              <a:rPr sz="1400" dirty="0" err="1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vuelo</a:t>
            </a:r>
            <a:r>
              <a:rPr sz="1400" dirty="0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400" dirty="0" err="1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que</a:t>
            </a:r>
            <a:r>
              <a:rPr sz="1400" dirty="0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400" dirty="0" err="1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ibas</a:t>
            </a:r>
            <a:r>
              <a:rPr sz="1400" dirty="0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 a </a:t>
            </a:r>
            <a:r>
              <a:rPr sz="1400" dirty="0" err="1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inspeccionar</a:t>
            </a:r>
            <a:r>
              <a:rPr sz="1400" dirty="0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; el </a:t>
            </a:r>
            <a:r>
              <a:rPr sz="1400" dirty="0" err="1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nivel</a:t>
            </a:r>
            <a:r>
              <a:rPr sz="1400" dirty="0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 se </a:t>
            </a:r>
            <a:r>
              <a:rPr sz="1400" dirty="0" err="1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reprograma</a:t>
            </a:r>
            <a:r>
              <a:rPr sz="1400" dirty="0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 sin </a:t>
            </a:r>
            <a:r>
              <a:rPr sz="1400" dirty="0" err="1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afectar</a:t>
            </a:r>
            <a:r>
              <a:rPr sz="1400" dirty="0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400" dirty="0" err="1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tu</a:t>
            </a:r>
            <a:r>
              <a:rPr sz="1400" dirty="0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400" dirty="0" err="1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resultado</a:t>
            </a:r>
            <a:r>
              <a:rPr sz="1400" dirty="0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2611938"/>
            <a:ext cx="5120640" cy="457200"/>
          </a:xfrm>
          <a:prstGeom prst="roundRect">
            <a:avLst>
              <a:gd name="adj" fmla="val 12000"/>
            </a:avLst>
          </a:prstGeom>
          <a:solidFill>
            <a:srgbClr val="A3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spcAft>
                <a:spcPts val="0"/>
              </a:spcAft>
            </a:pPr>
            <a:r>
              <a:rPr sz="2000" b="0" i="0" u="none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Riesgo de </a:t>
            </a:r>
            <a:r>
              <a:rPr sz="2000" b="0" i="0" u="none" dirty="0" err="1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seguridad</a:t>
            </a:r>
            <a:endParaRPr sz="2000" b="0" i="0" u="none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035040" y="3069137"/>
            <a:ext cx="5120640" cy="3130495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0" y="3142290"/>
            <a:ext cx="4754880" cy="92333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El instructor </a:t>
            </a:r>
            <a:r>
              <a:rPr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interviene</a:t>
            </a:r>
            <a:r>
              <a:rPr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 o </a:t>
            </a:r>
            <a:r>
              <a:rPr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suspende</a:t>
            </a:r>
            <a:r>
              <a:rPr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la </a:t>
            </a:r>
            <a:r>
              <a:rPr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actividad</a:t>
            </a:r>
            <a:r>
              <a:rPr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</a:t>
            </a:r>
            <a:r>
              <a:rPr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deja</a:t>
            </a:r>
            <a:r>
              <a:rPr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constancia</a:t>
            </a:r>
            <a:r>
              <a:rPr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 lo </a:t>
            </a:r>
            <a:r>
              <a:rPr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ocurrido</a:t>
            </a:r>
            <a:r>
              <a:rPr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217920" y="4258738"/>
            <a:ext cx="4754880" cy="0"/>
          </a:xfrm>
          <a:prstGeom prst="line">
            <a:avLst/>
          </a:prstGeom>
          <a:ln w="9525">
            <a:solidFill>
              <a:srgbClr val="D9D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217920" y="4414929"/>
            <a:ext cx="4754880" cy="7386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dirty="0" err="1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Ejemplo</a:t>
            </a:r>
            <a:r>
              <a:rPr sz="1400" dirty="0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: hay combustible </a:t>
            </a:r>
            <a:r>
              <a:rPr sz="1400" dirty="0" err="1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derramado</a:t>
            </a:r>
            <a:r>
              <a:rPr sz="1400" dirty="0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400" dirty="0" err="1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en</a:t>
            </a:r>
            <a:r>
              <a:rPr sz="1400" dirty="0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400" dirty="0" err="1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plataforma</a:t>
            </a:r>
            <a:r>
              <a:rPr sz="1400" dirty="0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 y el instructor </a:t>
            </a:r>
            <a:r>
              <a:rPr sz="1400" dirty="0" err="1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detiene</a:t>
            </a:r>
            <a:r>
              <a:rPr sz="1400" dirty="0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 la </a:t>
            </a:r>
            <a:r>
              <a:rPr sz="1400" dirty="0" err="1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inspección</a:t>
            </a:r>
            <a:r>
              <a:rPr sz="1400" dirty="0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 hasta </a:t>
            </a:r>
            <a:r>
              <a:rPr sz="1400" dirty="0" err="1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que</a:t>
            </a:r>
            <a:r>
              <a:rPr sz="1400" dirty="0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 sea </a:t>
            </a:r>
            <a:r>
              <a:rPr sz="1400" dirty="0" err="1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seguro</a:t>
            </a:r>
            <a:r>
              <a:rPr sz="1400" dirty="0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355080"/>
            <a:ext cx="9052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numerales 4.2.3 y 4.2.5.</a:t>
            </a:r>
          </a:p>
        </p:txBody>
      </p:sp>
      <p:pic>
        <p:nvPicPr>
          <p:cNvPr id="50" name="Picture 49" descr="sc_canc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869" y="5230368"/>
            <a:ext cx="2443942" cy="896112"/>
          </a:xfrm>
          <a:prstGeom prst="rect">
            <a:avLst/>
          </a:prstGeom>
        </p:spPr>
      </p:pic>
      <p:pic>
        <p:nvPicPr>
          <p:cNvPr id="51" name="Picture 50" descr="sc_ries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3389" y="5230368"/>
            <a:ext cx="2443942" cy="896112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2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4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987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4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334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99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964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8" grpId="0" animBg="1"/>
      <p:bldP spid="19" grpId="0" animBg="1"/>
      <p:bldP spid="21" grpId="0" animBg="1"/>
      <p:bldP spid="23" grpId="0" animBg="1"/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145BDB81-99C8-B494-6D46-E58474007F07}"/>
              </a:ext>
            </a:extLst>
          </p:cNvPr>
          <p:cNvSpPr/>
          <p:nvPr/>
        </p:nvSpPr>
        <p:spPr>
          <a:xfrm>
            <a:off x="731520" y="182880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Evaluación del nivel</a:t>
            </a:r>
          </a:p>
        </p:txBody>
      </p:sp>
      <p:sp>
        <p:nvSpPr>
          <p:cNvPr id="4" name="Right Arrow 18">
            <a:extLst>
              <a:ext uri="{FF2B5EF4-FFF2-40B4-BE49-F238E27FC236}">
                <a16:creationId xmlns:a16="http://schemas.microsoft.com/office/drawing/2014/main" id="{DC3F7369-1EC3-30A8-32A2-675AA198B31D}"/>
              </a:ext>
            </a:extLst>
          </p:cNvPr>
          <p:cNvSpPr/>
          <p:nvPr/>
        </p:nvSpPr>
        <p:spPr>
          <a:xfrm>
            <a:off x="3200400" y="2103120"/>
            <a:ext cx="411480" cy="365760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iamond 19">
            <a:extLst>
              <a:ext uri="{FF2B5EF4-FFF2-40B4-BE49-F238E27FC236}">
                <a16:creationId xmlns:a16="http://schemas.microsoft.com/office/drawing/2014/main" id="{1D01423A-CBA3-1F27-2A00-DA23D185BFE0}"/>
              </a:ext>
            </a:extLst>
          </p:cNvPr>
          <p:cNvSpPr/>
          <p:nvPr/>
        </p:nvSpPr>
        <p:spPr>
          <a:xfrm>
            <a:off x="3611880" y="1645920"/>
            <a:ext cx="2103120" cy="1280160"/>
          </a:xfrm>
          <a:prstGeom prst="diamond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3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¿Aprueba?</a:t>
            </a:r>
          </a:p>
        </p:txBody>
      </p:sp>
      <p:sp>
        <p:nvSpPr>
          <p:cNvPr id="6" name="Right Arrow 20">
            <a:extLst>
              <a:ext uri="{FF2B5EF4-FFF2-40B4-BE49-F238E27FC236}">
                <a16:creationId xmlns:a16="http://schemas.microsoft.com/office/drawing/2014/main" id="{E0C3B1EB-C76A-3FF1-4E4A-886BE6A9A433}"/>
              </a:ext>
            </a:extLst>
          </p:cNvPr>
          <p:cNvSpPr/>
          <p:nvPr/>
        </p:nvSpPr>
        <p:spPr>
          <a:xfrm>
            <a:off x="5760720" y="2103120"/>
            <a:ext cx="685800" cy="365760"/>
          </a:xfrm>
          <a:prstGeom prst="rightArrow">
            <a:avLst/>
          </a:prstGeom>
          <a:solidFill>
            <a:srgbClr val="2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21">
            <a:extLst>
              <a:ext uri="{FF2B5EF4-FFF2-40B4-BE49-F238E27FC236}">
                <a16:creationId xmlns:a16="http://schemas.microsoft.com/office/drawing/2014/main" id="{A76E0F2B-CC80-8F7E-F059-23FDE94048A7}"/>
              </a:ext>
            </a:extLst>
          </p:cNvPr>
          <p:cNvSpPr txBox="1"/>
          <p:nvPr/>
        </p:nvSpPr>
        <p:spPr>
          <a:xfrm>
            <a:off x="5669280" y="1645920"/>
            <a:ext cx="8686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0" i="0" u="none">
                <a:solidFill>
                  <a:srgbClr val="2F7A4D"/>
                </a:solidFill>
                <a:latin typeface="Montserrat SemiBold"/>
                <a:ea typeface="Montserrat SemiBold"/>
                <a:cs typeface="Montserrat SemiBold"/>
              </a:rPr>
              <a:t>Sí</a:t>
            </a:r>
          </a:p>
        </p:txBody>
      </p:sp>
      <p:sp>
        <p:nvSpPr>
          <p:cNvPr id="8" name="Rounded Rectangle 22">
            <a:extLst>
              <a:ext uri="{FF2B5EF4-FFF2-40B4-BE49-F238E27FC236}">
                <a16:creationId xmlns:a16="http://schemas.microsoft.com/office/drawing/2014/main" id="{1B0DF589-9FC8-6E62-460F-220B73054A9E}"/>
              </a:ext>
            </a:extLst>
          </p:cNvPr>
          <p:cNvSpPr/>
          <p:nvPr/>
        </p:nvSpPr>
        <p:spPr>
          <a:xfrm>
            <a:off x="6583680" y="1828800"/>
            <a:ext cx="4572000" cy="914400"/>
          </a:xfrm>
          <a:prstGeom prst="roundRect">
            <a:avLst>
              <a:gd name="adj" fmla="val 8000"/>
            </a:avLst>
          </a:prstGeom>
          <a:solidFill>
            <a:srgbClr val="2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7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Se registra y el siguiente nivel se programa en fecha posterior</a:t>
            </a:r>
          </a:p>
        </p:txBody>
      </p:sp>
      <p:cxnSp>
        <p:nvCxnSpPr>
          <p:cNvPr id="9" name="Connector 23">
            <a:extLst>
              <a:ext uri="{FF2B5EF4-FFF2-40B4-BE49-F238E27FC236}">
                <a16:creationId xmlns:a16="http://schemas.microsoft.com/office/drawing/2014/main" id="{5E1BD780-CC59-3115-40D2-53E42676CDDD}"/>
              </a:ext>
            </a:extLst>
          </p:cNvPr>
          <p:cNvCxnSpPr/>
          <p:nvPr/>
        </p:nvCxnSpPr>
        <p:spPr>
          <a:xfrm>
            <a:off x="4663440" y="2926080"/>
            <a:ext cx="0" cy="228600"/>
          </a:xfrm>
          <a:prstGeom prst="line">
            <a:avLst/>
          </a:prstGeom>
          <a:ln w="31750">
            <a:solidFill>
              <a:srgbClr val="9A73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24">
            <a:extLst>
              <a:ext uri="{FF2B5EF4-FFF2-40B4-BE49-F238E27FC236}">
                <a16:creationId xmlns:a16="http://schemas.microsoft.com/office/drawing/2014/main" id="{7319B220-C273-8460-6DD8-30399DE5C762}"/>
              </a:ext>
            </a:extLst>
          </p:cNvPr>
          <p:cNvCxnSpPr/>
          <p:nvPr/>
        </p:nvCxnSpPr>
        <p:spPr>
          <a:xfrm flipH="1">
            <a:off x="1920240" y="3154680"/>
            <a:ext cx="2743200" cy="0"/>
          </a:xfrm>
          <a:prstGeom prst="line">
            <a:avLst/>
          </a:prstGeom>
          <a:ln w="31750">
            <a:solidFill>
              <a:srgbClr val="9A73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25">
            <a:extLst>
              <a:ext uri="{FF2B5EF4-FFF2-40B4-BE49-F238E27FC236}">
                <a16:creationId xmlns:a16="http://schemas.microsoft.com/office/drawing/2014/main" id="{CD32AC51-4519-EA9B-E1E1-9FD4C052D094}"/>
              </a:ext>
            </a:extLst>
          </p:cNvPr>
          <p:cNvCxnSpPr/>
          <p:nvPr/>
        </p:nvCxnSpPr>
        <p:spPr>
          <a:xfrm>
            <a:off x="1920240" y="3154680"/>
            <a:ext cx="0" cy="338328"/>
          </a:xfrm>
          <a:prstGeom prst="line">
            <a:avLst/>
          </a:prstGeom>
          <a:ln w="31750">
            <a:solidFill>
              <a:srgbClr val="9A732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26">
            <a:extLst>
              <a:ext uri="{FF2B5EF4-FFF2-40B4-BE49-F238E27FC236}">
                <a16:creationId xmlns:a16="http://schemas.microsoft.com/office/drawing/2014/main" id="{DB3E18A9-DC56-B3CB-8673-43846A504804}"/>
              </a:ext>
            </a:extLst>
          </p:cNvPr>
          <p:cNvSpPr txBox="1"/>
          <p:nvPr/>
        </p:nvSpPr>
        <p:spPr>
          <a:xfrm>
            <a:off x="4754880" y="2862072"/>
            <a:ext cx="731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 u="none">
                <a:solidFill>
                  <a:srgbClr val="A3352C"/>
                </a:solidFill>
                <a:latin typeface="Montserrat SemiBold"/>
                <a:ea typeface="Montserrat SemiBold"/>
                <a:cs typeface="Montserrat SemiBold"/>
              </a:rPr>
              <a:t>No</a:t>
            </a:r>
          </a:p>
        </p:txBody>
      </p:sp>
      <p:sp>
        <p:nvSpPr>
          <p:cNvPr id="13" name="Rounded Rectangle 27">
            <a:extLst>
              <a:ext uri="{FF2B5EF4-FFF2-40B4-BE49-F238E27FC236}">
                <a16:creationId xmlns:a16="http://schemas.microsoft.com/office/drawing/2014/main" id="{216988C1-92E2-F0E7-E748-82804429B12B}"/>
              </a:ext>
            </a:extLst>
          </p:cNvPr>
          <p:cNvSpPr/>
          <p:nvPr/>
        </p:nvSpPr>
        <p:spPr>
          <a:xfrm>
            <a:off x="731520" y="352044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6EEDC"/>
          </a:solidFill>
          <a:ln w="15875">
            <a:solidFill>
              <a:srgbClr val="9A73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700" b="0" i="0" u="none">
                <a:solidFill>
                  <a:srgbClr val="0E2A47"/>
                </a:solidFill>
                <a:latin typeface="Montserrat SemiBold"/>
                <a:ea typeface="Montserrat SemiBold"/>
                <a:cs typeface="Montserrat SemiBold"/>
              </a:rPr>
              <a:t>Brechas y retroalimentación</a:t>
            </a:r>
          </a:p>
        </p:txBody>
      </p:sp>
      <p:sp>
        <p:nvSpPr>
          <p:cNvPr id="14" name="Right Arrow 28">
            <a:extLst>
              <a:ext uri="{FF2B5EF4-FFF2-40B4-BE49-F238E27FC236}">
                <a16:creationId xmlns:a16="http://schemas.microsoft.com/office/drawing/2014/main" id="{D54385E2-CB61-55B7-9FAC-8F6EC729CA85}"/>
              </a:ext>
            </a:extLst>
          </p:cNvPr>
          <p:cNvSpPr/>
          <p:nvPr/>
        </p:nvSpPr>
        <p:spPr>
          <a:xfrm>
            <a:off x="3136391" y="3822191"/>
            <a:ext cx="228600" cy="310896"/>
          </a:xfrm>
          <a:prstGeom prst="rightArrow">
            <a:avLst/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29">
            <a:extLst>
              <a:ext uri="{FF2B5EF4-FFF2-40B4-BE49-F238E27FC236}">
                <a16:creationId xmlns:a16="http://schemas.microsoft.com/office/drawing/2014/main" id="{500DB928-6337-D194-9AC9-B83778A68B79}"/>
              </a:ext>
            </a:extLst>
          </p:cNvPr>
          <p:cNvSpPr/>
          <p:nvPr/>
        </p:nvSpPr>
        <p:spPr>
          <a:xfrm>
            <a:off x="3383280" y="352044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6EEDC"/>
          </a:solidFill>
          <a:ln w="15875">
            <a:solidFill>
              <a:srgbClr val="9A73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700" b="0" i="0" u="none">
                <a:solidFill>
                  <a:srgbClr val="0E2A47"/>
                </a:solidFill>
                <a:latin typeface="Montserrat SemiBold"/>
                <a:ea typeface="Montserrat SemiBold"/>
                <a:cs typeface="Montserrat SemiBold"/>
              </a:rPr>
              <a:t>Reforzamiento</a:t>
            </a:r>
          </a:p>
        </p:txBody>
      </p:sp>
      <p:sp>
        <p:nvSpPr>
          <p:cNvPr id="16" name="Right Arrow 30">
            <a:extLst>
              <a:ext uri="{FF2B5EF4-FFF2-40B4-BE49-F238E27FC236}">
                <a16:creationId xmlns:a16="http://schemas.microsoft.com/office/drawing/2014/main" id="{41327433-7D2D-656A-1005-D08EADC0B242}"/>
              </a:ext>
            </a:extLst>
          </p:cNvPr>
          <p:cNvSpPr/>
          <p:nvPr/>
        </p:nvSpPr>
        <p:spPr>
          <a:xfrm>
            <a:off x="5788152" y="3822191"/>
            <a:ext cx="228600" cy="310896"/>
          </a:xfrm>
          <a:prstGeom prst="rightArrow">
            <a:avLst/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31">
            <a:extLst>
              <a:ext uri="{FF2B5EF4-FFF2-40B4-BE49-F238E27FC236}">
                <a16:creationId xmlns:a16="http://schemas.microsoft.com/office/drawing/2014/main" id="{13B989CE-8EF3-BE57-0493-642D81985DA0}"/>
              </a:ext>
            </a:extLst>
          </p:cNvPr>
          <p:cNvSpPr/>
          <p:nvPr/>
        </p:nvSpPr>
        <p:spPr>
          <a:xfrm>
            <a:off x="6035040" y="352044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6EEDC"/>
          </a:solidFill>
          <a:ln w="15875">
            <a:solidFill>
              <a:srgbClr val="9A73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700" b="0" i="0" u="none">
                <a:solidFill>
                  <a:srgbClr val="0E2A47"/>
                </a:solidFill>
                <a:latin typeface="Montserrat SemiBold"/>
                <a:ea typeface="Montserrat SemiBold"/>
                <a:cs typeface="Montserrat SemiBold"/>
              </a:rPr>
              <a:t>Reprogramación por el ICOJT</a:t>
            </a:r>
          </a:p>
        </p:txBody>
      </p:sp>
      <p:sp>
        <p:nvSpPr>
          <p:cNvPr id="18" name="Right Arrow 32">
            <a:extLst>
              <a:ext uri="{FF2B5EF4-FFF2-40B4-BE49-F238E27FC236}">
                <a16:creationId xmlns:a16="http://schemas.microsoft.com/office/drawing/2014/main" id="{0D3FF324-CB35-688B-7BA7-3114960200C3}"/>
              </a:ext>
            </a:extLst>
          </p:cNvPr>
          <p:cNvSpPr/>
          <p:nvPr/>
        </p:nvSpPr>
        <p:spPr>
          <a:xfrm>
            <a:off x="8439912" y="3822191"/>
            <a:ext cx="228600" cy="310896"/>
          </a:xfrm>
          <a:prstGeom prst="rightArrow">
            <a:avLst/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33">
            <a:extLst>
              <a:ext uri="{FF2B5EF4-FFF2-40B4-BE49-F238E27FC236}">
                <a16:creationId xmlns:a16="http://schemas.microsoft.com/office/drawing/2014/main" id="{F7BFCEE8-6D56-A044-7B16-D86C0F7EB037}"/>
              </a:ext>
            </a:extLst>
          </p:cNvPr>
          <p:cNvSpPr/>
          <p:nvPr/>
        </p:nvSpPr>
        <p:spPr>
          <a:xfrm>
            <a:off x="8686800" y="352044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6EEDC"/>
          </a:solidFill>
          <a:ln w="15875">
            <a:solidFill>
              <a:srgbClr val="9A73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700" b="0" i="0" u="none">
                <a:solidFill>
                  <a:srgbClr val="0E2A47"/>
                </a:solidFill>
                <a:latin typeface="Montserrat SemiBold"/>
                <a:ea typeface="Montserrat SemiBold"/>
                <a:cs typeface="Montserrat SemiBold"/>
              </a:rPr>
              <a:t>Nueva evaluación</a:t>
            </a:r>
          </a:p>
        </p:txBody>
      </p:sp>
      <p:sp>
        <p:nvSpPr>
          <p:cNvPr id="20" name="TextBox 15">
            <a:extLst>
              <a:ext uri="{FF2B5EF4-FFF2-40B4-BE49-F238E27FC236}">
                <a16:creationId xmlns:a16="http://schemas.microsoft.com/office/drawing/2014/main" id="{05EF59B3-4D15-4855-013B-CF38FAA094A2}"/>
              </a:ext>
            </a:extLst>
          </p:cNvPr>
          <p:cNvSpPr txBox="1"/>
          <p:nvPr/>
        </p:nvSpPr>
        <p:spPr>
          <a:xfrm>
            <a:off x="731520" y="4910168"/>
            <a:ext cx="10424160" cy="124517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347472" indent="-347472" algn="l">
              <a:lnSpc>
                <a:spcPct val="100000"/>
              </a:lnSpc>
              <a:spcAft>
                <a:spcPts val="600"/>
              </a:spcAft>
              <a:buClr>
                <a:srgbClr val="B98A2E"/>
              </a:buClr>
              <a:buFont typeface="Arial"/>
              <a:buChar char="•"/>
            </a:pP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Interrupción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externa: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queda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8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pendiente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no es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falta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competencia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  <a:p>
            <a:pPr marL="347472" indent="-347472" algn="l">
              <a:lnSpc>
                <a:spcPct val="100000"/>
              </a:lnSpc>
              <a:spcAft>
                <a:spcPts val="600"/>
              </a:spcAft>
              <a:buClr>
                <a:srgbClr val="B98A2E"/>
              </a:buClr>
              <a:buFont typeface="Arial"/>
              <a:buChar char="•"/>
            </a:pP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Hasta </a:t>
            </a:r>
            <a:r>
              <a:rPr sz="18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2 </a:t>
            </a:r>
            <a:r>
              <a:rPr sz="18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reprogramaciones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adicionales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por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causa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justificada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21" name="TextBox 16">
            <a:extLst>
              <a:ext uri="{FF2B5EF4-FFF2-40B4-BE49-F238E27FC236}">
                <a16:creationId xmlns:a16="http://schemas.microsoft.com/office/drawing/2014/main" id="{4EDEF350-C6FA-82AF-E0F8-A045DF8E7BE7}"/>
              </a:ext>
            </a:extLst>
          </p:cNvPr>
          <p:cNvSpPr txBox="1"/>
          <p:nvPr/>
        </p:nvSpPr>
        <p:spPr>
          <a:xfrm>
            <a:off x="731520" y="5944236"/>
            <a:ext cx="8686800" cy="33204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numerales 3.4.5 g), 3.4.8 y 4.2.5.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998C54F6-B797-D919-A377-F8EB55F15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100" b="0" i="0" u="none" dirty="0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2.2 NIVELES DE ENTRENAMIENTO OJT: NIVEL 1, NIVEL 2 Y NIVEL 3, Y CONVALIDACIÓN</a:t>
            </a:r>
          </a:p>
          <a:p>
            <a:pPr algn="l"/>
            <a:r>
              <a:rPr sz="2800" b="0" i="0" u="none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¿Y </a:t>
            </a:r>
            <a:r>
              <a:rPr sz="2800" b="0" i="0" u="none" dirty="0" err="1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si</a:t>
            </a:r>
            <a:r>
              <a:rPr sz="2800" b="0" i="0" u="none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 el </a:t>
            </a:r>
            <a:r>
              <a:rPr sz="2800" b="0" i="0" u="none" dirty="0" err="1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resultado</a:t>
            </a:r>
            <a:r>
              <a:rPr sz="2800" b="0" i="0" u="none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 no es </a:t>
            </a:r>
            <a:r>
              <a:rPr sz="2800" b="0" i="0" u="none" dirty="0" err="1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satisfactorio</a:t>
            </a:r>
            <a:r>
              <a:rPr sz="2800" b="0" i="0" u="none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1497749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45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87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12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307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749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274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669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139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34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976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371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813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6208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665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7175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77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8" grpId="0" animBg="1"/>
      <p:bldP spid="12" grpId="0" animBg="1"/>
      <p:bldP spid="13" grpId="0" animBg="1"/>
      <p:bldP spid="15" grpId="0" animBg="1"/>
      <p:bldP spid="17" grpId="0" animBg="1"/>
      <p:bldP spid="19" grpId="0" animBg="1"/>
      <p:bldP spid="20" grpId="0" animBg="1"/>
      <p:bldP spid="2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1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2.2 NIVELES DE ENTRENAMIENTO OJT: NIVEL 1, NIVEL 2 Y NIVEL 3, Y CONVALIDACIÓN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Alcance de tu aprobación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4241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Cuando apruebas un nivel, la </a:t>
            </a:r>
            <a:r>
              <a:rPr sz="18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aprobación técnica</a:t>
            </a: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 tu instructor identifica exactamente lo que demostraste: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77440"/>
            <a:ext cx="4937760" cy="502920"/>
          </a:xfrm>
          <a:prstGeom prst="roundRect">
            <a:avLst>
              <a:gd name="adj" fmla="val 12000"/>
            </a:avLst>
          </a:prstGeom>
          <a:solidFill>
            <a:srgbClr val="2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7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Tu aprobación identifica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71800"/>
            <a:ext cx="4937760" cy="566928"/>
          </a:xfrm>
          <a:prstGeom prst="roundRect">
            <a:avLst>
              <a:gd name="adj" fmla="val 12000"/>
            </a:avLst>
          </a:prstGeom>
          <a:solidFill>
            <a:srgbClr val="EA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640080" bIns="182880" rtlCol="0" anchor="ctr"/>
          <a:lstStyle/>
          <a:p>
            <a:pPr algn="l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La </a:t>
            </a:r>
            <a:r>
              <a:rPr sz="16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tarea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30168"/>
            <a:ext cx="4937760" cy="566928"/>
          </a:xfrm>
          <a:prstGeom prst="roundRect">
            <a:avLst>
              <a:gd name="adj" fmla="val 12000"/>
            </a:avLst>
          </a:prstGeom>
          <a:solidFill>
            <a:srgbClr val="EA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640080" bIns="182880" rtlCol="0" anchor="ctr"/>
          <a:lstStyle/>
          <a:p>
            <a:pPr algn="l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El </a:t>
            </a:r>
            <a:r>
              <a:rPr sz="16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nivel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88536"/>
            <a:ext cx="4937760" cy="566928"/>
          </a:xfrm>
          <a:prstGeom prst="roundRect">
            <a:avLst>
              <a:gd name="adj" fmla="val 12000"/>
            </a:avLst>
          </a:prstGeom>
          <a:solidFill>
            <a:srgbClr val="EA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640080" bIns="182880" rtlCol="0" anchor="ctr"/>
          <a:lstStyle/>
          <a:p>
            <a:pPr algn="l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Las </a:t>
            </a:r>
            <a:r>
              <a:rPr sz="16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subtareas</a:t>
            </a: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demostradas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946904"/>
            <a:ext cx="4937760" cy="566928"/>
          </a:xfrm>
          <a:prstGeom prst="roundRect">
            <a:avLst>
              <a:gd name="adj" fmla="val 12000"/>
            </a:avLst>
          </a:prstGeom>
          <a:solidFill>
            <a:srgbClr val="EA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640080" bIns="182880" rtlCol="0" anchor="ctr"/>
          <a:lstStyle/>
          <a:p>
            <a:pPr algn="l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Las </a:t>
            </a:r>
            <a:r>
              <a:rPr sz="16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condiciones</a:t>
            </a: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en que lo hiciste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377440"/>
            <a:ext cx="5120640" cy="502920"/>
          </a:xfrm>
          <a:prstGeom prst="roundRect">
            <a:avLst>
              <a:gd name="adj" fmla="val 12000"/>
            </a:avLst>
          </a:prstGeom>
          <a:solidFill>
            <a:srgbClr val="A3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7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Pero no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2971800"/>
            <a:ext cx="5120640" cy="786384"/>
          </a:xfrm>
          <a:prstGeom prst="roundRect">
            <a:avLst>
              <a:gd name="adj" fmla="val 12000"/>
            </a:avLst>
          </a:prstGeom>
          <a:solidFill>
            <a:srgbClr val="F8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777240" bIns="182880" rtlCol="0" anchor="ctr"/>
          <a:lstStyle/>
          <a:p>
            <a:pPr algn="l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Acredita </a:t>
            </a:r>
            <a:r>
              <a:rPr sz="16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toda tu especialidad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3849624"/>
            <a:ext cx="5120640" cy="786384"/>
          </a:xfrm>
          <a:prstGeom prst="roundRect">
            <a:avLst>
              <a:gd name="adj" fmla="val 12000"/>
            </a:avLst>
          </a:prstGeom>
          <a:solidFill>
            <a:srgbClr val="F8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777240" bIns="182880" rtlCol="0" anchor="ctr"/>
          <a:lstStyle/>
          <a:p>
            <a:pPr algn="l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Te designa como </a:t>
            </a:r>
            <a:r>
              <a:rPr sz="16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instructor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4727448"/>
            <a:ext cx="5120640" cy="786384"/>
          </a:xfrm>
          <a:prstGeom prst="roundRect">
            <a:avLst>
              <a:gd name="adj" fmla="val 12000"/>
            </a:avLst>
          </a:prstGeom>
          <a:solidFill>
            <a:srgbClr val="F8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777240" bIns="182880" rtlCol="0" anchor="ctr"/>
          <a:lstStyle/>
          <a:p>
            <a:pPr algn="l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Te autoriza por sí sola a ejercer funciones de forma </a:t>
            </a:r>
            <a:r>
              <a:rPr sz="16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autónoma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669280"/>
            <a:ext cx="1010412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4E2DA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El desempeño autónomo lo asigna la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autoridad competente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solo dentro del alcance que completaste.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5669280"/>
            <a:ext cx="548640" cy="54864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355080"/>
            <a:ext cx="9052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 4.2.6 y apartado de Definiciones.</a:t>
            </a:r>
          </a:p>
        </p:txBody>
      </p:sp>
      <p:pic>
        <p:nvPicPr>
          <p:cNvPr id="57" name="Picture 56" descr="al_tar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3044952"/>
            <a:ext cx="420624" cy="420624"/>
          </a:xfrm>
          <a:prstGeom prst="rect">
            <a:avLst/>
          </a:prstGeom>
        </p:spPr>
      </p:pic>
      <p:pic>
        <p:nvPicPr>
          <p:cNvPr id="58" name="Picture 57" descr="al_niv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928" y="3703320"/>
            <a:ext cx="420624" cy="420624"/>
          </a:xfrm>
          <a:prstGeom prst="rect">
            <a:avLst/>
          </a:prstGeom>
        </p:spPr>
      </p:pic>
      <p:pic>
        <p:nvPicPr>
          <p:cNvPr id="59" name="Picture 58" descr="al_sub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8928" y="4361688"/>
            <a:ext cx="420624" cy="420624"/>
          </a:xfrm>
          <a:prstGeom prst="rect">
            <a:avLst/>
          </a:prstGeom>
        </p:spPr>
      </p:pic>
      <p:pic>
        <p:nvPicPr>
          <p:cNvPr id="60" name="Picture 59" descr="al_co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8928" y="5020056"/>
            <a:ext cx="420624" cy="420624"/>
          </a:xfrm>
          <a:prstGeom prst="rect">
            <a:avLst/>
          </a:prstGeom>
        </p:spPr>
      </p:pic>
      <p:pic>
        <p:nvPicPr>
          <p:cNvPr id="61" name="Picture 60" descr="al_espe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97312" y="3090672"/>
            <a:ext cx="548640" cy="548640"/>
          </a:xfrm>
          <a:prstGeom prst="rect">
            <a:avLst/>
          </a:prstGeom>
        </p:spPr>
      </p:pic>
      <p:pic>
        <p:nvPicPr>
          <p:cNvPr id="62" name="Picture 61" descr="al_inst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97312" y="3968496"/>
            <a:ext cx="548640" cy="548640"/>
          </a:xfrm>
          <a:prstGeom prst="rect">
            <a:avLst/>
          </a:prstGeom>
        </p:spPr>
      </p:pic>
      <p:pic>
        <p:nvPicPr>
          <p:cNvPr id="63" name="Picture 62" descr="al_aut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97312" y="4846320"/>
            <a:ext cx="548640" cy="54864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45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4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4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4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4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12"/>
                            </p:stCondLst>
                            <p:childTnLst>
                              <p:par>
                                <p:cTn id="4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4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4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209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821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1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2.2 NIVELES DE ENTRENAMIENTO OJT: NIVEL 1, NIVEL 2 Y NIVEL 3, Y CONVALIDACIÓN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Convalidación del entrenamiento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6537960" cy="2327234"/>
          </a:xfrm>
          <a:prstGeom prst="roundRect">
            <a:avLst>
              <a:gd name="adj" fmla="val 6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37160" cy="2172774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755648"/>
            <a:ext cx="6126480" cy="217277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 u="none" dirty="0">
                <a:solidFill>
                  <a:srgbClr val="9A7323"/>
                </a:solidFill>
                <a:latin typeface="Montserrat"/>
                <a:ea typeface="Montserrat"/>
                <a:cs typeface="Montserrat"/>
              </a:rPr>
              <a:t>DEFINICIÓN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b="1" i="0" u="none" dirty="0" err="1">
                <a:solidFill>
                  <a:srgbClr val="0E2A47"/>
                </a:solidFill>
                <a:latin typeface="Montserrat"/>
                <a:ea typeface="Montserrat"/>
                <a:cs typeface="Montserrat"/>
              </a:rPr>
              <a:t>Convalidación</a:t>
            </a:r>
            <a:r>
              <a:rPr b="1" i="0" u="none" dirty="0">
                <a:solidFill>
                  <a:srgbClr val="0E2A47"/>
                </a:solidFill>
                <a:latin typeface="Montserrat"/>
                <a:ea typeface="Montserrat"/>
                <a:cs typeface="Montserrat"/>
              </a:rPr>
              <a:t>: </a:t>
            </a:r>
            <a:r>
              <a:rPr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"/>
                <a:ea typeface="Montserrat"/>
                <a:cs typeface="Montserrat"/>
              </a:rPr>
              <a:t>Reconocimiento</a:t>
            </a:r>
            <a:r>
              <a:rPr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"/>
                <a:ea typeface="Montserrat"/>
                <a:cs typeface="Montserrat"/>
              </a:rPr>
              <a:t> </a:t>
            </a:r>
            <a:r>
              <a:rPr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"/>
                <a:ea typeface="Montserrat"/>
                <a:cs typeface="Montserrat"/>
              </a:rPr>
              <a:t>documentado</a:t>
            </a:r>
            <a:r>
              <a:rPr b="0" i="0" u="none" dirty="0">
                <a:solidFill>
                  <a:srgbClr val="182430"/>
                </a:solidFill>
                <a:latin typeface="Montserrat"/>
                <a:ea typeface="Montserrat"/>
                <a:cs typeface="Montserrat"/>
              </a:rPr>
              <a:t> de </a:t>
            </a:r>
            <a:r>
              <a:rPr b="0" i="0" u="none" dirty="0" err="1">
                <a:solidFill>
                  <a:srgbClr val="182430"/>
                </a:solidFill>
                <a:latin typeface="Montserrat"/>
                <a:ea typeface="Montserrat"/>
                <a:cs typeface="Montserrat"/>
              </a:rPr>
              <a:t>entrenamiento</a:t>
            </a:r>
            <a:r>
              <a:rPr b="0" i="0" u="none" dirty="0">
                <a:solidFill>
                  <a:srgbClr val="182430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b="0" i="0" u="none" dirty="0" err="1">
                <a:solidFill>
                  <a:srgbClr val="182430"/>
                </a:solidFill>
                <a:latin typeface="Montserrat"/>
                <a:ea typeface="Montserrat"/>
                <a:cs typeface="Montserrat"/>
              </a:rPr>
              <a:t>previo</a:t>
            </a:r>
            <a:r>
              <a:rPr b="0" i="0" u="none" dirty="0">
                <a:solidFill>
                  <a:srgbClr val="182430"/>
                </a:solidFill>
                <a:latin typeface="Montserrat"/>
                <a:ea typeface="Montserrat"/>
                <a:cs typeface="Montserrat"/>
              </a:rPr>
              <a:t>, </a:t>
            </a:r>
            <a:r>
              <a:rPr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"/>
                <a:ea typeface="Montserrat"/>
                <a:cs typeface="Montserrat"/>
              </a:rPr>
              <a:t>por</a:t>
            </a:r>
            <a:r>
              <a:rPr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"/>
                <a:ea typeface="Montserrat"/>
                <a:cs typeface="Montserrat"/>
              </a:rPr>
              <a:t> </a:t>
            </a:r>
            <a:r>
              <a:rPr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"/>
                <a:ea typeface="Montserrat"/>
                <a:cs typeface="Montserrat"/>
              </a:rPr>
              <a:t>tarea</a:t>
            </a:r>
            <a:r>
              <a:rPr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"/>
                <a:ea typeface="Montserrat"/>
                <a:cs typeface="Montserrat"/>
              </a:rPr>
              <a:t> y </a:t>
            </a:r>
            <a:r>
              <a:rPr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"/>
                <a:ea typeface="Montserrat"/>
                <a:cs typeface="Montserrat"/>
              </a:rPr>
              <a:t>nivel</a:t>
            </a:r>
            <a:r>
              <a:rPr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"/>
                <a:ea typeface="Montserrat"/>
                <a:cs typeface="Montserrat"/>
              </a:rPr>
              <a:t>,</a:t>
            </a:r>
            <a:r>
              <a:rPr b="0" i="0" u="none" dirty="0">
                <a:solidFill>
                  <a:srgbClr val="182430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b="0" i="0" u="none" dirty="0" err="1">
                <a:solidFill>
                  <a:srgbClr val="182430"/>
                </a:solidFill>
                <a:latin typeface="Montserrat"/>
                <a:ea typeface="Montserrat"/>
                <a:cs typeface="Montserrat"/>
              </a:rPr>
              <a:t>mediante</a:t>
            </a:r>
            <a:r>
              <a:rPr b="0" i="0" u="none" dirty="0">
                <a:solidFill>
                  <a:srgbClr val="182430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b="0" i="0" u="none" dirty="0" err="1">
                <a:solidFill>
                  <a:srgbClr val="182430"/>
                </a:solidFill>
                <a:latin typeface="Montserrat"/>
                <a:ea typeface="Montserrat"/>
                <a:cs typeface="Montserrat"/>
              </a:rPr>
              <a:t>evaluación</a:t>
            </a:r>
            <a:r>
              <a:rPr b="0" i="0" u="none" dirty="0">
                <a:solidFill>
                  <a:srgbClr val="182430"/>
                </a:solidFill>
                <a:latin typeface="Montserrat"/>
                <a:ea typeface="Montserrat"/>
                <a:cs typeface="Montserrat"/>
              </a:rPr>
              <a:t> de </a:t>
            </a:r>
            <a:r>
              <a:rPr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"/>
                <a:ea typeface="Montserrat"/>
                <a:cs typeface="Montserrat"/>
              </a:rPr>
              <a:t>antecedentes</a:t>
            </a:r>
            <a:r>
              <a:rPr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"/>
                <a:ea typeface="Montserrat"/>
                <a:cs typeface="Montserrat"/>
              </a:rPr>
              <a:t> y </a:t>
            </a:r>
            <a:r>
              <a:rPr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"/>
                <a:ea typeface="Montserrat"/>
                <a:cs typeface="Montserrat"/>
              </a:rPr>
              <a:t>evidencias</a:t>
            </a:r>
            <a:r>
              <a:rPr b="0" i="0" u="none" dirty="0">
                <a:solidFill>
                  <a:srgbClr val="182430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b="0" i="0" u="none" dirty="0" err="1">
                <a:solidFill>
                  <a:srgbClr val="182430"/>
                </a:solidFill>
                <a:latin typeface="Montserrat"/>
                <a:ea typeface="Montserrat"/>
                <a:cs typeface="Montserrat"/>
              </a:rPr>
              <a:t>conforme</a:t>
            </a:r>
            <a:r>
              <a:rPr b="0" i="0" u="none" dirty="0">
                <a:solidFill>
                  <a:srgbClr val="182430"/>
                </a:solidFill>
                <a:latin typeface="Montserrat"/>
                <a:ea typeface="Montserrat"/>
                <a:cs typeface="Montserrat"/>
              </a:rPr>
              <a:t> a </a:t>
            </a:r>
            <a:r>
              <a:rPr b="0" i="0" u="none" dirty="0" err="1">
                <a:solidFill>
                  <a:srgbClr val="182430"/>
                </a:solidFill>
                <a:latin typeface="Montserrat"/>
                <a:ea typeface="Montserrat"/>
                <a:cs typeface="Montserrat"/>
              </a:rPr>
              <a:t>los</a:t>
            </a:r>
            <a:r>
              <a:rPr b="0" i="0" u="none" dirty="0">
                <a:solidFill>
                  <a:srgbClr val="182430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b="0" i="0" u="none" dirty="0" err="1">
                <a:solidFill>
                  <a:srgbClr val="182430"/>
                </a:solidFill>
                <a:latin typeface="Montserrat"/>
                <a:ea typeface="Montserrat"/>
                <a:cs typeface="Montserrat"/>
              </a:rPr>
              <a:t>numerales</a:t>
            </a:r>
            <a:r>
              <a:rPr b="0" i="0" u="none" dirty="0">
                <a:solidFill>
                  <a:srgbClr val="182430"/>
                </a:solidFill>
                <a:latin typeface="Montserrat"/>
                <a:ea typeface="Montserrat"/>
                <a:cs typeface="Montserrat"/>
              </a:rPr>
              <a:t> 4.4 y 4.5. </a:t>
            </a:r>
            <a:r>
              <a:rPr b="0" i="0" u="none" dirty="0" err="1">
                <a:solidFill>
                  <a:srgbClr val="182430"/>
                </a:solidFill>
                <a:latin typeface="Montserrat"/>
                <a:ea typeface="Montserrat"/>
                <a:cs typeface="Montserrat"/>
              </a:rPr>
              <a:t>Conserva</a:t>
            </a:r>
            <a:r>
              <a:rPr b="0" i="0" u="none" dirty="0">
                <a:solidFill>
                  <a:srgbClr val="182430"/>
                </a:solidFill>
                <a:latin typeface="Montserrat"/>
                <a:ea typeface="Montserrat"/>
                <a:cs typeface="Montserrat"/>
              </a:rPr>
              <a:t> las </a:t>
            </a:r>
            <a:r>
              <a:rPr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"/>
                <a:ea typeface="Montserrat"/>
                <a:cs typeface="Montserrat"/>
              </a:rPr>
              <a:t>fechas</a:t>
            </a:r>
            <a:r>
              <a:rPr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"/>
                <a:ea typeface="Montserrat"/>
                <a:cs typeface="Montserrat"/>
              </a:rPr>
              <a:t> reales</a:t>
            </a:r>
            <a:r>
              <a:rPr b="0" i="0" u="none" dirty="0">
                <a:solidFill>
                  <a:srgbClr val="182430"/>
                </a:solidFill>
                <a:latin typeface="Montserrat"/>
                <a:ea typeface="Montserrat"/>
                <a:cs typeface="Montserrat"/>
              </a:rPr>
              <a:t> de </a:t>
            </a:r>
            <a:r>
              <a:rPr b="0" i="0" u="none" dirty="0" err="1">
                <a:solidFill>
                  <a:srgbClr val="182430"/>
                </a:solidFill>
                <a:latin typeface="Montserrat"/>
                <a:ea typeface="Montserrat"/>
                <a:cs typeface="Montserrat"/>
              </a:rPr>
              <a:t>los</a:t>
            </a:r>
            <a:r>
              <a:rPr b="0" i="0" u="none" dirty="0">
                <a:solidFill>
                  <a:srgbClr val="182430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b="0" i="0" u="none" dirty="0" err="1">
                <a:solidFill>
                  <a:srgbClr val="182430"/>
                </a:solidFill>
                <a:latin typeface="Montserrat"/>
                <a:ea typeface="Montserrat"/>
                <a:cs typeface="Montserrat"/>
              </a:rPr>
              <a:t>eventos</a:t>
            </a:r>
            <a:r>
              <a:rPr b="0" i="0" u="none" dirty="0">
                <a:solidFill>
                  <a:srgbClr val="182430"/>
                </a:solidFill>
                <a:latin typeface="Montserrat"/>
                <a:ea typeface="Montserrat"/>
                <a:cs typeface="Montserrat"/>
              </a:rPr>
              <a:t> y </a:t>
            </a:r>
            <a:r>
              <a:rPr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"/>
                <a:ea typeface="Montserrat"/>
                <a:cs typeface="Montserrat"/>
              </a:rPr>
              <a:t>no </a:t>
            </a:r>
            <a:r>
              <a:rPr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"/>
                <a:ea typeface="Montserrat"/>
                <a:cs typeface="Montserrat"/>
              </a:rPr>
              <a:t>sustituye</a:t>
            </a:r>
            <a:r>
              <a:rPr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"/>
                <a:ea typeface="Montserrat"/>
                <a:cs typeface="Montserrat"/>
              </a:rPr>
              <a:t> </a:t>
            </a:r>
            <a:r>
              <a:rPr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"/>
                <a:ea typeface="Montserrat"/>
                <a:cs typeface="Montserrat"/>
              </a:rPr>
              <a:t>actividades</a:t>
            </a:r>
            <a:r>
              <a:rPr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"/>
                <a:ea typeface="Montserrat"/>
                <a:cs typeface="Montserrat"/>
              </a:rPr>
              <a:t> no </a:t>
            </a:r>
            <a:r>
              <a:rPr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"/>
                <a:ea typeface="Montserrat"/>
                <a:cs typeface="Montserrat"/>
              </a:rPr>
              <a:t>demostradas</a:t>
            </a:r>
            <a:r>
              <a:rPr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"/>
                <a:ea typeface="Montserrat"/>
                <a:cs typeface="Montserrat"/>
              </a:rPr>
              <a:t>.</a:t>
            </a:r>
          </a:p>
        </p:txBody>
      </p:sp>
      <p:pic>
        <p:nvPicPr>
          <p:cNvPr id="6" name="Picture 5" descr="conv_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170840"/>
            <a:ext cx="3172968" cy="1986554"/>
          </a:xfrm>
          <a:prstGeom prst="rect">
            <a:avLst/>
          </a:prstGeom>
        </p:spPr>
      </p:pic>
      <p:pic>
        <p:nvPicPr>
          <p:cNvPr id="7" name="Picture 6" descr="conv_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512" y="4170840"/>
            <a:ext cx="3172968" cy="1986554"/>
          </a:xfrm>
          <a:prstGeom prst="rect">
            <a:avLst/>
          </a:prstGeom>
        </p:spPr>
      </p:pic>
      <p:pic>
        <p:nvPicPr>
          <p:cNvPr id="8" name="Picture 7" descr="conv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1645920"/>
            <a:ext cx="3573684" cy="4343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355080"/>
            <a:ext cx="9052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definición de Convalidación; numerales 4.4 y 4.5.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180"/>
                            </p:stCondLst>
                            <p:childTnLst>
                              <p:par>
                                <p:cTn id="1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82"/>
                            </p:stCondLst>
                            <p:childTnLst>
                              <p:par>
                                <p:cTn id="2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384"/>
                            </p:stCondLst>
                            <p:childTnLst>
                              <p:par>
                                <p:cTn id="2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941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1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2.2 NIVELES DE ENTRENAMIENTO OJT: NIVEL 1, NIVEL 2 Y NIVEL 3, Y CONVALIDACIÓN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Entrenamiento previo: convalidación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35161"/>
            <a:ext cx="5029200" cy="581081"/>
          </a:xfrm>
          <a:prstGeom prst="roundRect">
            <a:avLst>
              <a:gd name="adj" fmla="val 10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Modalidad 1: Formato OJT anterior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416242"/>
            <a:ext cx="5029200" cy="1577220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00200" tIns="228600" rIns="228600" bIns="228600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Se examina el entrenamiento ya documentado, con sus firmas y evidencias originales.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835161"/>
            <a:ext cx="5029200" cy="581081"/>
          </a:xfrm>
          <a:prstGeom prst="roundRect">
            <a:avLst>
              <a:gd name="adj" fmla="val 10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Modalidad 2: Evidencia documental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2416242"/>
            <a:ext cx="5029200" cy="1577220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00200" tIns="228600" rIns="228600" bIns="228600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Se examinan actividades previas por tarea, nivel, evento y fecha real.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42497"/>
            <a:ext cx="10424160" cy="12105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347472" indent="-347472">
              <a:spcAft>
                <a:spcPts val="800"/>
              </a:spcAft>
              <a:buClr>
                <a:srgbClr val="B98A2E"/>
              </a:buClr>
              <a:buFont typeface="Arial"/>
              <a:buChar char="•"/>
            </a:pPr>
            <a:r>
              <a:rPr sz="22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La </a:t>
            </a:r>
            <a:r>
              <a:rPr sz="22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antigüedad</a:t>
            </a:r>
            <a:r>
              <a:rPr sz="22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2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por</a:t>
            </a:r>
            <a:r>
              <a:rPr sz="22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2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sí</a:t>
            </a:r>
            <a:r>
              <a:rPr sz="22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sola no </a:t>
            </a:r>
            <a:r>
              <a:rPr sz="22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acredita</a:t>
            </a:r>
            <a:r>
              <a:rPr sz="22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  <a:r>
              <a:rPr lang="es-MX" sz="22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lang="es-MX" sz="2200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Hay que </a:t>
            </a:r>
            <a:r>
              <a:rPr lang="es-MX" sz="2200" b="1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demostrar</a:t>
            </a:r>
            <a:r>
              <a:rPr lang="es-MX" sz="2200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con </a:t>
            </a:r>
            <a:r>
              <a:rPr lang="es-MX" sz="2200" b="1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documentos</a:t>
            </a:r>
            <a:r>
              <a:rPr lang="es-MX" sz="2200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que se ha realizado una tarea.</a:t>
            </a:r>
            <a:endParaRPr sz="2200" b="0" i="0" u="none" dirty="0">
              <a:solidFill>
                <a:srgbClr val="182430"/>
              </a:solidFill>
              <a:latin typeface="Montserrat Medium"/>
              <a:ea typeface="Montserrat Medium"/>
              <a:cs typeface="Montserrat Medium"/>
            </a:endParaRPr>
          </a:p>
          <a:p>
            <a:pPr marL="347472" indent="-347472" algn="l">
              <a:lnSpc>
                <a:spcPct val="100000"/>
              </a:lnSpc>
              <a:spcAft>
                <a:spcPts val="800"/>
              </a:spcAft>
              <a:buClr>
                <a:srgbClr val="B98A2E"/>
              </a:buClr>
              <a:buFont typeface="Arial"/>
              <a:buChar char="•"/>
            </a:pPr>
            <a:r>
              <a:rPr sz="22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Sin </a:t>
            </a:r>
            <a:r>
              <a:rPr sz="22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sustento</a:t>
            </a:r>
            <a:r>
              <a:rPr sz="22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: se </a:t>
            </a:r>
            <a:r>
              <a:rPr sz="22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registra</a:t>
            </a:r>
            <a:r>
              <a:rPr sz="22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la </a:t>
            </a:r>
            <a:r>
              <a:rPr sz="22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brecha</a:t>
            </a:r>
            <a:r>
              <a:rPr sz="22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se </a:t>
            </a:r>
            <a:r>
              <a:rPr sz="22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programa</a:t>
            </a:r>
            <a:r>
              <a:rPr sz="22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el </a:t>
            </a:r>
            <a:r>
              <a:rPr sz="22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entrenamiento</a:t>
            </a:r>
            <a:r>
              <a:rPr sz="22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4236"/>
            <a:ext cx="8686800" cy="33204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numerales 4.4 y 4.5 (P-DCIA-CPEPT-02-R04).</a:t>
            </a:r>
          </a:p>
        </p:txBody>
      </p:sp>
      <p:pic>
        <p:nvPicPr>
          <p:cNvPr id="30" name="Picture 29" descr="ep_forma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656212"/>
            <a:ext cx="1097280" cy="1097280"/>
          </a:xfrm>
          <a:prstGeom prst="rect">
            <a:avLst/>
          </a:prstGeom>
        </p:spPr>
      </p:pic>
      <p:pic>
        <p:nvPicPr>
          <p:cNvPr id="31" name="Picture 30" descr="ep_do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656212"/>
            <a:ext cx="1097280" cy="10972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2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987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484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959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1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2.2 NIVELES DE ENTRENAMIENTO OJT: NIVEL 1, NIVEL 2 Y NIVEL 3, Y CONVALIDACIÓN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Convalidación paso a paso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4241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Si ya realizaste entrenamiento antes del formato vigente, este es el camino para que se reconozca:</a:t>
            </a:r>
          </a:p>
        </p:txBody>
      </p:sp>
      <p:sp>
        <p:nvSpPr>
          <p:cNvPr id="4" name="Oval 3"/>
          <p:cNvSpPr/>
          <p:nvPr/>
        </p:nvSpPr>
        <p:spPr>
          <a:xfrm>
            <a:off x="1444752" y="2286000"/>
            <a:ext cx="457200" cy="45720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3464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IVA 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91840"/>
            <a:ext cx="1828800" cy="1325880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Entrega el formato anterior o la evidencia documental.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87752" y="3566160"/>
            <a:ext cx="219456" cy="310896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547872" y="2286000"/>
            <a:ext cx="457200" cy="45720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39" y="283464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ICOJT / IOJT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39" y="3291840"/>
            <a:ext cx="1828800" cy="1325880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Revisa que cumpla los criterios por tarea y nivel.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690871" y="3566160"/>
            <a:ext cx="219456" cy="310896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650992" y="2286000"/>
            <a:ext cx="457200" cy="45720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59" y="283464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ICOJT / IOJT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59" y="3291840"/>
            <a:ext cx="1828800" cy="1325880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Si procede, lo asienta en el formato vigente con la leyenda «convalidación».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793992" y="3566160"/>
            <a:ext cx="219456" cy="310896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754111" y="2286000"/>
            <a:ext cx="457200" cy="45720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40879" y="283464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Titular del área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40879" y="3291840"/>
            <a:ext cx="1828800" cy="1325880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Rubrica, firma y autoriza el formato convalidado.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897111" y="3566160"/>
            <a:ext cx="219456" cy="310896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857232" y="2286000"/>
            <a:ext cx="457200" cy="45720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283464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IVA AP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3291840"/>
            <a:ext cx="1828800" cy="1325880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Resguarda el original del formato autorizado.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800600"/>
            <a:ext cx="10424160" cy="548640"/>
          </a:xfrm>
          <a:prstGeom prst="roundRect">
            <a:avLst>
              <a:gd name="adj" fmla="val 15000"/>
            </a:avLst>
          </a:prstGeom>
          <a:solidFill>
            <a:srgbClr val="F8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l">
              <a:spcAft>
                <a:spcPts val="0"/>
              </a:spcAft>
            </a:pPr>
            <a:r>
              <a:rPr sz="1400" b="1" i="0" u="none">
                <a:solidFill>
                  <a:srgbClr val="A3352C"/>
                </a:solidFill>
                <a:latin typeface="Montserrat Medium"/>
                <a:ea typeface="Montserrat Medium"/>
                <a:cs typeface="Montserrat Medium"/>
              </a:rPr>
              <a:t>Si no procede:</a:t>
            </a: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se devuelven los documentos y se programa el entrenamiento pendiente (desde el Nivel 1 si no se acredita ninguno).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51560" y="5486400"/>
            <a:ext cx="10104120" cy="56692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4E2DA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La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fecha del dictamen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no sustituye la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fecha real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del entrenamiento: ambas se conservan por separado.</a:t>
            </a:r>
          </a:p>
        </p:txBody>
      </p:sp>
      <p:sp>
        <p:nvSpPr>
          <p:cNvPr id="25" name="Oval 24"/>
          <p:cNvSpPr/>
          <p:nvPr/>
        </p:nvSpPr>
        <p:spPr>
          <a:xfrm>
            <a:off x="731520" y="5486400"/>
            <a:ext cx="566928" cy="566928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355080"/>
            <a:ext cx="9052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numerales 4.4 y 4.5 (P-DCIA-CPEPT-02-R04).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25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422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814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211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603"/>
                            </p:stCondLst>
                            <p:childTnLst>
                              <p:par>
                                <p:cTn id="4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0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392"/>
                            </p:stCondLst>
                            <p:childTnLst>
                              <p:par>
                                <p:cTn id="6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3789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4181"/>
                            </p:stCondLst>
                            <p:childTnLst>
                              <p:par>
                                <p:cTn id="8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2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4678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403"/>
                            </p:stCondLst>
                            <p:childTnLst>
                              <p:par>
                                <p:cTn id="10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6015"/>
                            </p:stCondLst>
                            <p:childTnLst>
                              <p:par>
                                <p:cTn id="1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1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2.2 NIVELES DE ENTRENAMIENTO OJT: NIVEL 1, NIVEL 2 Y NIVEL 3, Y CONVALIDACIÓN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¿Qué evidencia sirve para convalidar?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4241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Por </a:t>
            </a:r>
            <a:r>
              <a:rPr sz="18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cada nivel</a:t>
            </a: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que quieras convalidar necesitas una evidencia </a:t>
            </a:r>
            <a:r>
              <a:rPr sz="18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específica, suficiente y trazable</a:t>
            </a: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del evento.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77440"/>
            <a:ext cx="5120640" cy="502920"/>
          </a:xfrm>
          <a:prstGeom prst="roundRect">
            <a:avLst>
              <a:gd name="adj" fmla="val 12000"/>
            </a:avLst>
          </a:prstGeom>
          <a:solidFill>
            <a:srgbClr val="2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7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Sí sirve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71800"/>
            <a:ext cx="5120640" cy="841248"/>
          </a:xfrm>
          <a:prstGeom prst="roundRect">
            <a:avLst>
              <a:gd name="adj" fmla="val 10000"/>
            </a:avLst>
          </a:prstGeom>
          <a:solidFill>
            <a:srgbClr val="EA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4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Formato OJT anterior completo:</a:t>
            </a: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nombres, firmas, iniciales y fecha por tarea y nivel.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04487"/>
            <a:ext cx="5120640" cy="841248"/>
          </a:xfrm>
          <a:prstGeom prst="roundRect">
            <a:avLst>
              <a:gd name="adj" fmla="val 10000"/>
            </a:avLst>
          </a:prstGeom>
          <a:solidFill>
            <a:srgbClr val="EA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4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Documentos</a:t>
            </a:r>
            <a:r>
              <a:rPr sz="14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 </a:t>
            </a:r>
            <a:r>
              <a:rPr sz="14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oficiales</a:t>
            </a: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4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donde</a:t>
            </a: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4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conste</a:t>
            </a: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4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tu</a:t>
            </a: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4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participación</a:t>
            </a: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: acta de </a:t>
            </a:r>
            <a:r>
              <a:rPr sz="14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verificación</a:t>
            </a: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</a:t>
            </a:r>
            <a:r>
              <a:rPr lang="es-MX"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lista de verificación (</a:t>
            </a:r>
            <a:r>
              <a:rPr lang="es-MX" sz="14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check</a:t>
            </a:r>
            <a:r>
              <a:rPr lang="es-MX"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lang="es-MX" sz="14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list</a:t>
            </a:r>
            <a:r>
              <a:rPr lang="es-MX"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) </a:t>
            </a: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acta </a:t>
            </a:r>
            <a:r>
              <a:rPr sz="14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circunstanciada</a:t>
            </a: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plan de </a:t>
            </a:r>
            <a:r>
              <a:rPr sz="14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vuelo</a:t>
            </a: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entre </a:t>
            </a:r>
            <a:r>
              <a:rPr sz="14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otros</a:t>
            </a:r>
            <a:r>
              <a:rPr sz="14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837176"/>
            <a:ext cx="5120640" cy="841248"/>
          </a:xfrm>
          <a:prstGeom prst="roundRect">
            <a:avLst>
              <a:gd name="adj" fmla="val 10000"/>
            </a:avLst>
          </a:prstGeom>
          <a:solidFill>
            <a:srgbClr val="EA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Con </a:t>
            </a:r>
            <a:r>
              <a:rPr sz="14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fecha, nombre y firma</a:t>
            </a: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del IVA AP y la tarea claramente identificable.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377440"/>
            <a:ext cx="5120640" cy="502920"/>
          </a:xfrm>
          <a:prstGeom prst="roundRect">
            <a:avLst>
              <a:gd name="adj" fmla="val 12000"/>
            </a:avLst>
          </a:prstGeom>
          <a:solidFill>
            <a:srgbClr val="A3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7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Por sí solo no basta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971800"/>
            <a:ext cx="5120640" cy="841248"/>
          </a:xfrm>
          <a:prstGeom prst="roundRect">
            <a:avLst>
              <a:gd name="adj" fmla="val 10000"/>
            </a:avLst>
          </a:prstGeom>
          <a:solidFill>
            <a:srgbClr val="F8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4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Oficio de comisión:</a:t>
            </a: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solo notifica que fuiste comisionado.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3904487"/>
            <a:ext cx="5120640" cy="841248"/>
          </a:xfrm>
          <a:prstGeom prst="roundRect">
            <a:avLst>
              <a:gd name="adj" fmla="val 10000"/>
            </a:avLst>
          </a:prstGeom>
          <a:solidFill>
            <a:srgbClr val="F8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4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Constancia de curso:</a:t>
            </a: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solo acredita la instrucción teórica.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4837176"/>
            <a:ext cx="5120640" cy="841248"/>
          </a:xfrm>
          <a:prstGeom prst="roundRect">
            <a:avLst>
              <a:gd name="adj" fmla="val 10000"/>
            </a:avLst>
          </a:prstGeom>
          <a:solidFill>
            <a:srgbClr val="F8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4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Antigüedad:</a:t>
            </a: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la experiencia debe estar documentada por tarea y nivel.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5806440"/>
            <a:ext cx="10104120" cy="47548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4E2DA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La evidencia de un evento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no sirve para otro nivel ni para otra tarea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5806440"/>
            <a:ext cx="475488" cy="475488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355080"/>
            <a:ext cx="9052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numerales 4.4 y 4.5.7.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45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12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209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821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1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2.3 ESPECIALIDADES TÉCNICAS DEL PERSONAL IVA (24 ESPECIALIDADES)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Especialidades técnicas del IVA (1 de 3)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10643"/>
            <a:ext cx="5029200" cy="415058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lang="es-MX" sz="160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L</a:t>
            </a:r>
            <a:r>
              <a:rPr sz="1600" b="0" i="0" u="none" dirty="0" err="1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icencias</a:t>
            </a:r>
            <a:endParaRPr sz="1600" b="0" i="0" u="none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2192110"/>
            <a:ext cx="457200" cy="46486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5C6B7A"/>
                </a:solidFill>
                <a:latin typeface="Montserrat SemiBold"/>
                <a:ea typeface="Montserrat SemiBold"/>
                <a:cs typeface="Montserrat SemiBold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2192110"/>
            <a:ext cx="1600200" cy="464865"/>
          </a:xfrm>
          <a:prstGeom prst="roundRect">
            <a:avLst>
              <a:gd name="adj" fmla="val 15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IVA-L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39" y="2192110"/>
            <a:ext cx="2926080" cy="464865"/>
          </a:xfrm>
          <a:prstGeom prst="roundRect">
            <a:avLst>
              <a:gd name="adj" fmla="val 12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Licencias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23385"/>
            <a:ext cx="457200" cy="46486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5C6B7A"/>
                </a:solidFill>
                <a:latin typeface="Montserrat SemiBold"/>
                <a:ea typeface="Montserrat SemiBold"/>
                <a:cs typeface="Montserrat SemiBold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2723385"/>
            <a:ext cx="1600200" cy="464865"/>
          </a:xfrm>
          <a:prstGeom prst="roundRect">
            <a:avLst>
              <a:gd name="adj" fmla="val 15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IVA-ES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39" y="2723385"/>
            <a:ext cx="2926080" cy="464865"/>
          </a:xfrm>
          <a:prstGeom prst="roundRect">
            <a:avLst>
              <a:gd name="adj" fmla="val 12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Escuelas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54659"/>
            <a:ext cx="457200" cy="46486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5C6B7A"/>
                </a:solidFill>
                <a:latin typeface="Montserrat SemiBold"/>
                <a:ea typeface="Montserrat SemiBold"/>
                <a:cs typeface="Montserrat SemiBold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3254659"/>
            <a:ext cx="1600200" cy="464865"/>
          </a:xfrm>
          <a:prstGeom prst="roundRect">
            <a:avLst>
              <a:gd name="adj" fmla="val 15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IVA-EX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39" y="3254659"/>
            <a:ext cx="2926080" cy="464865"/>
          </a:xfrm>
          <a:prstGeom prst="roundRect">
            <a:avLst>
              <a:gd name="adj" fmla="val 12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Exámenes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85934"/>
            <a:ext cx="457200" cy="46486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5C6B7A"/>
                </a:solidFill>
                <a:latin typeface="Montserrat SemiBold"/>
                <a:ea typeface="Montserrat SemiBold"/>
                <a:cs typeface="Montserrat SemiBold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88720" y="3785934"/>
            <a:ext cx="1600200" cy="464865"/>
          </a:xfrm>
          <a:prstGeom prst="roundRect">
            <a:avLst>
              <a:gd name="adj" fmla="val 15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IVA-CL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34639" y="3785934"/>
            <a:ext cx="2926080" cy="464865"/>
          </a:xfrm>
          <a:prstGeom prst="roundRect">
            <a:avLst>
              <a:gd name="adj" fmla="val 12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Competencia Lingüística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317208"/>
            <a:ext cx="457200" cy="46486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5C6B7A"/>
                </a:solidFill>
                <a:latin typeface="Montserrat SemiBold"/>
                <a:ea typeface="Montserrat SemiBold"/>
                <a:cs typeface="Montserrat SemiBold"/>
              </a:rPr>
              <a:t>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88720" y="4317208"/>
            <a:ext cx="1600200" cy="464865"/>
          </a:xfrm>
          <a:prstGeom prst="roundRect">
            <a:avLst>
              <a:gd name="adj" fmla="val 15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IVA-ME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34639" y="4317208"/>
            <a:ext cx="2926080" cy="464865"/>
          </a:xfrm>
          <a:prstGeom prst="roundRect">
            <a:avLst>
              <a:gd name="adj" fmla="val 12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Médico Evaluador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1710643"/>
            <a:ext cx="5029200" cy="415058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Operaciones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2192110"/>
            <a:ext cx="457200" cy="46486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5C6B7A"/>
                </a:solidFill>
                <a:latin typeface="Montserrat SemiBold"/>
                <a:ea typeface="Montserrat SemiBold"/>
                <a:cs typeface="Montserrat SemiBold"/>
              </a:rPr>
              <a:t>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2192110"/>
            <a:ext cx="1600200" cy="464865"/>
          </a:xfrm>
          <a:prstGeom prst="roundRect">
            <a:avLst>
              <a:gd name="adj" fmla="val 15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IVA-OT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59" y="2192110"/>
            <a:ext cx="2926080" cy="464865"/>
          </a:xfrm>
          <a:prstGeom prst="roundRect">
            <a:avLst>
              <a:gd name="adj" fmla="val 12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Operaciones Tierra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2723385"/>
            <a:ext cx="457200" cy="46486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5C6B7A"/>
                </a:solidFill>
                <a:latin typeface="Montserrat SemiBold"/>
                <a:ea typeface="Montserrat SemiBold"/>
                <a:cs typeface="Montserrat SemiBold"/>
              </a:rPr>
              <a:t>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2723385"/>
            <a:ext cx="1600200" cy="464865"/>
          </a:xfrm>
          <a:prstGeom prst="roundRect">
            <a:avLst>
              <a:gd name="adj" fmla="val 15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IVA-OMP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59" y="2723385"/>
            <a:ext cx="2926080" cy="464865"/>
          </a:xfrm>
          <a:prstGeom prst="roundRect">
            <a:avLst>
              <a:gd name="adj" fmla="val 12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Mercancías Peligrosas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0" y="3254659"/>
            <a:ext cx="457200" cy="46486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5C6B7A"/>
                </a:solidFill>
                <a:latin typeface="Montserrat SemiBold"/>
                <a:ea typeface="Montserrat SemiBold"/>
                <a:cs typeface="Montserrat SemiBold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3254659"/>
            <a:ext cx="1600200" cy="464865"/>
          </a:xfrm>
          <a:prstGeom prst="roundRect">
            <a:avLst>
              <a:gd name="adj" fmla="val 15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IVA-OV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59" y="3254659"/>
            <a:ext cx="2926080" cy="464865"/>
          </a:xfrm>
          <a:prstGeom prst="roundRect">
            <a:avLst>
              <a:gd name="adj" fmla="val 12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Operaciones Vuelo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0" y="3785934"/>
            <a:ext cx="457200" cy="46486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5C6B7A"/>
                </a:solidFill>
                <a:latin typeface="Montserrat SemiBold"/>
                <a:ea typeface="Montserrat SemiBold"/>
                <a:cs typeface="Montserrat SemiBold"/>
              </a:rPr>
              <a:t>9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2240" y="3785934"/>
            <a:ext cx="1600200" cy="464865"/>
          </a:xfrm>
          <a:prstGeom prst="roundRect">
            <a:avLst>
              <a:gd name="adj" fmla="val 15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IVA-OC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59" y="3785934"/>
            <a:ext cx="2926080" cy="464865"/>
          </a:xfrm>
          <a:prstGeom prst="roundRect">
            <a:avLst>
              <a:gd name="adj" fmla="val 12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Operaciones Cabina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355080"/>
            <a:ext cx="86868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 4.3 (conforme a la Carta de Política vigente). Agrupación didáctica.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51560" y="5120640"/>
            <a:ext cx="10104120" cy="6858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4E2DA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Tu formato OJT y tus bitácoras corresponden a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tu especialidad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: cada una tiene su propio catálogo de tareas en el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Anexo 1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del MEPT.</a:t>
            </a:r>
          </a:p>
        </p:txBody>
      </p:sp>
      <p:sp>
        <p:nvSpPr>
          <p:cNvPr id="34" name="Oval 33"/>
          <p:cNvSpPr/>
          <p:nvPr/>
        </p:nvSpPr>
        <p:spPr>
          <a:xfrm>
            <a:off x="731520" y="5120640"/>
            <a:ext cx="685800" cy="68580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</a:t>
            </a:r>
          </a:p>
        </p:txBody>
      </p:sp>
      <p:pic>
        <p:nvPicPr>
          <p:cNvPr id="133" name="Picture 132" descr="es_l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781012"/>
            <a:ext cx="274320" cy="274320"/>
          </a:xfrm>
          <a:prstGeom prst="rect">
            <a:avLst/>
          </a:prstGeom>
        </p:spPr>
      </p:pic>
      <p:pic>
        <p:nvPicPr>
          <p:cNvPr id="134" name="Picture 133" descr="es_o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2" y="1781012"/>
            <a:ext cx="274320" cy="2743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2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45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987"/>
                            </p:stCondLst>
                            <p:childTnLst>
                              <p:par>
                                <p:cTn id="7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5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9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3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7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1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5" dur="4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45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9" dur="45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684"/>
                            </p:stCondLst>
                            <p:childTnLst>
                              <p:par>
                                <p:cTn id="1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2296"/>
                            </p:stCondLst>
                            <p:childTnLst>
                              <p:par>
                                <p:cTn id="1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1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2.3 ESPECIALIDADES TÉCNICAS DEL PERSONAL IVA (24 ESPECIALIDADES)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Especialidades técnicas del IVA (2 de 3)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10643"/>
            <a:ext cx="5029200" cy="415058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Aeronavegabilidad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2110"/>
            <a:ext cx="457200" cy="46486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5C6B7A"/>
                </a:solidFill>
                <a:latin typeface="Montserrat SemiBold"/>
                <a:ea typeface="Montserrat SemiBold"/>
                <a:cs typeface="Montserrat SemiBold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2192110"/>
            <a:ext cx="1600200" cy="464865"/>
          </a:xfrm>
          <a:prstGeom prst="roundRect">
            <a:avLst>
              <a:gd name="adj" fmla="val 15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IVA-A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39" y="2192110"/>
            <a:ext cx="2926080" cy="464865"/>
          </a:xfrm>
          <a:prstGeom prst="roundRect">
            <a:avLst>
              <a:gd name="adj" fmla="val 12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Aeronavegabilidad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23385"/>
            <a:ext cx="457200" cy="46486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5C6B7A"/>
                </a:solidFill>
                <a:latin typeface="Montserrat SemiBold"/>
                <a:ea typeface="Montserrat SemiBold"/>
                <a:cs typeface="Montserrat SemiBold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2723385"/>
            <a:ext cx="1600200" cy="464865"/>
          </a:xfrm>
          <a:prstGeom prst="roundRect">
            <a:avLst>
              <a:gd name="adj" fmla="val 15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IVA-ING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39" y="2723385"/>
            <a:ext cx="2926080" cy="464865"/>
          </a:xfrm>
          <a:prstGeom prst="roundRect">
            <a:avLst>
              <a:gd name="adj" fmla="val 12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Ingeniería y Producción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710643"/>
            <a:ext cx="5029200" cy="415058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Navegación aérea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2192110"/>
            <a:ext cx="457200" cy="46486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5C6B7A"/>
                </a:solidFill>
                <a:latin typeface="Montserrat SemiBold"/>
                <a:ea typeface="Montserrat SemiBold"/>
                <a:cs typeface="Montserrat SemiBold"/>
              </a:rPr>
              <a:t>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192110"/>
            <a:ext cx="1600200" cy="464865"/>
          </a:xfrm>
          <a:prstGeom prst="roundRect">
            <a:avLst>
              <a:gd name="adj" fmla="val 15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IVA-AIS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2192110"/>
            <a:ext cx="2926080" cy="464865"/>
          </a:xfrm>
          <a:prstGeom prst="roundRect">
            <a:avLst>
              <a:gd name="adj" fmla="val 12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Información Aeronáutica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2723385"/>
            <a:ext cx="457200" cy="46486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5C6B7A"/>
                </a:solidFill>
                <a:latin typeface="Montserrat SemiBold"/>
                <a:ea typeface="Montserrat SemiBold"/>
                <a:cs typeface="Montserrat SemiBold"/>
              </a:rPr>
              <a:t>13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2723385"/>
            <a:ext cx="1600200" cy="464865"/>
          </a:xfrm>
          <a:prstGeom prst="roundRect">
            <a:avLst>
              <a:gd name="adj" fmla="val 15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IVA-CNS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59" y="2723385"/>
            <a:ext cx="2926080" cy="464865"/>
          </a:xfrm>
          <a:prstGeom prst="roundRect">
            <a:avLst>
              <a:gd name="adj" fmla="val 12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Comunicaciones, Navegación y Vigilancia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3254659"/>
            <a:ext cx="457200" cy="46486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5C6B7A"/>
                </a:solidFill>
                <a:latin typeface="Montserrat SemiBold"/>
                <a:ea typeface="Montserrat SemiBold"/>
                <a:cs typeface="Montserrat SemiBold"/>
              </a:rPr>
              <a:t>14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3254659"/>
            <a:ext cx="1600200" cy="464865"/>
          </a:xfrm>
          <a:prstGeom prst="roundRect">
            <a:avLst>
              <a:gd name="adj" fmla="val 15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IVA-ATS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59" y="3254659"/>
            <a:ext cx="2926080" cy="464865"/>
          </a:xfrm>
          <a:prstGeom prst="roundRect">
            <a:avLst>
              <a:gd name="adj" fmla="val 12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Tránsito Aéreo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3785934"/>
            <a:ext cx="457200" cy="46486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5C6B7A"/>
                </a:solidFill>
                <a:latin typeface="Montserrat SemiBold"/>
                <a:ea typeface="Montserrat SemiBold"/>
                <a:cs typeface="Montserrat SemiBold"/>
              </a:rPr>
              <a:t>15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3785934"/>
            <a:ext cx="1600200" cy="464865"/>
          </a:xfrm>
          <a:prstGeom prst="roundRect">
            <a:avLst>
              <a:gd name="adj" fmla="val 15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IVA-PANS-OPS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59" y="3785934"/>
            <a:ext cx="2926080" cy="464865"/>
          </a:xfrm>
          <a:prstGeom prst="roundRect">
            <a:avLst>
              <a:gd name="adj" fmla="val 12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Diseño de Procedimientos de Vuelo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4317208"/>
            <a:ext cx="457200" cy="46486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5C6B7A"/>
                </a:solidFill>
                <a:latin typeface="Montserrat SemiBold"/>
                <a:ea typeface="Montserrat SemiBold"/>
                <a:cs typeface="Montserrat SemiBold"/>
              </a:rPr>
              <a:t>16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4317208"/>
            <a:ext cx="1600200" cy="464865"/>
          </a:xfrm>
          <a:prstGeom prst="roundRect">
            <a:avLst>
              <a:gd name="adj" fmla="val 15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IVA-MET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59" y="4317208"/>
            <a:ext cx="2926080" cy="464865"/>
          </a:xfrm>
          <a:prstGeom prst="roundRect">
            <a:avLst>
              <a:gd name="adj" fmla="val 12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Meteorología Aeronáutica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0" y="4848482"/>
            <a:ext cx="457200" cy="46486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5C6B7A"/>
                </a:solidFill>
                <a:latin typeface="Montserrat SemiBold"/>
                <a:ea typeface="Montserrat SemiBold"/>
                <a:cs typeface="Montserrat SemiBold"/>
              </a:rPr>
              <a:t>17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4848482"/>
            <a:ext cx="1600200" cy="464865"/>
          </a:xfrm>
          <a:prstGeom prst="roundRect">
            <a:avLst>
              <a:gd name="adj" fmla="val 15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IVA-CARTAS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59" y="4848482"/>
            <a:ext cx="2926080" cy="464865"/>
          </a:xfrm>
          <a:prstGeom prst="roundRect">
            <a:avLst>
              <a:gd name="adj" fmla="val 12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Cartografía Aeronáutica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355080"/>
            <a:ext cx="86868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 4.3 (conforme a la Carta de Política vigente). Agrupación didáctica.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51560" y="5440680"/>
            <a:ext cx="10104120" cy="65836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4E2DA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La numeración y las claves son las del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numeral 4.3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del MEPT; la agrupación por áreas es solo para facilitar tu estudio.</a:t>
            </a:r>
          </a:p>
        </p:txBody>
      </p:sp>
      <p:sp>
        <p:nvSpPr>
          <p:cNvPr id="31" name="Oval 30"/>
          <p:cNvSpPr/>
          <p:nvPr/>
        </p:nvSpPr>
        <p:spPr>
          <a:xfrm>
            <a:off x="731520" y="5440680"/>
            <a:ext cx="658368" cy="658368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</a:t>
            </a:r>
          </a:p>
        </p:txBody>
      </p:sp>
      <p:pic>
        <p:nvPicPr>
          <p:cNvPr id="121" name="Picture 120" descr="es_a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781012"/>
            <a:ext cx="274320" cy="274320"/>
          </a:xfrm>
          <a:prstGeom prst="rect">
            <a:avLst/>
          </a:prstGeom>
        </p:spPr>
      </p:pic>
      <p:pic>
        <p:nvPicPr>
          <p:cNvPr id="122" name="Picture 121" descr="es_na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2" y="1781012"/>
            <a:ext cx="274320" cy="2743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2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45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987"/>
                            </p:stCondLst>
                            <p:childTnLst>
                              <p:par>
                                <p:cTn id="3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5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9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3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5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7" dur="45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684"/>
                            </p:stCondLst>
                            <p:childTnLst>
                              <p:par>
                                <p:cTn id="1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2296"/>
                            </p:stCondLst>
                            <p:childTnLst>
                              <p:par>
                                <p:cTn id="1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1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2.3 ESPECIALIDADES TÉCNICAS DEL PERSONAL IVA (24 ESPECIALIDADES)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Especialidades técnicas del IVA (3 de 3)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10643"/>
            <a:ext cx="5029200" cy="415058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Aeródromos y seguridad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2110"/>
            <a:ext cx="457200" cy="46486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5C6B7A"/>
                </a:solidFill>
                <a:latin typeface="Montserrat SemiBold"/>
                <a:ea typeface="Montserrat SemiBold"/>
                <a:cs typeface="Montserrat SemiBold"/>
              </a:rPr>
              <a:t>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2192110"/>
            <a:ext cx="1600200" cy="464865"/>
          </a:xfrm>
          <a:prstGeom prst="roundRect">
            <a:avLst>
              <a:gd name="adj" fmla="val 15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IVA-AE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39" y="2192110"/>
            <a:ext cx="2926080" cy="464865"/>
          </a:xfrm>
          <a:prstGeom prst="roundRect">
            <a:avLst>
              <a:gd name="adj" fmla="val 12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Aeródromos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23385"/>
            <a:ext cx="457200" cy="46486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5C6B7A"/>
                </a:solidFill>
                <a:latin typeface="Montserrat SemiBold"/>
                <a:ea typeface="Montserrat SemiBold"/>
                <a:cs typeface="Montserrat SemiBold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2723385"/>
            <a:ext cx="1600200" cy="464865"/>
          </a:xfrm>
          <a:prstGeom prst="roundRect">
            <a:avLst>
              <a:gd name="adj" fmla="val 15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IVA-AVSEC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39" y="2723385"/>
            <a:ext cx="2926080" cy="464865"/>
          </a:xfrm>
          <a:prstGeom prst="roundRect">
            <a:avLst>
              <a:gd name="adj" fmla="val 12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Seguridad de la Aviación Civil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54659"/>
            <a:ext cx="457200" cy="46486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5C6B7A"/>
                </a:solidFill>
                <a:latin typeface="Montserrat SemiBold"/>
                <a:ea typeface="Montserrat SemiBold"/>
                <a:cs typeface="Montserrat SemiBold"/>
              </a:rPr>
              <a:t>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3254659"/>
            <a:ext cx="1600200" cy="464865"/>
          </a:xfrm>
          <a:prstGeom prst="roundRect">
            <a:avLst>
              <a:gd name="adj" fmla="val 15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IVA-SMS/SSP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39" y="3254659"/>
            <a:ext cx="2926080" cy="464865"/>
          </a:xfrm>
          <a:prstGeom prst="roundRect">
            <a:avLst>
              <a:gd name="adj" fmla="val 12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Sistemas de Gestión de Seguridad Operacional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710643"/>
            <a:ext cx="5029200" cy="415058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Instrucción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2192110"/>
            <a:ext cx="457200" cy="46486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5C6B7A"/>
                </a:solidFill>
                <a:latin typeface="Montserrat SemiBold"/>
                <a:ea typeface="Montserrat SemiBold"/>
                <a:cs typeface="Montserrat SemiBold"/>
              </a:rPr>
              <a:t>21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2192110"/>
            <a:ext cx="1600200" cy="464865"/>
          </a:xfrm>
          <a:prstGeom prst="roundRect">
            <a:avLst>
              <a:gd name="adj" fmla="val 15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IIFTA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59" y="2192110"/>
            <a:ext cx="2926080" cy="464865"/>
          </a:xfrm>
          <a:prstGeom prst="roundRect">
            <a:avLst>
              <a:gd name="adj" fmla="val 12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Instructor de Formación Técnica Aeronáutica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723385"/>
            <a:ext cx="457200" cy="46486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5C6B7A"/>
                </a:solidFill>
                <a:latin typeface="Montserrat SemiBold"/>
                <a:ea typeface="Montserrat SemiBold"/>
                <a:cs typeface="Montserrat SemiBold"/>
              </a:rPr>
              <a:t>22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2723385"/>
            <a:ext cx="1600200" cy="464865"/>
          </a:xfrm>
          <a:prstGeom prst="roundRect">
            <a:avLst>
              <a:gd name="adj" fmla="val 15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IIOJT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59" y="2723385"/>
            <a:ext cx="2926080" cy="464865"/>
          </a:xfrm>
          <a:prstGeom prst="roundRect">
            <a:avLst>
              <a:gd name="adj" fmla="val 12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0"/>
              </a:spcAft>
            </a:pP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Instructor de OJT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951957"/>
            <a:ext cx="5029200" cy="415058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Jurídico y económico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433424"/>
            <a:ext cx="457200" cy="46486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5C6B7A"/>
                </a:solidFill>
                <a:latin typeface="Montserrat SemiBold"/>
                <a:ea typeface="Montserrat SemiBold"/>
                <a:cs typeface="Montserrat SemiBold"/>
              </a:rPr>
              <a:t>23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88720" y="4433424"/>
            <a:ext cx="1600200" cy="464865"/>
          </a:xfrm>
          <a:prstGeom prst="roundRect">
            <a:avLst>
              <a:gd name="adj" fmla="val 15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IV-JL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34639" y="4433424"/>
            <a:ext cx="2926080" cy="464865"/>
          </a:xfrm>
          <a:prstGeom prst="roundRect">
            <a:avLst>
              <a:gd name="adj" fmla="val 12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0"/>
              </a:spcAft>
            </a:pP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Jurídico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Legal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964699"/>
            <a:ext cx="457200" cy="46486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5C6B7A"/>
                </a:solidFill>
                <a:latin typeface="Montserrat SemiBold"/>
                <a:ea typeface="Montserrat SemiBold"/>
                <a:cs typeface="Montserrat SemiBold"/>
              </a:rPr>
              <a:t>24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88720" y="4964699"/>
            <a:ext cx="1600200" cy="464865"/>
          </a:xfrm>
          <a:prstGeom prst="roundRect">
            <a:avLst>
              <a:gd name="adj" fmla="val 15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IV-TTA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34639" y="4964699"/>
            <a:ext cx="2926080" cy="464865"/>
          </a:xfrm>
          <a:prstGeom prst="roundRect">
            <a:avLst>
              <a:gd name="adj" fmla="val 12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0"/>
              </a:spcAft>
            </a:pP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Tarifas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Competencia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Regulación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Económica</a:t>
            </a:r>
            <a:endParaRPr sz="1500" b="0" i="0" u="none" dirty="0">
              <a:solidFill>
                <a:srgbClr val="182430"/>
              </a:solidFill>
              <a:latin typeface="Montserrat Medium"/>
              <a:ea typeface="Montserrat Medium"/>
              <a:cs typeface="Montserrat Medium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31520" y="5944236"/>
            <a:ext cx="8686800" cy="33204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 4.3 (conforme a la Carta de Política vigente). Agrupación didáctica.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59" y="3429000"/>
            <a:ext cx="4846320" cy="14630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4E2DA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Las especialidades de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Accidentes e Incidentes (AIG)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Búsqueda y Salvamento (SAR)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se atienden a solicitud de la DAAIA de la SICT. Una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nueva especialidad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se solicita a la Dirección del CIAAC.</a:t>
            </a:r>
          </a:p>
        </p:txBody>
      </p:sp>
      <p:sp>
        <p:nvSpPr>
          <p:cNvPr id="29" name="Oval 28"/>
          <p:cNvSpPr/>
          <p:nvPr/>
        </p:nvSpPr>
        <p:spPr>
          <a:xfrm>
            <a:off x="5989320" y="3771900"/>
            <a:ext cx="777240" cy="77724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</a:t>
            </a:r>
          </a:p>
        </p:txBody>
      </p:sp>
      <p:pic>
        <p:nvPicPr>
          <p:cNvPr id="114" name="Picture 113" descr="es_ad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781012"/>
            <a:ext cx="274320" cy="274320"/>
          </a:xfrm>
          <a:prstGeom prst="rect">
            <a:avLst/>
          </a:prstGeom>
        </p:spPr>
      </p:pic>
      <p:pic>
        <p:nvPicPr>
          <p:cNvPr id="115" name="Picture 114" descr="es_i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2" y="1781012"/>
            <a:ext cx="274320" cy="274320"/>
          </a:xfrm>
          <a:prstGeom prst="rect">
            <a:avLst/>
          </a:prstGeom>
        </p:spPr>
      </p:pic>
      <p:pic>
        <p:nvPicPr>
          <p:cNvPr id="116" name="Picture 115" descr="es_ju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4022326"/>
            <a:ext cx="274320" cy="2743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2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45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987"/>
                            </p:stCondLst>
                            <p:childTnLst>
                              <p:par>
                                <p:cTn id="5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45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454"/>
                            </p:stCondLst>
                            <p:childTnLst>
                              <p:par>
                                <p:cTn id="8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0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4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2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6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0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5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4" dur="45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2151"/>
                            </p:stCondLst>
                            <p:childTnLst>
                              <p:par>
                                <p:cTn id="1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2763"/>
                            </p:stCondLst>
                            <p:childTnLst>
                              <p:par>
                                <p:cTn id="1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2.4 DESIGNACIÓN DE INSTRUCTORES OJT Y CRITERIOS DE SELECCIÓN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¿Quién designa a las figuras OJT?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69137"/>
            <a:ext cx="10424160" cy="8301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Los </a:t>
            </a:r>
            <a:r>
              <a:rPr sz="18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titulares de las Direcciones Ejecutivas, de Área y Comandancias</a:t>
            </a: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(AICM, AIFA y Regionales), a solicitud del CIAAC por medio de la CPEPT.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706783"/>
            <a:ext cx="2468880" cy="581081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20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ICOJT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87864"/>
            <a:ext cx="2468880" cy="2324325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Uno por Dirección de área. Nivel de Enlace a Subdirector. ≥ 1 año en el programa OJT.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2706783"/>
            <a:ext cx="2468880" cy="581081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20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ICOJT-S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3287864"/>
            <a:ext cx="2468880" cy="2324325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Suplente: apoya al ICOJT en sus ausencias.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706783"/>
            <a:ext cx="2468880" cy="581081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20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IPOJT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3287864"/>
            <a:ext cx="2468880" cy="2324325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Uno o más, según las necesidades del área.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2706783"/>
            <a:ext cx="2468880" cy="581081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20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IOJT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3287864"/>
            <a:ext cx="2468880" cy="2324325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Uno o más, según las necesidades del área.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55080"/>
            <a:ext cx="86868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 4.6.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669280"/>
            <a:ext cx="10104120" cy="56692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4E2DA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Los titulares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designan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a sus instructores; la CPEPT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valida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que cada perfil cumpla los criterios del MEPT.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5669280"/>
            <a:ext cx="566928" cy="566928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45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12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979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446"/>
                            </p:stCondLst>
                            <p:childTnLst>
                              <p:par>
                                <p:cTn id="3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143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755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2.4 DESIGNACIÓN DE INSTRUCTORES OJT Y CRITERIOS DE SELECCIÓN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Procedimiento de designación</a:t>
            </a:r>
          </a:p>
        </p:txBody>
      </p:sp>
      <p:sp>
        <p:nvSpPr>
          <p:cNvPr id="3" name="Oval 2"/>
          <p:cNvSpPr/>
          <p:nvPr/>
        </p:nvSpPr>
        <p:spPr>
          <a:xfrm>
            <a:off x="1645920" y="1835161"/>
            <a:ext cx="548640" cy="498069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416242"/>
            <a:ext cx="2377440" cy="996139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CPEPT solicita la designación</a:t>
            </a:r>
          </a:p>
        </p:txBody>
      </p:sp>
      <p:sp>
        <p:nvSpPr>
          <p:cNvPr id="5" name="Oval 4"/>
          <p:cNvSpPr/>
          <p:nvPr/>
        </p:nvSpPr>
        <p:spPr>
          <a:xfrm>
            <a:off x="4297680" y="1835161"/>
            <a:ext cx="548640" cy="498069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2416242"/>
            <a:ext cx="2377440" cy="996139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El área propone por oficio</a:t>
            </a:r>
          </a:p>
        </p:txBody>
      </p:sp>
      <p:sp>
        <p:nvSpPr>
          <p:cNvPr id="7" name="Oval 6"/>
          <p:cNvSpPr/>
          <p:nvPr/>
        </p:nvSpPr>
        <p:spPr>
          <a:xfrm>
            <a:off x="6949440" y="1835161"/>
            <a:ext cx="548640" cy="498069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416242"/>
            <a:ext cx="2377440" cy="996139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CPEPT revisa el expediente</a:t>
            </a:r>
          </a:p>
        </p:txBody>
      </p:sp>
      <p:sp>
        <p:nvSpPr>
          <p:cNvPr id="9" name="Oval 8"/>
          <p:cNvSpPr/>
          <p:nvPr/>
        </p:nvSpPr>
        <p:spPr>
          <a:xfrm>
            <a:off x="9601200" y="1835161"/>
            <a:ext cx="548640" cy="498069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2416242"/>
            <a:ext cx="2377440" cy="996139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Coord. de Programas corrobora datos</a:t>
            </a:r>
          </a:p>
        </p:txBody>
      </p:sp>
      <p:sp>
        <p:nvSpPr>
          <p:cNvPr id="11" name="Oval 10"/>
          <p:cNvSpPr/>
          <p:nvPr/>
        </p:nvSpPr>
        <p:spPr>
          <a:xfrm>
            <a:off x="1645920" y="3619909"/>
            <a:ext cx="548640" cy="498069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00992"/>
            <a:ext cx="2377440" cy="996139"/>
          </a:xfrm>
          <a:prstGeom prst="roundRect">
            <a:avLst>
              <a:gd name="adj" fmla="val 8000"/>
            </a:avLst>
          </a:prstGeom>
          <a:solidFill>
            <a:srgbClr val="F6EEDC"/>
          </a:solidFill>
          <a:ln w="15875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CPEPT emite oficio de aprobación</a:t>
            </a:r>
          </a:p>
        </p:txBody>
      </p:sp>
      <p:sp>
        <p:nvSpPr>
          <p:cNvPr id="13" name="Oval 12"/>
          <p:cNvSpPr/>
          <p:nvPr/>
        </p:nvSpPr>
        <p:spPr>
          <a:xfrm>
            <a:off x="4297680" y="3619909"/>
            <a:ext cx="548640" cy="498069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4200992"/>
            <a:ext cx="2377440" cy="996139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El área notifica al IVA</a:t>
            </a:r>
          </a:p>
        </p:txBody>
      </p:sp>
      <p:sp>
        <p:nvSpPr>
          <p:cNvPr id="15" name="Oval 14"/>
          <p:cNvSpPr/>
          <p:nvPr/>
        </p:nvSpPr>
        <p:spPr>
          <a:xfrm>
            <a:off x="6949440" y="3619909"/>
            <a:ext cx="548640" cy="498069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4200992"/>
            <a:ext cx="2377440" cy="996139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IVA acusa de recibo</a:t>
            </a:r>
          </a:p>
        </p:txBody>
      </p:sp>
      <p:sp>
        <p:nvSpPr>
          <p:cNvPr id="17" name="Oval 16"/>
          <p:cNvSpPr/>
          <p:nvPr/>
        </p:nvSpPr>
        <p:spPr>
          <a:xfrm>
            <a:off x="9601200" y="3619909"/>
            <a:ext cx="548640" cy="498069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4200992"/>
            <a:ext cx="2377440" cy="996139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lang="es-MX" sz="1600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El Acuse se archiva en el expediente, así como el informe trimestral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487672"/>
            <a:ext cx="1042416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0" i="0" u="none" dirty="0">
                <a:solidFill>
                  <a:srgbClr val="0E2A47"/>
                </a:solidFill>
                <a:latin typeface="Montserrat Medium"/>
                <a:ea typeface="Montserrat Medium"/>
                <a:cs typeface="Montserrat Medium"/>
              </a:rPr>
              <a:t>Si hay </a:t>
            </a:r>
            <a:r>
              <a:rPr sz="1600" b="0" i="0" u="none" dirty="0" err="1">
                <a:solidFill>
                  <a:srgbClr val="0E2A47"/>
                </a:solidFill>
                <a:latin typeface="Montserrat Medium"/>
                <a:ea typeface="Montserrat Medium"/>
                <a:cs typeface="Montserrat Medium"/>
              </a:rPr>
              <a:t>inconsistencias</a:t>
            </a:r>
            <a:r>
              <a:rPr sz="1600" b="0" i="0" u="none" dirty="0">
                <a:solidFill>
                  <a:srgbClr val="0E2A47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600" b="0" i="0" u="none" dirty="0" err="1">
                <a:solidFill>
                  <a:srgbClr val="0E2A47"/>
                </a:solidFill>
                <a:latin typeface="Montserrat Medium"/>
                <a:ea typeface="Montserrat Medium"/>
                <a:cs typeface="Montserrat Medium"/>
              </a:rPr>
              <a:t>en</a:t>
            </a:r>
            <a:r>
              <a:rPr sz="1600" b="0" i="0" u="none" dirty="0">
                <a:solidFill>
                  <a:srgbClr val="0E2A47"/>
                </a:solidFill>
                <a:latin typeface="Montserrat Medium"/>
                <a:ea typeface="Montserrat Medium"/>
                <a:cs typeface="Montserrat Medium"/>
              </a:rPr>
              <a:t> el </a:t>
            </a:r>
            <a:r>
              <a:rPr sz="1600" b="0" i="0" u="none" dirty="0" err="1">
                <a:solidFill>
                  <a:srgbClr val="0E2A47"/>
                </a:solidFill>
                <a:latin typeface="Montserrat Medium"/>
                <a:ea typeface="Montserrat Medium"/>
                <a:cs typeface="Montserrat Medium"/>
              </a:rPr>
              <a:t>perfil</a:t>
            </a:r>
            <a:r>
              <a:rPr lang="es-MX" sz="1600" b="0" i="0" u="none" dirty="0">
                <a:solidFill>
                  <a:srgbClr val="0E2A47"/>
                </a:solidFill>
                <a:latin typeface="Montserrat Medium"/>
                <a:ea typeface="Montserrat Medium"/>
                <a:cs typeface="Montserrat Medium"/>
              </a:rPr>
              <a:t> del IVA</a:t>
            </a:r>
            <a:r>
              <a:rPr sz="1600" b="0" i="0" u="none" dirty="0">
                <a:solidFill>
                  <a:srgbClr val="0E2A47"/>
                </a:solidFill>
                <a:latin typeface="Montserrat Medium"/>
                <a:ea typeface="Montserrat Medium"/>
                <a:cs typeface="Montserrat Medium"/>
              </a:rPr>
              <a:t>, la CPEPT </a:t>
            </a:r>
            <a:r>
              <a:rPr sz="1600" b="0" i="0" u="none" dirty="0" err="1">
                <a:solidFill>
                  <a:srgbClr val="0E2A47"/>
                </a:solidFill>
                <a:latin typeface="Montserrat Medium"/>
                <a:ea typeface="Montserrat Medium"/>
                <a:cs typeface="Montserrat Medium"/>
              </a:rPr>
              <a:t>emite</a:t>
            </a:r>
            <a:r>
              <a:rPr sz="1600" b="0" i="0" u="none" dirty="0">
                <a:solidFill>
                  <a:srgbClr val="0E2A47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600" b="0" i="0" u="none" dirty="0" err="1">
                <a:solidFill>
                  <a:srgbClr val="0E2A47"/>
                </a:solidFill>
                <a:latin typeface="Montserrat Medium"/>
                <a:ea typeface="Montserrat Medium"/>
                <a:cs typeface="Montserrat Medium"/>
              </a:rPr>
              <a:t>oficio</a:t>
            </a:r>
            <a:r>
              <a:rPr sz="1600" b="0" i="0" u="none" dirty="0">
                <a:solidFill>
                  <a:srgbClr val="0E2A47"/>
                </a:solidFill>
                <a:latin typeface="Montserrat Medium"/>
                <a:ea typeface="Montserrat Medium"/>
                <a:cs typeface="Montserrat Medium"/>
              </a:rPr>
              <a:t> con </a:t>
            </a:r>
            <a:r>
              <a:rPr sz="1600" b="0" i="0" u="none" dirty="0" err="1">
                <a:solidFill>
                  <a:srgbClr val="0E2A47"/>
                </a:solidFill>
                <a:latin typeface="Montserrat Medium"/>
                <a:ea typeface="Montserrat Medium"/>
                <a:cs typeface="Montserrat Medium"/>
              </a:rPr>
              <a:t>observaciones</a:t>
            </a:r>
            <a:r>
              <a:rPr sz="1600" b="0" i="0" u="none" dirty="0">
                <a:solidFill>
                  <a:srgbClr val="0E2A47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44236"/>
            <a:ext cx="8686800" cy="33204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 4.7 (P-DCIA-CPEPT-03-R04).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2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87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454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921"/>
                            </p:stCondLst>
                            <p:childTnLst>
                              <p:par>
                                <p:cTn id="3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88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855"/>
                            </p:stCondLst>
                            <p:childTnLst>
                              <p:par>
                                <p:cTn id="5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322"/>
                            </p:stCondLst>
                            <p:childTnLst>
                              <p:par>
                                <p:cTn id="5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3789"/>
                            </p:stCondLst>
                            <p:childTnLst>
                              <p:par>
                                <p:cTn id="6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4286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4761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2.4 DESIGNACIÓN DE INSTRUCTORES OJT Y CRITERIOS DE SELECCIÓN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Criterios para seleccionar instructores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23244" y="1752149"/>
            <a:ext cx="5029200" cy="498069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Técnicos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3244" y="2333229"/>
            <a:ext cx="5029200" cy="730502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7724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Curso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 Instructor OJT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aprobado</a:t>
            </a:r>
            <a:endParaRPr sz="1500" b="0" i="0" u="none" dirty="0">
              <a:solidFill>
                <a:srgbClr val="182430"/>
              </a:solidFill>
              <a:latin typeface="Montserrat Medium"/>
              <a:ea typeface="Montserrat Medium"/>
              <a:cs typeface="Montserrat Medium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23244" y="3163346"/>
            <a:ext cx="5029200" cy="730502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7724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Curso básico o recurrente de la especialidad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244" y="3993463"/>
            <a:ext cx="5029200" cy="730502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7724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5 años en la especialidad o 1 año continuo en la actividad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244" y="4823579"/>
            <a:ext cx="5029200" cy="730502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7724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Niveles OJT acreditados en las tareas que impartirá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6764" y="1752149"/>
            <a:ext cx="5029200" cy="498069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Actitudinales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6764" y="2333229"/>
            <a:ext cx="5029200" cy="730502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7724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Comunicación, escucha y paciencia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6764" y="3163346"/>
            <a:ext cx="5029200" cy="730502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7724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Interés en la capacitación OJT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6764" y="3993463"/>
            <a:ext cx="5029200" cy="730502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7724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Respeto por sus compañeros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6764" y="4823579"/>
            <a:ext cx="5029200" cy="730502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7724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Disposición a seguir las directrices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55080"/>
            <a:ext cx="86868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 4.8.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5623560"/>
            <a:ext cx="10104120" cy="62179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4E2DA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La antigüedad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no sustituye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los demás requisitos: también debes haber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acreditado los niveles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 las tareas que impartirás.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5623560"/>
            <a:ext cx="621792" cy="621792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</a:t>
            </a:r>
          </a:p>
        </p:txBody>
      </p:sp>
      <p:pic>
        <p:nvPicPr>
          <p:cNvPr id="57" name="Picture 56" descr="cr_curs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260" y="2442448"/>
            <a:ext cx="512064" cy="512064"/>
          </a:xfrm>
          <a:prstGeom prst="rect">
            <a:avLst/>
          </a:prstGeom>
        </p:spPr>
      </p:pic>
      <p:pic>
        <p:nvPicPr>
          <p:cNvPr id="58" name="Picture 57" descr="cr_basi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260" y="3272565"/>
            <a:ext cx="512064" cy="512064"/>
          </a:xfrm>
          <a:prstGeom prst="rect">
            <a:avLst/>
          </a:prstGeom>
        </p:spPr>
      </p:pic>
      <p:pic>
        <p:nvPicPr>
          <p:cNvPr id="59" name="Picture 58" descr="cr_anio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260" y="4102682"/>
            <a:ext cx="512064" cy="512064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260" y="4932798"/>
            <a:ext cx="512064" cy="512064"/>
          </a:xfrm>
          <a:prstGeom prst="rect">
            <a:avLst/>
          </a:prstGeom>
        </p:spPr>
      </p:pic>
      <p:pic>
        <p:nvPicPr>
          <p:cNvPr id="61" name="Picture 60" descr="cr_comu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4780" y="2442448"/>
            <a:ext cx="512064" cy="512064"/>
          </a:xfrm>
          <a:prstGeom prst="rect">
            <a:avLst/>
          </a:prstGeom>
        </p:spPr>
      </p:pic>
      <p:pic>
        <p:nvPicPr>
          <p:cNvPr id="62" name="Picture 61" descr="cr_intere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4780" y="3272565"/>
            <a:ext cx="512064" cy="512064"/>
          </a:xfrm>
          <a:prstGeom prst="rect">
            <a:avLst/>
          </a:prstGeom>
        </p:spPr>
      </p:pic>
      <p:pic>
        <p:nvPicPr>
          <p:cNvPr id="63" name="Picture 62" descr="cr_respet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4780" y="4102682"/>
            <a:ext cx="512064" cy="512064"/>
          </a:xfrm>
          <a:prstGeom prst="rect">
            <a:avLst/>
          </a:prstGeom>
        </p:spPr>
      </p:pic>
      <p:pic>
        <p:nvPicPr>
          <p:cNvPr id="64" name="Picture 63" descr="cr_direc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54780" y="4932798"/>
            <a:ext cx="512064" cy="512064"/>
          </a:xfrm>
          <a:prstGeom prst="rect">
            <a:avLst/>
          </a:prstGeom>
        </p:spPr>
      </p:pic>
      <p:pic>
        <p:nvPicPr>
          <p:cNvPr id="65" name="Picture 64" descr="crh_tec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06124" y="1854879"/>
            <a:ext cx="292608" cy="292608"/>
          </a:xfrm>
          <a:prstGeom prst="rect">
            <a:avLst/>
          </a:prstGeom>
        </p:spPr>
      </p:pic>
      <p:pic>
        <p:nvPicPr>
          <p:cNvPr id="66" name="Picture 65" descr="crh_ac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9644" y="1854879"/>
            <a:ext cx="292608" cy="29260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6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147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44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4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141"/>
                            </p:stCondLst>
                            <p:childTnLst>
                              <p:par>
                                <p:cTn id="3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4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638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4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235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732"/>
                            </p:stCondLst>
                            <p:childTnLst>
                              <p:par>
                                <p:cTn id="5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4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229"/>
                            </p:stCondLst>
                            <p:childTnLst>
                              <p:par>
                                <p:cTn id="6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726"/>
                            </p:stCondLst>
                            <p:childTnLst>
                              <p:par>
                                <p:cTn id="7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4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223"/>
                            </p:stCondLst>
                            <p:childTnLst>
                              <p:par>
                                <p:cTn id="8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4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920"/>
                            </p:stCondLst>
                            <p:childTnLst>
                              <p:par>
                                <p:cTn id="9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6532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2.4 DESIGNACIÓN DE INSTRUCTORES OJT Y CRITERIOS DE SELECCIÓN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Alcance de la designación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4241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La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designación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indica </a:t>
            </a:r>
            <a:r>
              <a:rPr sz="18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qué</a:t>
            </a:r>
            <a:r>
              <a:rPr sz="18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 </a:t>
            </a:r>
            <a:r>
              <a:rPr sz="18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tareas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puede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instruir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evaluar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cada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instructor. Ese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alcance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se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revisa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cuando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lang="es-MX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existe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77440"/>
            <a:ext cx="3200400" cy="749808"/>
          </a:xfrm>
          <a:prstGeom prst="roundRect">
            <a:avLst>
              <a:gd name="adj" fmla="val 12000"/>
            </a:avLst>
          </a:prstGeom>
          <a:solidFill>
            <a:srgbClr val="F6EEDC"/>
          </a:solidFill>
          <a:ln w="15875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0E2A47"/>
                </a:solidFill>
                <a:latin typeface="Montserrat SemiBold"/>
                <a:ea typeface="Montserrat SemiBold"/>
                <a:cs typeface="Montserrat SemiBold"/>
              </a:rPr>
              <a:t>Cambios de procedimientos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46120"/>
            <a:ext cx="3200400" cy="749808"/>
          </a:xfrm>
          <a:prstGeom prst="roundRect">
            <a:avLst>
              <a:gd name="adj" fmla="val 12000"/>
            </a:avLst>
          </a:prstGeom>
          <a:solidFill>
            <a:srgbClr val="F6EEDC"/>
          </a:solidFill>
          <a:ln w="15875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0E2A47"/>
                </a:solidFill>
                <a:latin typeface="Montserrat SemiBold"/>
                <a:ea typeface="Montserrat SemiBold"/>
                <a:cs typeface="Montserrat SemiBold"/>
              </a:rPr>
              <a:t>Inactividad que afecte la competencia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3200400" cy="749808"/>
          </a:xfrm>
          <a:prstGeom prst="roundRect">
            <a:avLst>
              <a:gd name="adj" fmla="val 12000"/>
            </a:avLst>
          </a:prstGeom>
          <a:solidFill>
            <a:srgbClr val="F6EEDC"/>
          </a:solidFill>
          <a:ln w="15875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0E2A47"/>
                </a:solidFill>
                <a:latin typeface="Montserrat SemiBold"/>
                <a:ea typeface="Montserrat SemiBold"/>
                <a:cs typeface="Montserrat SemiBold"/>
              </a:rPr>
              <a:t>Resultados insuficientes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69080" y="3063240"/>
            <a:ext cx="548640" cy="457200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754880" y="2514600"/>
            <a:ext cx="2926080" cy="502920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Revisión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3017520"/>
            <a:ext cx="2926080" cy="1508760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El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ICOJT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con apoyo del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IPOJT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revisa el alcance del instructor.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818120" y="3063240"/>
            <a:ext cx="548640" cy="457200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503920" y="2514600"/>
            <a:ext cx="2651760" cy="502920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Resultado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3017520"/>
            <a:ext cx="2651760" cy="1508760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Reforzamiento o reevaluación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antes de continuar con esas tareas.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120640"/>
            <a:ext cx="10104120" cy="8229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4E2DA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Si hay un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impedimento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para </a:t>
            </a:r>
            <a:r>
              <a:rPr lang="es-MX"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instuir</a:t>
            </a:r>
            <a:r>
              <a:rPr lang="es-MX"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evaluar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con </a:t>
            </a:r>
            <a:r>
              <a:rPr sz="15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imparcialidad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se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comunica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para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asignar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otro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lang="es-MX" sz="1500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instructor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 Tener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acceso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al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Módulo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OJT</a:t>
            </a:r>
            <a:r>
              <a:rPr lang="es-MX"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como instructor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5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no equivale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a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estar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designado</a:t>
            </a:r>
            <a:r>
              <a:rPr sz="1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5143500"/>
            <a:ext cx="777240" cy="77724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355080"/>
            <a:ext cx="9052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numerales 4.8 y 3.4.2 n).</a:t>
            </a:r>
          </a:p>
        </p:txBody>
      </p:sp>
      <p:pic>
        <p:nvPicPr>
          <p:cNvPr id="65" name="Picture 64" descr="ad_p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496312"/>
            <a:ext cx="512064" cy="512064"/>
          </a:xfrm>
          <a:prstGeom prst="rect">
            <a:avLst/>
          </a:prstGeom>
        </p:spPr>
      </p:pic>
      <p:pic>
        <p:nvPicPr>
          <p:cNvPr id="66" name="Picture 65" descr="ad_in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3364992"/>
            <a:ext cx="512064" cy="512064"/>
          </a:xfrm>
          <a:prstGeom prst="rect">
            <a:avLst/>
          </a:prstGeom>
        </p:spPr>
      </p:pic>
      <p:pic>
        <p:nvPicPr>
          <p:cNvPr id="67" name="Picture 66" descr="ad_resu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4233672"/>
            <a:ext cx="512064" cy="51206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25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4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4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4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4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4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422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814"/>
                            </p:stCondLst>
                            <p:childTnLst>
                              <p:par>
                                <p:cTn id="4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211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603"/>
                            </p:stCondLst>
                            <p:childTnLst>
                              <p:par>
                                <p:cTn id="5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33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3912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822960"/>
            <a:ext cx="4846320" cy="4206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4400" b="1" i="0" u="none">
                <a:solidFill>
                  <a:srgbClr val="0E2A47"/>
                </a:solidFill>
                <a:latin typeface="Montserrat"/>
                <a:ea typeface="Montserrat"/>
                <a:cs typeface="Montserrat"/>
              </a:rPr>
              <a:t>CONCLUSIONES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49240" y="1097280"/>
            <a:ext cx="0" cy="4297680"/>
          </a:xfrm>
          <a:prstGeom prst="line">
            <a:avLst/>
          </a:prstGeom>
          <a:ln w="31750">
            <a:solidFill>
              <a:srgbClr val="B98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577840" y="640080"/>
            <a:ext cx="5897880" cy="5120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marL="347472" indent="-347472" algn="l">
              <a:lnSpc>
                <a:spcPct val="100000"/>
              </a:lnSpc>
              <a:spcAft>
                <a:spcPts val="800"/>
              </a:spcAft>
              <a:buClr>
                <a:srgbClr val="B98A2E"/>
              </a:buClr>
              <a:buFont typeface="Arial"/>
              <a:buChar char="•"/>
            </a:pPr>
            <a:r>
              <a:rPr sz="2200" b="0" i="0" u="none">
                <a:solidFill>
                  <a:srgbClr val="182430"/>
                </a:solidFill>
                <a:latin typeface="Montserrat"/>
                <a:ea typeface="Montserrat"/>
                <a:cs typeface="Montserrat"/>
              </a:rPr>
              <a:t>Sin curso básico, instructor designado y programación autorizada </a:t>
            </a:r>
            <a:r>
              <a:rPr sz="2200" b="1" i="0" u="none">
                <a:solidFill>
                  <a:srgbClr val="182430"/>
                </a:solidFill>
                <a:latin typeface="Montserrat"/>
                <a:ea typeface="Montserrat"/>
                <a:cs typeface="Montserrat"/>
              </a:rPr>
              <a:t>no hay OJT</a:t>
            </a:r>
            <a:r>
              <a:rPr sz="2200" b="0" i="0" u="none">
                <a:solidFill>
                  <a:srgbClr val="182430"/>
                </a:solidFill>
                <a:latin typeface="Montserrat"/>
                <a:ea typeface="Montserrat"/>
                <a:cs typeface="Montserrat"/>
              </a:rPr>
              <a:t>.</a:t>
            </a:r>
          </a:p>
          <a:p>
            <a:pPr marL="347472" indent="-347472" algn="l">
              <a:lnSpc>
                <a:spcPct val="100000"/>
              </a:lnSpc>
              <a:spcAft>
                <a:spcPts val="800"/>
              </a:spcAft>
              <a:buClr>
                <a:srgbClr val="B98A2E"/>
              </a:buClr>
              <a:buFont typeface="Arial"/>
              <a:buChar char="•"/>
            </a:pPr>
            <a:r>
              <a:rPr sz="2200" b="0" i="0" u="none">
                <a:solidFill>
                  <a:srgbClr val="182430"/>
                </a:solidFill>
                <a:latin typeface="Montserrat"/>
                <a:ea typeface="Montserrat"/>
                <a:cs typeface="Montserrat"/>
              </a:rPr>
              <a:t>Cada nivel: evento, fecha y evidencia </a:t>
            </a:r>
            <a:r>
              <a:rPr sz="2200" b="1" i="0" u="none">
                <a:solidFill>
                  <a:srgbClr val="182430"/>
                </a:solidFill>
                <a:latin typeface="Montserrat"/>
                <a:ea typeface="Montserrat"/>
                <a:cs typeface="Montserrat"/>
              </a:rPr>
              <a:t>propios</a:t>
            </a:r>
            <a:r>
              <a:rPr sz="2200" b="0" i="0" u="none">
                <a:solidFill>
                  <a:srgbClr val="182430"/>
                </a:solidFill>
                <a:latin typeface="Montserrat"/>
                <a:ea typeface="Montserrat"/>
                <a:cs typeface="Montserrat"/>
              </a:rPr>
              <a:t>.</a:t>
            </a:r>
          </a:p>
          <a:p>
            <a:pPr marL="347472" indent="-347472" algn="l">
              <a:lnSpc>
                <a:spcPct val="100000"/>
              </a:lnSpc>
              <a:spcAft>
                <a:spcPts val="800"/>
              </a:spcAft>
              <a:buClr>
                <a:srgbClr val="B98A2E"/>
              </a:buClr>
              <a:buFont typeface="Arial"/>
              <a:buChar char="•"/>
            </a:pPr>
            <a:r>
              <a:rPr sz="2200" b="0" i="0" u="none">
                <a:solidFill>
                  <a:srgbClr val="182430"/>
                </a:solidFill>
                <a:latin typeface="Montserrat"/>
                <a:ea typeface="Montserrat"/>
                <a:cs typeface="Montserrat"/>
              </a:rPr>
              <a:t>La acreditación se limita a lo demostrado.</a:t>
            </a:r>
          </a:p>
          <a:p>
            <a:pPr marL="347472" indent="-347472" algn="l">
              <a:lnSpc>
                <a:spcPct val="100000"/>
              </a:lnSpc>
              <a:spcAft>
                <a:spcPts val="800"/>
              </a:spcAft>
              <a:buClr>
                <a:srgbClr val="B98A2E"/>
              </a:buClr>
              <a:buFont typeface="Arial"/>
              <a:buChar char="•"/>
            </a:pPr>
            <a:r>
              <a:rPr sz="2200" b="0" i="0" u="none">
                <a:solidFill>
                  <a:srgbClr val="182430"/>
                </a:solidFill>
                <a:latin typeface="Montserrat"/>
                <a:ea typeface="Montserrat"/>
                <a:cs typeface="Montserrat"/>
              </a:rPr>
              <a:t>Existen 24 especialidades IVA.</a:t>
            </a:r>
          </a:p>
          <a:p>
            <a:pPr marL="347472" indent="-347472" algn="l">
              <a:lnSpc>
                <a:spcPct val="100000"/>
              </a:lnSpc>
              <a:spcAft>
                <a:spcPts val="800"/>
              </a:spcAft>
              <a:buClr>
                <a:srgbClr val="B98A2E"/>
              </a:buClr>
              <a:buFont typeface="Arial"/>
              <a:buChar char="•"/>
            </a:pPr>
            <a:r>
              <a:rPr sz="2200" b="0" i="0" u="none">
                <a:solidFill>
                  <a:srgbClr val="182430"/>
                </a:solidFill>
                <a:latin typeface="Montserrat"/>
                <a:ea typeface="Montserrat"/>
                <a:cs typeface="Montserrat"/>
              </a:rPr>
              <a:t>Retoma tu reflexión inicial: la teoría </a:t>
            </a:r>
            <a:r>
              <a:rPr sz="2200" b="1" i="0" u="none">
                <a:solidFill>
                  <a:srgbClr val="0E2A47"/>
                </a:solidFill>
                <a:latin typeface="Montserrat"/>
                <a:ea typeface="Montserrat"/>
                <a:cs typeface="Montserrat"/>
              </a:rPr>
              <a:t>no basta</a:t>
            </a:r>
            <a:r>
              <a:rPr sz="2200" b="0" i="0" u="none">
                <a:solidFill>
                  <a:srgbClr val="182430"/>
                </a:solidFill>
                <a:latin typeface="Montserrat"/>
                <a:ea typeface="Montserrat"/>
                <a:cs typeface="Montserrat"/>
              </a:rPr>
              <a:t>; debes </a:t>
            </a:r>
            <a:r>
              <a:rPr sz="2200" b="1" i="0" u="none">
                <a:solidFill>
                  <a:srgbClr val="0E2A47"/>
                </a:solidFill>
                <a:latin typeface="Montserrat"/>
                <a:ea typeface="Montserrat"/>
                <a:cs typeface="Montserrat"/>
              </a:rPr>
              <a:t>demostrar cada tarea</a:t>
            </a:r>
            <a:r>
              <a:rPr sz="2200" b="0" i="0" u="none">
                <a:solidFill>
                  <a:srgbClr val="182430"/>
                </a:solidFill>
                <a:latin typeface="Montserrat"/>
                <a:ea typeface="Montserrat"/>
                <a:cs typeface="Montserrat"/>
              </a:rPr>
              <a:t>, nivel por nivel, </a:t>
            </a:r>
            <a:r>
              <a:rPr sz="2200" b="1" i="0" u="none">
                <a:solidFill>
                  <a:srgbClr val="0E2A47"/>
                </a:solidFill>
                <a:latin typeface="Montserrat"/>
                <a:ea typeface="Montserrat"/>
                <a:cs typeface="Montserrat"/>
              </a:rPr>
              <a:t>ante tu instructor OJT designado</a:t>
            </a:r>
            <a:r>
              <a:rPr sz="2200" b="0" i="0" u="none">
                <a:solidFill>
                  <a:srgbClr val="182430"/>
                </a:solidFill>
                <a:latin typeface="Montserrat"/>
                <a:ea typeface="Montserrat"/>
                <a:cs typeface="Montserrat"/>
              </a:rPr>
              <a:t>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2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867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82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45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909"/>
                            </p:stCondLst>
                            <p:childTnLst>
                              <p:par>
                                <p:cTn id="1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45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36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45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163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45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790"/>
                            </p:stCondLst>
                            <p:childTnLst>
                              <p:par>
                                <p:cTn id="3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45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pPr algn="ctr"/>
            <a:r>
              <a:rPr sz="3700" b="0" i="0" u="none">
                <a:solidFill>
                  <a:srgbClr val="0E2A47"/>
                </a:solidFill>
                <a:latin typeface="Montserrat SemiBold"/>
                <a:ea typeface="Montserrat SemiBold"/>
                <a:cs typeface="Montserrat SemiBold"/>
              </a:rPr>
              <a:t>¡Gracias!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15032</TotalTime>
  <Words>2708</Words>
  <Application>Microsoft Office PowerPoint</Application>
  <PresentationFormat>Panorámica</PresentationFormat>
  <Paragraphs>392</Paragraphs>
  <Slides>29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7" baseType="lpstr">
      <vt:lpstr>Aptos</vt:lpstr>
      <vt:lpstr>Aptos Display</vt:lpstr>
      <vt:lpstr>Arial</vt:lpstr>
      <vt:lpstr>Montserrat</vt:lpstr>
      <vt:lpstr>Montserrat Medium</vt:lpstr>
      <vt:lpstr>Montserrat SemiBold</vt:lpstr>
      <vt:lpstr>Noto Sans</vt:lpstr>
      <vt:lpstr>Tema de Office</vt:lpstr>
      <vt:lpstr>Módulo 2 Requisitos de implementación del Programa OJT Actualización del Manual de Entrenamiento en el Puesto de Trabajo</vt:lpstr>
      <vt:lpstr>ACTIVIDAD DE INICIO Para iniciar, reflexiona</vt:lpstr>
      <vt:lpstr>2.1 REQUISITOS GENERALES PARA LLEVAR A CABO EL ENTRENAMIENTO OJT Requisitos para realizar el OJT</vt:lpstr>
      <vt:lpstr>2.1 REQUISITOS GENERALES PARA LLEVAR A CABO EL ENTRENAMIENTO OJT Lista de verificación antes de iniciar</vt:lpstr>
      <vt:lpstr>2.2 NIVELES DE ENTRENAMIENTO OJT: NIVEL 1, NIVEL 2 Y NIVEL 3, Y CONVALIDACIÓN Tres niveles progresivos por tarea</vt:lpstr>
      <vt:lpstr>2.2 NIVELES DE ENTRENAMIENTO OJT: NIVEL 1, NIVEL 2 Y NIVEL 3, Y CONVALIDACIÓN Nivel 1: Conocimiento</vt:lpstr>
      <vt:lpstr>2.2 NIVELES DE ENTRENAMIENTO OJT: NIVEL 1, NIVEL 2 Y NIVEL 3, Y CONVALIDACIÓN Nivel 2: Demostración</vt:lpstr>
      <vt:lpstr>2.2 NIVELES DE ENTRENAMIENTO OJT: NIVEL 1, NIVEL 2 Y NIVEL 3, Y CONVALIDACIÓN Nivel 3: Ejecución supervisada</vt:lpstr>
      <vt:lpstr>2.2 NIVELES DE ENTRENAMIENTO OJT: NIVEL 1, NIVEL 2 Y NIVEL 3, Y CONVALIDACIÓN Una tarea, tres eventos distintos</vt:lpstr>
      <vt:lpstr>2.2 NIVELES DE ENTRENAMIENTO OJT: NIVEL 1, NIVEL 2 Y NIVEL 3, Y CONVALIDACIÓN Una tarea, tres eventos distintos</vt:lpstr>
      <vt:lpstr>2.2 NIVELES DE ENTRENAMIENTO OJT: NIVEL 1, NIVEL 2 Y NIVEL 3, Y CONVALIDACIÓN ¿Qué debe demostrar tu evidencia?</vt:lpstr>
      <vt:lpstr>2.2 NIVELES DE ENTRENAMIENTO OJT: NIVEL 1, NIVEL 2 Y NIVEL 3, Y CONVALIDACIÓN Lo que por sí solo no acredita un nivel</vt:lpstr>
      <vt:lpstr>2.2 NIVELES DE ENTRENAMIENTO OJT: NIVEL 1, NIVEL 2 Y NIVEL 3, Y CONVALIDACIÓN Situaciones especiales durante el evento</vt:lpstr>
      <vt:lpstr>2.2 NIVELES DE ENTRENAMIENTO OJT: NIVEL 1, NIVEL 2 Y NIVEL 3, Y CONVALIDACIÓN Situaciones especiales durante el evento</vt:lpstr>
      <vt:lpstr>2.2 NIVELES DE ENTRENAMIENTO OJT: NIVEL 1, NIVEL 2 Y NIVEL 3, Y CONVALIDACIÓN ¿Y si el resultado no es satisfactorio?</vt:lpstr>
      <vt:lpstr>2.2 NIVELES DE ENTRENAMIENTO OJT: NIVEL 1, NIVEL 2 Y NIVEL 3, Y CONVALIDACIÓN Alcance de tu aprobación</vt:lpstr>
      <vt:lpstr>2.2 NIVELES DE ENTRENAMIENTO OJT: NIVEL 1, NIVEL 2 Y NIVEL 3, Y CONVALIDACIÓN Convalidación del entrenamiento</vt:lpstr>
      <vt:lpstr>2.2 NIVELES DE ENTRENAMIENTO OJT: NIVEL 1, NIVEL 2 Y NIVEL 3, Y CONVALIDACIÓN Entrenamiento previo: convalidación</vt:lpstr>
      <vt:lpstr>2.2 NIVELES DE ENTRENAMIENTO OJT: NIVEL 1, NIVEL 2 Y NIVEL 3, Y CONVALIDACIÓN Convalidación paso a paso</vt:lpstr>
      <vt:lpstr>2.2 NIVELES DE ENTRENAMIENTO OJT: NIVEL 1, NIVEL 2 Y NIVEL 3, Y CONVALIDACIÓN ¿Qué evidencia sirve para convalidar?</vt:lpstr>
      <vt:lpstr>2.3 ESPECIALIDADES TÉCNICAS DEL PERSONAL IVA (24 ESPECIALIDADES) Especialidades técnicas del IVA (1 de 3)</vt:lpstr>
      <vt:lpstr>2.3 ESPECIALIDADES TÉCNICAS DEL PERSONAL IVA (24 ESPECIALIDADES) Especialidades técnicas del IVA (2 de 3)</vt:lpstr>
      <vt:lpstr>2.3 ESPECIALIDADES TÉCNICAS DEL PERSONAL IVA (24 ESPECIALIDADES) Especialidades técnicas del IVA (3 de 3)</vt:lpstr>
      <vt:lpstr>2.4 DESIGNACIÓN DE INSTRUCTORES OJT Y CRITERIOS DE SELECCIÓN ¿Quién designa a las figuras OJT?</vt:lpstr>
      <vt:lpstr>2.4 DESIGNACIÓN DE INSTRUCTORES OJT Y CRITERIOS DE SELECCIÓN Procedimiento de designación</vt:lpstr>
      <vt:lpstr>2.4 DESIGNACIÓN DE INSTRUCTORES OJT Y CRITERIOS DE SELECCIÓN Criterios para seleccionar instructores</vt:lpstr>
      <vt:lpstr>2.4 DESIGNACIÓN DE INSTRUCTORES OJT Y CRITERIOS DE SELECCIÓN Alcance de la designación</vt:lpstr>
      <vt:lpstr>Presentación de PowerPoint</vt:lpstr>
      <vt:lpstr>¡Gracias!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2 · Requisitos de implementación del Programa OJT</dc:title>
  <dc:creator>Jose Manuel Figueroa Hernandez</dc:creator>
  <cp:lastModifiedBy>Jose Manuel Figueroa Hernandez</cp:lastModifiedBy>
  <cp:revision>234</cp:revision>
  <dcterms:created xsi:type="dcterms:W3CDTF">2025-01-15T19:01:35Z</dcterms:created>
  <dcterms:modified xsi:type="dcterms:W3CDTF">2026-09-27T03:32:33Z</dcterms:modified>
</cp:coreProperties>
</file>