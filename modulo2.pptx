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3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92" r:id="rId10"/>
    <p:sldId id="301" r:id="rId11"/>
    <p:sldId id="293" r:id="rId12"/>
    <p:sldId id="294" r:id="rId13"/>
    <p:sldId id="300" r:id="rId14"/>
    <p:sldId id="295" r:id="rId15"/>
    <p:sldId id="291" r:id="rId16"/>
    <p:sldId id="296" r:id="rId17"/>
    <p:sldId id="302" r:id="rId18"/>
    <p:sldId id="277" r:id="rId19"/>
    <p:sldId id="297" r:id="rId20"/>
    <p:sldId id="298" r:id="rId21"/>
    <p:sldId id="278" r:id="rId22"/>
    <p:sldId id="279" r:id="rId23"/>
    <p:sldId id="280" r:id="rId24"/>
    <p:sldId id="281" r:id="rId25"/>
    <p:sldId id="282" r:id="rId26"/>
    <p:sldId id="283" r:id="rId27"/>
    <p:sldId id="299" r:id="rId28"/>
    <p:sldId id="286" r:id="rId29"/>
    <p:sldId id="290" r:id="rId30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9C16"/>
    <a:srgbClr val="156082"/>
    <a:srgbClr val="0B3041"/>
    <a:srgbClr val="CCCCFF"/>
    <a:srgbClr val="E4CDAC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65" d="100"/>
          <a:sy n="65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delSld modSld">
      <pc:chgData name="Jose Manuel Figueroa Hernandez" userId="c23fd2b0-07fd-455e-80a2-756e0be2378e" providerId="ADAL" clId="{19EAFD33-AF50-43D6-BF52-FC06C69CD06D}" dt="2026-09-23T22:15:07.545" v="14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22:13:23.744" v="0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22:13:24.796" v="1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22:13:25.681" v="2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22:13:27.921" v="3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22:13:28.839" v="4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22:13:29.764" v="5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22:13:30.751" v="6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22:14:18.880" v="9" actId="20577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22:14:18.880" v="9" actId="20577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22:14:35.506" v="10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22:14:37.349" v="11" actId="47"/>
        <pc:sldMkLst>
          <pc:docMk/>
          <pc:sldMk cId="0" sldId="265"/>
        </pc:sldMkLst>
      </pc:sldChg>
      <pc:sldChg chg="del">
        <pc:chgData name="Jose Manuel Figueroa Hernandez" userId="c23fd2b0-07fd-455e-80a2-756e0be2378e" providerId="ADAL" clId="{19EAFD33-AF50-43D6-BF52-FC06C69CD06D}" dt="2026-09-23T22:15:07.545" v="14" actId="47"/>
        <pc:sldMkLst>
          <pc:docMk/>
          <pc:sldMk cId="0" sldId="287"/>
        </pc:sldMkLst>
      </pc:sldChg>
      <pc:sldChg chg="del">
        <pc:chgData name="Jose Manuel Figueroa Hernandez" userId="c23fd2b0-07fd-455e-80a2-756e0be2378e" providerId="ADAL" clId="{19EAFD33-AF50-43D6-BF52-FC06C69CD06D}" dt="2026-09-23T22:15:04.497" v="12" actId="47"/>
        <pc:sldMkLst>
          <pc:docMk/>
          <pc:sldMk cId="0" sldId="288"/>
        </pc:sldMkLst>
      </pc:sldChg>
      <pc:sldChg chg="del">
        <pc:chgData name="Jose Manuel Figueroa Hernandez" userId="c23fd2b0-07fd-455e-80a2-756e0be2378e" providerId="ADAL" clId="{19EAFD33-AF50-43D6-BF52-FC06C69CD06D}" dt="2026-09-23T22:15:06.062" v="13" actId="47"/>
        <pc:sldMkLst>
          <pc:docMk/>
          <pc:sldMk cId="0" sldId="28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26/09/2026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Conclusiones del submódulo: integran los aspectos que el participante debe recordar y aplicar.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8.png"/><Relationship Id="rId4" Type="http://schemas.openxmlformats.org/officeDocument/2006/relationships/image" Target="../media/image7.png"/><Relationship Id="rId5" Type="http://schemas.openxmlformats.org/officeDocument/2006/relationships/image" Target="../media/image59.png"/><Relationship Id="rId6" Type="http://schemas.openxmlformats.org/officeDocument/2006/relationships/image" Target="../media/image40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103120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2</a:t>
            </a:r>
          </a:p>
          <a:p>
            <a:pPr algn="ctr">
              <a:spcAft>
                <a:spcPts val="800"/>
              </a:spcAft>
            </a:pP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Requisitos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implementación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co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6660" y="2034389"/>
            <a:ext cx="4342559" cy="33871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7040880" cy="37856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Aprobaste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lang="es-MX" sz="2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Consideras que con la teoría, basta para acreditar una tarea en campo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Qué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tendrías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demostrar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ante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y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compárala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2.1 REQUISITOS GENERALES PARA LLEVAR A CABO EL ENTRENAMIENTO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para realizar el OJT</a:t>
            </a:r>
          </a:p>
        </p:txBody>
      </p:sp>
      <p:sp>
        <p:nvSpPr>
          <p:cNvPr id="3" name="Oval 2"/>
          <p:cNvSpPr/>
          <p:nvPr/>
        </p:nvSpPr>
        <p:spPr>
          <a:xfrm>
            <a:off x="2144412" y="1589921"/>
            <a:ext cx="731520" cy="6640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4252" y="2378531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252" y="3125636"/>
            <a:ext cx="3291840" cy="215830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experiencia y conocimientos; designado por su área con anuencia del Director del CIAAC.</a:t>
            </a:r>
          </a:p>
        </p:txBody>
      </p:sp>
      <p:sp>
        <p:nvSpPr>
          <p:cNvPr id="6" name="Oval 5"/>
          <p:cNvSpPr/>
          <p:nvPr/>
        </p:nvSpPr>
        <p:spPr>
          <a:xfrm>
            <a:off x="5664852" y="1589921"/>
            <a:ext cx="731520" cy="6640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4692" y="2378531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Condiciones completas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4692" y="3125636"/>
            <a:ext cx="3291840" cy="215830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básico acreditado, programación autorizada y procedimientos vigentes.</a:t>
            </a:r>
          </a:p>
        </p:txBody>
      </p:sp>
      <p:sp>
        <p:nvSpPr>
          <p:cNvPr id="9" name="Oval 8"/>
          <p:cNvSpPr/>
          <p:nvPr/>
        </p:nvSpPr>
        <p:spPr>
          <a:xfrm>
            <a:off x="9185292" y="1589921"/>
            <a:ext cx="731520" cy="6640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5132" y="2378531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Todo se documenta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5132" y="3125636"/>
            <a:ext cx="3291840" cy="215830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 el expediente del IVA y en el Módulo OJT de la plataforma de la AFAC.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532120"/>
            <a:ext cx="1010412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falta cualquiera de estos requisitos,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el evento no puede realizarse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primero se regulariza y después se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532120"/>
            <a:ext cx="640080" cy="64008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151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763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2.1 REQUISITOS GENERALES PARA LLEVAR A CABO EL ENTRENAMIENTO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Lista de verificación antes de iniciar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93655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básico acreditado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793655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93655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designado para la tarea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9793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789793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 autorizada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89793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789793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Procedimientos vigentes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85934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3785934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Recursos disponibles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785934"/>
            <a:ext cx="731520" cy="747104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785934"/>
            <a:ext cx="4206240" cy="747104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 de desempeño definidos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906590"/>
            <a:ext cx="809244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 de cada evento, el instructor explica al aprendiz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 deberá demostrar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4.1, 4.2 y 5.2.</a:t>
            </a:r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11175"/>
            <a:ext cx="512064" cy="512064"/>
          </a:xfrm>
          <a:prstGeom prst="rect">
            <a:avLst/>
          </a:prstGeom>
        </p:spPr>
      </p:pic>
      <p:pic>
        <p:nvPicPr>
          <p:cNvPr id="73" name="Picture 72" descr="vc_ins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1911175"/>
            <a:ext cx="512064" cy="512064"/>
          </a:xfrm>
          <a:prstGeom prst="rect">
            <a:avLst/>
          </a:prstGeom>
        </p:spPr>
      </p:pic>
      <p:pic>
        <p:nvPicPr>
          <p:cNvPr id="74" name="Picture 73" descr="vc_pr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2352" y="2907313"/>
            <a:ext cx="512064" cy="512064"/>
          </a:xfrm>
          <a:prstGeom prst="rect">
            <a:avLst/>
          </a:prstGeom>
        </p:spPr>
      </p:pic>
      <p:pic>
        <p:nvPicPr>
          <p:cNvPr id="75" name="Picture 74" descr="vc_pr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5872" y="2907313"/>
            <a:ext cx="512064" cy="512064"/>
          </a:xfrm>
          <a:prstGeom prst="rect">
            <a:avLst/>
          </a:prstGeom>
        </p:spPr>
      </p:pic>
      <p:pic>
        <p:nvPicPr>
          <p:cNvPr id="76" name="Picture 75" descr="vc_r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2352" y="3903454"/>
            <a:ext cx="512064" cy="512064"/>
          </a:xfrm>
          <a:prstGeom prst="rect">
            <a:avLst/>
          </a:prstGeom>
        </p:spPr>
      </p:pic>
      <p:pic>
        <p:nvPicPr>
          <p:cNvPr id="77" name="Picture 76" descr="vc_cr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05872" y="3903454"/>
            <a:ext cx="512064" cy="512064"/>
          </a:xfrm>
          <a:prstGeom prst="rect">
            <a:avLst/>
          </a:prstGeom>
        </p:spPr>
      </p:pic>
      <p:pic>
        <p:nvPicPr>
          <p:cNvPr id="78" name="Picture 77" descr="vc_sce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4887308"/>
            <a:ext cx="2369127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47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3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89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86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228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25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67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464"/>
                            </p:stCondLst>
                            <p:childTnLst>
                              <p:par>
                                <p:cTn id="5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906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4303"/>
                            </p:stCondLst>
                            <p:childTnLst>
                              <p:par>
                                <p:cTn id="7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4745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5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142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5734"/>
                            </p:stCondLst>
                            <p:childTnLst>
                              <p:par>
                                <p:cTn id="9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6186"/>
                            </p:stCondLst>
                            <p:childTnLst>
                              <p:par>
                                <p:cTn id="10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6716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Tres niveles progresivos por tarea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2729" y="5429834"/>
            <a:ext cx="11046541" cy="62258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evalúa 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</a:t>
            </a:r>
            <a:r>
              <a:rPr lang="es-MX"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20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distinto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20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distinta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orden</a:t>
            </a:r>
            <a:r>
              <a:rPr lang="es-MX" sz="2000" b="1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progresivo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39198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4.2.1 a 4.2.4.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2F6B3575-A6D9-5A1C-682D-D9094278F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958" y="1598211"/>
            <a:ext cx="2905312" cy="3644846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80F4C99C-51DC-9CA5-30BB-B97A52EE5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2739" y="1606577"/>
            <a:ext cx="2905313" cy="3644847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D75D582-B020-7634-E416-9DC7E2DA37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606577"/>
            <a:ext cx="2905313" cy="3644846"/>
          </a:xfrm>
          <a:prstGeom prst="rect">
            <a:avLst/>
          </a:prstGeom>
        </p:spPr>
      </p:pic>
      <p:sp>
        <p:nvSpPr>
          <p:cNvPr id="23" name="Right Arrow 4">
            <a:extLst>
              <a:ext uri="{FF2B5EF4-FFF2-40B4-BE49-F238E27FC236}">
                <a16:creationId xmlns:a16="http://schemas.microsoft.com/office/drawing/2014/main" id="{31666E93-A23F-DE02-4FCC-15915E88A3B2}"/>
              </a:ext>
            </a:extLst>
          </p:cNvPr>
          <p:cNvSpPr/>
          <p:nvPr/>
        </p:nvSpPr>
        <p:spPr>
          <a:xfrm>
            <a:off x="3977639" y="3156612"/>
            <a:ext cx="320040" cy="415058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Arrow 4">
            <a:extLst>
              <a:ext uri="{FF2B5EF4-FFF2-40B4-BE49-F238E27FC236}">
                <a16:creationId xmlns:a16="http://schemas.microsoft.com/office/drawing/2014/main" id="{1D96FC85-594A-F834-91CB-38843C861F01}"/>
              </a:ext>
            </a:extLst>
          </p:cNvPr>
          <p:cNvSpPr/>
          <p:nvPr/>
        </p:nvSpPr>
        <p:spPr>
          <a:xfrm>
            <a:off x="8053112" y="3156612"/>
            <a:ext cx="320040" cy="415058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42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92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34"/>
                            </p:stCondLst>
                            <p:childTnLst>
                              <p:par>
                                <p:cTn id="2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914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89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 dirty="0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1: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Conocimiento</a:t>
            </a:r>
            <a:endParaRPr sz="28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88620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219"/>
            <a:ext cx="3886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Relaciona el curso básico con la tarea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 objetivo, fundamento, secuencia, recursos y seguridad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752149"/>
            <a:ext cx="388620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aprendiz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0" y="2250219"/>
            <a:ext cx="3886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Identifica propósito y alcance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Localiza las referencias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 secuencia, registros y límites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40567"/>
            <a:ext cx="1042416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 satisfactorio cuando: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instructor comprueba el conocimiento aplicado a la tarea.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No se acredita solo por un curso previo.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4.2.1.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1755648"/>
            <a:ext cx="2215763" cy="277977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8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5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8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2: Demostración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886200" cy="498069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219"/>
            <a:ext cx="3886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Ejecuta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Muestra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puntos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críticos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registros</a:t>
            </a:r>
            <a:endParaRPr lang="es-MX"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145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Emite recomendaciones al </a:t>
            </a:r>
            <a:r>
              <a:rPr lang="es-MX" sz="1450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aprendíz</a:t>
            </a:r>
            <a:r>
              <a:rPr lang="es-MX" sz="145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mejorar la tarea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800600" y="1752149"/>
            <a:ext cx="3886200" cy="498069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aprendiz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0" y="2250219"/>
            <a:ext cx="3886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coadyuvar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Explica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secuencia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observada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Identifica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145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puntos clave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precauciones</a:t>
            </a:r>
            <a:endParaRPr lang="es-MX"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145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 tarea nuevamente cuando existen recomendaciones</a:t>
            </a: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4740567"/>
            <a:ext cx="1042416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 satisfactorio cuando: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cubrió la demostración y el aprendiz demuestra comprensión.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Coadyuvar no acredita ejecución independiente.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4.2.2.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1755648"/>
            <a:ext cx="2215763" cy="277977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8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5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8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 3: Ejecución supervisada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886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50219"/>
            <a:ext cx="3886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Documenta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cualquier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intervención</a:t>
            </a:r>
            <a:endParaRPr lang="es-MX"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800600" y="1752149"/>
            <a:ext cx="3886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aprendiz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0" y="2250219"/>
            <a:ext cx="3886200" cy="2282819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t"/>
          <a:lstStyle/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Ejecuta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sus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Sustenta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sus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decisiones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l"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Usa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recursos</a:t>
            </a:r>
            <a:r>
              <a:rPr sz="14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autorizados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4740567"/>
            <a:ext cx="1042416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Es satisfactorio cuando: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cumple los criterios de aceptación y todas las subtareas aplicables.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La acreditación no se extiende a otras tareas.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4.2.3.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1755648"/>
            <a:ext cx="2215763" cy="277977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8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5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8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tarea, tres eventos distintos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41208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la R06,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misma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propio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distinta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orden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progresivo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937678" y="3608535"/>
            <a:ext cx="502920" cy="41148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 Arrow 8"/>
          <p:cNvSpPr/>
          <p:nvPr/>
        </p:nvSpPr>
        <p:spPr>
          <a:xfrm>
            <a:off x="7897669" y="3608535"/>
            <a:ext cx="502920" cy="41148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4.2.4 a) a d).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CA753B9E-2CFC-7577-3A27-8552D46A4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59" y="2260975"/>
            <a:ext cx="3345568" cy="3106600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4603C401-8617-4EF6-1EEE-86B858530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349" y="2239814"/>
            <a:ext cx="3345569" cy="3106600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A3E528C7-CE54-7B0D-7E36-02691DD89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6340" y="2239814"/>
            <a:ext cx="3322780" cy="3085439"/>
          </a:xfrm>
          <a:prstGeom prst="rect">
            <a:avLst/>
          </a:prstGeom>
        </p:spPr>
      </p:pic>
      <p:sp>
        <p:nvSpPr>
          <p:cNvPr id="33" name="Rounded Rectangle 17">
            <a:extLst>
              <a:ext uri="{FF2B5EF4-FFF2-40B4-BE49-F238E27FC236}">
                <a16:creationId xmlns:a16="http://schemas.microsoft.com/office/drawing/2014/main" id="{B8581955-9230-2C49-C489-6851AA7CA990}"/>
              </a:ext>
            </a:extLst>
          </p:cNvPr>
          <p:cNvSpPr/>
          <p:nvPr/>
        </p:nvSpPr>
        <p:spPr>
          <a:xfrm>
            <a:off x="1051560" y="5425926"/>
            <a:ext cx="10104120" cy="8686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siguiente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 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solo se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cuando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anterior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tiene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aprobación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técnica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Si un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 tarea de un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dura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varias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jornadas, se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sus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fechas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reales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conclusión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34" name="Oval 18">
            <a:extLst>
              <a:ext uri="{FF2B5EF4-FFF2-40B4-BE49-F238E27FC236}">
                <a16:creationId xmlns:a16="http://schemas.microsoft.com/office/drawing/2014/main" id="{2743D928-1DC0-2E4B-2C56-6141A0E631F1}"/>
              </a:ext>
            </a:extLst>
          </p:cNvPr>
          <p:cNvSpPr/>
          <p:nvPr/>
        </p:nvSpPr>
        <p:spPr>
          <a:xfrm>
            <a:off x="731520" y="5471646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25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67"/>
                            </p:stCondLst>
                            <p:childTnLst>
                              <p:par>
                                <p:cTn id="1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417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59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639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1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0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15CA-6D52-8539-65AE-7AC8B9051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F9AF0-0B95-AC27-883C-242EAE45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tarea, tres eventos distintos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4ABCBE-2069-2FD8-4D9C-513317F33E20}"/>
              </a:ext>
            </a:extLst>
          </p:cNvPr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4.2.4 a) a d).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30CB198C-9131-9EE3-1B58-4EDE793265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144" y="2118481"/>
            <a:ext cx="3783213" cy="3242754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CEB8054-CDFE-C9B1-5FD2-5439D6BE47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7964" y="2118481"/>
            <a:ext cx="3809764" cy="3265512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5EB7C533-8355-6425-F3F3-18E8158366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068" y="2143109"/>
            <a:ext cx="3754480" cy="321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111075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3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1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24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debe demostrar tu evidencia?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evento necesita evidencia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pertinente, auténtica y suficiente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Al revisarla, debe responder estas preguntas: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89888" y="237744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749808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</a:t>
            </a: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participó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algn="l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identificados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4251960" y="26517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10328" y="237744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749808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</a:t>
            </a: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actividad realizaste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algn="l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actuación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concreta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26517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30768" y="237744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749808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¿En qué tarea y nivel?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su código y denominación.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3192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89888" y="365760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749808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¿En qué evento y fecha?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Fechas reales, no las de la comisión.</a:t>
            </a:r>
          </a:p>
        </p:txBody>
      </p:sp>
      <p:sp>
        <p:nvSpPr>
          <p:cNvPr id="12" name="Oval 11"/>
          <p:cNvSpPr/>
          <p:nvPr/>
        </p:nvSpPr>
        <p:spPr>
          <a:xfrm>
            <a:off x="4251960" y="393192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0328" y="365760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749808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¿Bajo qué supervisión?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instrucción o supervisión recibida.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393192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65760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749808" bIns="128016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¿Con qué resultado?</a:t>
            </a:r>
          </a:p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Satisfactorio, pendiente o no satisfactorio.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07492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Copiar un documento, cambiarle el nombre o cargarlo en otro apartado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lo convierte en evidencia de otro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07492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4.2.4 e), g) y h).</a:t>
            </a:r>
          </a:p>
        </p:txBody>
      </p:sp>
      <p:pic>
        <p:nvPicPr>
          <p:cNvPr id="79" name="Picture 78" descr="ev_qui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566928" cy="566928"/>
          </a:xfrm>
          <a:prstGeom prst="rect">
            <a:avLst/>
          </a:prstGeom>
        </p:spPr>
      </p:pic>
      <p:pic>
        <p:nvPicPr>
          <p:cNvPr id="80" name="Picture 79" descr="ev_q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2642616"/>
            <a:ext cx="566928" cy="566928"/>
          </a:xfrm>
          <a:prstGeom prst="rect">
            <a:avLst/>
          </a:prstGeom>
        </p:spPr>
      </p:pic>
      <p:pic>
        <p:nvPicPr>
          <p:cNvPr id="81" name="Picture 80" descr="ev_tar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2642616"/>
            <a:ext cx="566928" cy="566928"/>
          </a:xfrm>
          <a:prstGeom prst="rect">
            <a:avLst/>
          </a:prstGeom>
        </p:spPr>
      </p:pic>
      <p:pic>
        <p:nvPicPr>
          <p:cNvPr id="82" name="Picture 81" descr="ev_fech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3922776"/>
            <a:ext cx="566928" cy="566928"/>
          </a:xfrm>
          <a:prstGeom prst="rect">
            <a:avLst/>
          </a:prstGeom>
        </p:spPr>
      </p:pic>
      <p:pic>
        <p:nvPicPr>
          <p:cNvPr id="83" name="Picture 82" descr="ev_sup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922776"/>
            <a:ext cx="566928" cy="566928"/>
          </a:xfrm>
          <a:prstGeom prst="rect">
            <a:avLst/>
          </a:prstGeom>
        </p:spPr>
      </p:pic>
      <p:pic>
        <p:nvPicPr>
          <p:cNvPr id="84" name="Picture 83" descr="ev_resu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5872" y="3922776"/>
            <a:ext cx="566928" cy="56692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79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446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913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380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847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4314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781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248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715"/>
                            </p:stCondLst>
                            <p:childTnLst>
                              <p:par>
                                <p:cTn id="7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6182"/>
                            </p:stCondLst>
                            <p:childTnLst>
                              <p:par>
                                <p:cTn id="8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879"/>
                            </p:stCondLst>
                            <p:childTnLst>
                              <p:par>
                                <p:cTn id="9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7491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 que por sí solo no acredita un nivel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elementos forman parte del proceso, pero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ninguno demuestra por sí solo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realizaste la tarea: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53312" y="23774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64008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La programación del evento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37744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3752" y="23774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64008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Tu asistencia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37744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94192" y="23774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64008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El tiempo transcurrido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53312" y="33375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64008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Un oficio de comisión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333756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73752" y="33375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64008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Una constancia de curso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337560"/>
            <a:ext cx="548640" cy="731520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333756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640080" bIns="13716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Cargar documentos al Módulo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34840"/>
            <a:ext cx="548640" cy="914400"/>
          </a:xfrm>
          <a:prstGeom prst="roundRect">
            <a:avLst>
              <a:gd name="adj" fmla="val 15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3312" y="4434840"/>
            <a:ext cx="9802368" cy="91440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Lo que sí acredita el nivel: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evaluación satisfactoria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instructor,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 propia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evento y registrada en tu formato y bitácora.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4.2.4 g), 4.2.5 y 4.11.2.</a:t>
            </a:r>
          </a:p>
        </p:txBody>
      </p:sp>
      <p:pic>
        <p:nvPicPr>
          <p:cNvPr id="81" name="Picture 80" descr="na_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864" y="2505456"/>
            <a:ext cx="475488" cy="475488"/>
          </a:xfrm>
          <a:prstGeom prst="rect">
            <a:avLst/>
          </a:prstGeom>
        </p:spPr>
      </p:pic>
      <p:pic>
        <p:nvPicPr>
          <p:cNvPr id="82" name="Picture 81" descr="na_as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304" y="2505456"/>
            <a:ext cx="475488" cy="475488"/>
          </a:xfrm>
          <a:prstGeom prst="rect">
            <a:avLst/>
          </a:prstGeom>
        </p:spPr>
      </p:pic>
      <p:pic>
        <p:nvPicPr>
          <p:cNvPr id="83" name="Picture 82" descr="na_tiem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4744" y="2505456"/>
            <a:ext cx="475488" cy="475488"/>
          </a:xfrm>
          <a:prstGeom prst="rect">
            <a:avLst/>
          </a:prstGeom>
        </p:spPr>
      </p:pic>
      <p:pic>
        <p:nvPicPr>
          <p:cNvPr id="84" name="Picture 83" descr="na_ofic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3465576"/>
            <a:ext cx="475488" cy="475488"/>
          </a:xfrm>
          <a:prstGeom prst="rect">
            <a:avLst/>
          </a:prstGeom>
        </p:spPr>
      </p:pic>
      <p:pic>
        <p:nvPicPr>
          <p:cNvPr id="85" name="Picture 84" descr="na_con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4304" y="3465576"/>
            <a:ext cx="475488" cy="475488"/>
          </a:xfrm>
          <a:prstGeom prst="rect">
            <a:avLst/>
          </a:prstGeom>
        </p:spPr>
      </p:pic>
      <p:pic>
        <p:nvPicPr>
          <p:cNvPr id="86" name="Picture 85" descr="na_n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4744" y="3465576"/>
            <a:ext cx="475488" cy="47548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79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446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913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380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847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4314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781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248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715"/>
                            </p:stCondLst>
                            <p:childTnLst>
                              <p:par>
                                <p:cTn id="7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6182"/>
                            </p:stCondLst>
                            <p:childTnLst>
                              <p:par>
                                <p:cTn id="8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6649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7146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7621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87CBE-6D2C-2DD5-5056-027F1D19E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94644-5294-7A64-CA13-311481901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Situaciones especiales durante el evento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81B647-CAA1-4B7E-220A-C511EEB3E5CE}"/>
              </a:ext>
            </a:extLst>
          </p:cNvPr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Durante el entrenamiento pueden presentarse estas situaciones. Así se tratan: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F2454BC-97EF-48A2-33A4-C0E6578505EB}"/>
              </a:ext>
            </a:extLst>
          </p:cNvPr>
          <p:cNvSpPr/>
          <p:nvPr/>
        </p:nvSpPr>
        <p:spPr>
          <a:xfrm>
            <a:off x="731520" y="2471825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Prácticas</a:t>
            </a:r>
            <a:r>
              <a:rPr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con </a:t>
            </a: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ayuda</a:t>
            </a:r>
            <a:endParaRPr sz="20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3549A82-99EA-584B-AF4C-68A3F2B7CAF4}"/>
              </a:ext>
            </a:extLst>
          </p:cNvPr>
          <p:cNvSpPr/>
          <p:nvPr/>
        </p:nvSpPr>
        <p:spPr>
          <a:xfrm>
            <a:off x="731520" y="2929025"/>
            <a:ext cx="5120640" cy="3270607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B4F7CE-11B8-9F23-DED2-28EB6394D45C}"/>
              </a:ext>
            </a:extLst>
          </p:cNvPr>
          <p:cNvSpPr txBox="1"/>
          <p:nvPr/>
        </p:nvSpPr>
        <p:spPr>
          <a:xfrm>
            <a:off x="914400" y="3002177"/>
            <a:ext cx="4754880" cy="9233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Son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; no se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confunden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la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final del Nivel 3.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C0020DD8-7D70-4608-5CC2-1D8BF918DB09}"/>
              </a:ext>
            </a:extLst>
          </p:cNvPr>
          <p:cNvCxnSpPr/>
          <p:nvPr/>
        </p:nvCxnSpPr>
        <p:spPr>
          <a:xfrm>
            <a:off x="914400" y="4015394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4B7FBC5-9DC5-7983-B5A7-D45A13FEFE5A}"/>
              </a:ext>
            </a:extLst>
          </p:cNvPr>
          <p:cNvSpPr txBox="1"/>
          <p:nvPr/>
        </p:nvSpPr>
        <p:spPr>
          <a:xfrm>
            <a:off x="914400" y="4149597"/>
            <a:ext cx="4754880" cy="7386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tus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primeras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inspecciones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de rampa el instructor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te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guía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paso a paso; la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evaluación</a:t>
            </a:r>
            <a:r>
              <a:rPr lang="es-MX"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del Nivel 3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es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cuando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realizas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cuenta</a:t>
            </a:r>
            <a:r>
              <a:rPr sz="14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FE1B72-D56F-C676-303D-5485D1ADF1C8}"/>
              </a:ext>
            </a:extLst>
          </p:cNvPr>
          <p:cNvSpPr/>
          <p:nvPr/>
        </p:nvSpPr>
        <p:spPr>
          <a:xfrm>
            <a:off x="6035040" y="2471825"/>
            <a:ext cx="5120640" cy="704088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El instructor </a:t>
            </a: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interviene</a:t>
            </a:r>
            <a:r>
              <a:rPr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en</a:t>
            </a:r>
            <a:r>
              <a:rPr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la </a:t>
            </a: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</a:t>
            </a:r>
            <a:r>
              <a:rPr lang="es-MX"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del Nivel 3</a:t>
            </a:r>
            <a:endParaRPr sz="20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0BDC4D7-B289-0CED-D271-B98817486032}"/>
              </a:ext>
            </a:extLst>
          </p:cNvPr>
          <p:cNvSpPr/>
          <p:nvPr/>
        </p:nvSpPr>
        <p:spPr>
          <a:xfrm>
            <a:off x="6035040" y="3175913"/>
            <a:ext cx="5120640" cy="3023719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00D8C6-9504-9C7D-AF08-5EDB17DD9452}"/>
              </a:ext>
            </a:extLst>
          </p:cNvPr>
          <p:cNvSpPr txBox="1"/>
          <p:nvPr/>
        </p:nvSpPr>
        <p:spPr>
          <a:xfrm>
            <a:off x="6217920" y="3208653"/>
            <a:ext cx="4754880" cy="9233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resuelve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decisión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sustantiva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ejecuta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correspondía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lo </a:t>
            </a:r>
            <a:r>
              <a:rPr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Nivel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3 </a:t>
            </a:r>
            <a:r>
              <a:rPr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se </a:t>
            </a:r>
            <a:r>
              <a:rPr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</a:t>
            </a:r>
            <a:r>
              <a:rPr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38455E23-DFC6-E9FB-5EF8-DF1FEA8DE5A4}"/>
              </a:ext>
            </a:extLst>
          </p:cNvPr>
          <p:cNvCxnSpPr/>
          <p:nvPr/>
        </p:nvCxnSpPr>
        <p:spPr>
          <a:xfrm>
            <a:off x="6217920" y="4221863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11ED62C-E73C-9A89-07E1-F818629C0826}"/>
              </a:ext>
            </a:extLst>
          </p:cNvPr>
          <p:cNvSpPr txBox="1"/>
          <p:nvPr/>
        </p:nvSpPr>
        <p:spPr>
          <a:xfrm>
            <a:off x="6217920" y="4311833"/>
            <a:ext cx="4754880" cy="7386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: no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identificas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si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discrepancia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amerita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observación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y el instructor lo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determina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;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esa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parte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pendiente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B8CC92-8ADD-635D-54A1-3B41E0F4DE3B}"/>
              </a:ext>
            </a:extLst>
          </p:cNvPr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4.2.3 y 4.2.5.</a:t>
            </a:r>
          </a:p>
        </p:txBody>
      </p:sp>
      <p:pic>
        <p:nvPicPr>
          <p:cNvPr id="54" name="Picture 53" descr="sc_ay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869" y="5230368"/>
            <a:ext cx="2443942" cy="896112"/>
          </a:xfrm>
          <a:prstGeom prst="rect">
            <a:avLst/>
          </a:prstGeom>
        </p:spPr>
      </p:pic>
      <p:pic>
        <p:nvPicPr>
          <p:cNvPr id="55" name="Picture 54" descr="sc_inter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389" y="5230368"/>
            <a:ext cx="2443942" cy="896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076161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12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59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124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489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  <p:bldP spid="9" grpId="0" animBg="1"/>
      <p:bldP spid="11" grpId="0" animBg="1"/>
      <p:bldP spid="1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Situaciones especiales durante el evento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11938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Interrupción</a:t>
            </a:r>
            <a:r>
              <a:rPr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externa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69138"/>
            <a:ext cx="5120640" cy="3130494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142290"/>
            <a:ext cx="4754880" cy="9233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pendiente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conclusión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causa; no se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califica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falta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4273488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4445536"/>
            <a:ext cx="4754880" cy="7386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: se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cancela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vuelo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ibas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inspeccionar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; el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reprograma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sin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afectar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resultado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2611938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20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Riesgo de </a:t>
            </a:r>
            <a:r>
              <a:rPr sz="20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seguridad</a:t>
            </a:r>
            <a:endParaRPr sz="20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035040" y="3069137"/>
            <a:ext cx="5120640" cy="3130495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3142290"/>
            <a:ext cx="4754880" cy="9233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instructor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interviene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o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suspende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actividad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deja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constancia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lo </a:t>
            </a:r>
            <a:r>
              <a:rPr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ocurrido</a:t>
            </a:r>
            <a:r>
              <a:rPr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17920" y="4258738"/>
            <a:ext cx="4754880" cy="0"/>
          </a:xfrm>
          <a:prstGeom prst="line">
            <a:avLst/>
          </a:prstGeom>
          <a:ln w="9525">
            <a:solidFill>
              <a:srgbClr val="D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17920" y="4414929"/>
            <a:ext cx="4754880" cy="7386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Ejemplo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: hay combustible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derramado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plataforma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y el instructor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detiene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inspección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hasta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sea </a:t>
            </a:r>
            <a:r>
              <a:rPr sz="1400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seguro</a:t>
            </a:r>
            <a:r>
              <a:rPr sz="14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4.2.3 y 4.2.5.</a:t>
            </a:r>
          </a:p>
        </p:txBody>
      </p:sp>
      <p:pic>
        <p:nvPicPr>
          <p:cNvPr id="50" name="Picture 49" descr="sc_can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869" y="5230368"/>
            <a:ext cx="2443942" cy="896112"/>
          </a:xfrm>
          <a:prstGeom prst="rect">
            <a:avLst/>
          </a:prstGeom>
        </p:spPr>
      </p:pic>
      <p:pic>
        <p:nvPicPr>
          <p:cNvPr id="51" name="Picture 50" descr="sc_ries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389" y="5230368"/>
            <a:ext cx="2443942" cy="8961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87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334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599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64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8" grpId="0" animBg="1"/>
      <p:bldP spid="19" grpId="0" animBg="1"/>
      <p:bldP spid="21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7">
            <a:extLst>
              <a:ext uri="{FF2B5EF4-FFF2-40B4-BE49-F238E27FC236}">
                <a16:creationId xmlns:a16="http://schemas.microsoft.com/office/drawing/2014/main" id="{145BDB81-99C8-B494-6D46-E58474007F07}"/>
              </a:ext>
            </a:extLst>
          </p:cNvPr>
          <p:cNvSpPr/>
          <p:nvPr/>
        </p:nvSpPr>
        <p:spPr>
          <a:xfrm>
            <a:off x="731520" y="18288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 del nivel</a:t>
            </a:r>
          </a:p>
        </p:txBody>
      </p:sp>
      <p:sp>
        <p:nvSpPr>
          <p:cNvPr id="4" name="Right Arrow 18">
            <a:extLst>
              <a:ext uri="{FF2B5EF4-FFF2-40B4-BE49-F238E27FC236}">
                <a16:creationId xmlns:a16="http://schemas.microsoft.com/office/drawing/2014/main" id="{DC3F7369-1EC3-30A8-32A2-675AA198B31D}"/>
              </a:ext>
            </a:extLst>
          </p:cNvPr>
          <p:cNvSpPr/>
          <p:nvPr/>
        </p:nvSpPr>
        <p:spPr>
          <a:xfrm>
            <a:off x="3200400" y="2103120"/>
            <a:ext cx="411480" cy="36576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iamond 19">
            <a:extLst>
              <a:ext uri="{FF2B5EF4-FFF2-40B4-BE49-F238E27FC236}">
                <a16:creationId xmlns:a16="http://schemas.microsoft.com/office/drawing/2014/main" id="{1D01423A-CBA3-1F27-2A00-DA23D185BFE0}"/>
              </a:ext>
            </a:extLst>
          </p:cNvPr>
          <p:cNvSpPr/>
          <p:nvPr/>
        </p:nvSpPr>
        <p:spPr>
          <a:xfrm>
            <a:off x="3611880" y="1645920"/>
            <a:ext cx="2103120" cy="1280160"/>
          </a:xfrm>
          <a:prstGeom prst="diamond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¿Aprueba?</a:t>
            </a:r>
          </a:p>
        </p:txBody>
      </p:sp>
      <p:sp>
        <p:nvSpPr>
          <p:cNvPr id="6" name="Right Arrow 20">
            <a:extLst>
              <a:ext uri="{FF2B5EF4-FFF2-40B4-BE49-F238E27FC236}">
                <a16:creationId xmlns:a16="http://schemas.microsoft.com/office/drawing/2014/main" id="{E0C3B1EB-C76A-3FF1-4E4A-886BE6A9A433}"/>
              </a:ext>
            </a:extLst>
          </p:cNvPr>
          <p:cNvSpPr/>
          <p:nvPr/>
        </p:nvSpPr>
        <p:spPr>
          <a:xfrm>
            <a:off x="5760720" y="2103120"/>
            <a:ext cx="685800" cy="365760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1">
            <a:extLst>
              <a:ext uri="{FF2B5EF4-FFF2-40B4-BE49-F238E27FC236}">
                <a16:creationId xmlns:a16="http://schemas.microsoft.com/office/drawing/2014/main" id="{A76E0F2B-CC80-8F7E-F059-23FDE94048A7}"/>
              </a:ext>
            </a:extLst>
          </p:cNvPr>
          <p:cNvSpPr txBox="1"/>
          <p:nvPr/>
        </p:nvSpPr>
        <p:spPr>
          <a:xfrm>
            <a:off x="5669280" y="1645920"/>
            <a:ext cx="8686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2F7A4D"/>
                </a:solidFill>
                <a:latin typeface="Montserrat SemiBold"/>
                <a:ea typeface="Montserrat SemiBold"/>
                <a:cs typeface="Montserrat SemiBold"/>
              </a:rPr>
              <a:t>Sí</a:t>
            </a:r>
          </a:p>
        </p:txBody>
      </p:sp>
      <p:sp>
        <p:nvSpPr>
          <p:cNvPr id="8" name="Rounded Rectangle 22">
            <a:extLst>
              <a:ext uri="{FF2B5EF4-FFF2-40B4-BE49-F238E27FC236}">
                <a16:creationId xmlns:a16="http://schemas.microsoft.com/office/drawing/2014/main" id="{1B0DF589-9FC8-6E62-460F-220B73054A9E}"/>
              </a:ext>
            </a:extLst>
          </p:cNvPr>
          <p:cNvSpPr/>
          <p:nvPr/>
        </p:nvSpPr>
        <p:spPr>
          <a:xfrm>
            <a:off x="6583680" y="182880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 registra y el siguiente nivel se programa en fecha posterior</a:t>
            </a:r>
          </a:p>
        </p:txBody>
      </p:sp>
      <p:cxnSp>
        <p:nvCxnSpPr>
          <p:cNvPr id="9" name="Connector 23">
            <a:extLst>
              <a:ext uri="{FF2B5EF4-FFF2-40B4-BE49-F238E27FC236}">
                <a16:creationId xmlns:a16="http://schemas.microsoft.com/office/drawing/2014/main" id="{5E1BD780-CC59-3115-40D2-53E42676CDDD}"/>
              </a:ext>
            </a:extLst>
          </p:cNvPr>
          <p:cNvCxnSpPr/>
          <p:nvPr/>
        </p:nvCxnSpPr>
        <p:spPr>
          <a:xfrm>
            <a:off x="4663440" y="2926080"/>
            <a:ext cx="0" cy="228600"/>
          </a:xfrm>
          <a:prstGeom prst="line">
            <a:avLst/>
          </a:prstGeom>
          <a:ln w="31750">
            <a:solidFill>
              <a:srgbClr val="9A73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24">
            <a:extLst>
              <a:ext uri="{FF2B5EF4-FFF2-40B4-BE49-F238E27FC236}">
                <a16:creationId xmlns:a16="http://schemas.microsoft.com/office/drawing/2014/main" id="{7319B220-C273-8460-6DD8-30399DE5C762}"/>
              </a:ext>
            </a:extLst>
          </p:cNvPr>
          <p:cNvCxnSpPr/>
          <p:nvPr/>
        </p:nvCxnSpPr>
        <p:spPr>
          <a:xfrm flipH="1">
            <a:off x="1920240" y="3154680"/>
            <a:ext cx="2743200" cy="0"/>
          </a:xfrm>
          <a:prstGeom prst="line">
            <a:avLst/>
          </a:prstGeom>
          <a:ln w="31750">
            <a:solidFill>
              <a:srgbClr val="9A73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25">
            <a:extLst>
              <a:ext uri="{FF2B5EF4-FFF2-40B4-BE49-F238E27FC236}">
                <a16:creationId xmlns:a16="http://schemas.microsoft.com/office/drawing/2014/main" id="{CD32AC51-4519-EA9B-E1E1-9FD4C052D094}"/>
              </a:ext>
            </a:extLst>
          </p:cNvPr>
          <p:cNvCxnSpPr/>
          <p:nvPr/>
        </p:nvCxnSpPr>
        <p:spPr>
          <a:xfrm>
            <a:off x="1920240" y="3154680"/>
            <a:ext cx="0" cy="338328"/>
          </a:xfrm>
          <a:prstGeom prst="line">
            <a:avLst/>
          </a:prstGeom>
          <a:ln w="31750">
            <a:solidFill>
              <a:srgbClr val="9A73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26">
            <a:extLst>
              <a:ext uri="{FF2B5EF4-FFF2-40B4-BE49-F238E27FC236}">
                <a16:creationId xmlns:a16="http://schemas.microsoft.com/office/drawing/2014/main" id="{DB3E18A9-DC56-B3CB-8673-43846A504804}"/>
              </a:ext>
            </a:extLst>
          </p:cNvPr>
          <p:cNvSpPr txBox="1"/>
          <p:nvPr/>
        </p:nvSpPr>
        <p:spPr>
          <a:xfrm>
            <a:off x="4754880" y="2862072"/>
            <a:ext cx="731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No</a:t>
            </a:r>
          </a:p>
        </p:txBody>
      </p:sp>
      <p:sp>
        <p:nvSpPr>
          <p:cNvPr id="13" name="Rounded Rectangle 27">
            <a:extLst>
              <a:ext uri="{FF2B5EF4-FFF2-40B4-BE49-F238E27FC236}">
                <a16:creationId xmlns:a16="http://schemas.microsoft.com/office/drawing/2014/main" id="{216988C1-92E2-F0E7-E748-82804429B12B}"/>
              </a:ext>
            </a:extLst>
          </p:cNvPr>
          <p:cNvSpPr/>
          <p:nvPr/>
        </p:nvSpPr>
        <p:spPr>
          <a:xfrm>
            <a:off x="73152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Brechas y retroalimentación</a:t>
            </a:r>
          </a:p>
        </p:txBody>
      </p:sp>
      <p:sp>
        <p:nvSpPr>
          <p:cNvPr id="14" name="Right Arrow 28">
            <a:extLst>
              <a:ext uri="{FF2B5EF4-FFF2-40B4-BE49-F238E27FC236}">
                <a16:creationId xmlns:a16="http://schemas.microsoft.com/office/drawing/2014/main" id="{D54385E2-CB61-55B7-9FAC-8F6EC729CA85}"/>
              </a:ext>
            </a:extLst>
          </p:cNvPr>
          <p:cNvSpPr/>
          <p:nvPr/>
        </p:nvSpPr>
        <p:spPr>
          <a:xfrm>
            <a:off x="3136391" y="3822191"/>
            <a:ext cx="228600" cy="310896"/>
          </a:xfrm>
          <a:prstGeom prst="right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500DB928-6337-D194-9AC9-B83778A68B79}"/>
              </a:ext>
            </a:extLst>
          </p:cNvPr>
          <p:cNvSpPr/>
          <p:nvPr/>
        </p:nvSpPr>
        <p:spPr>
          <a:xfrm>
            <a:off x="338328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Reforzamiento</a:t>
            </a:r>
          </a:p>
        </p:txBody>
      </p:sp>
      <p:sp>
        <p:nvSpPr>
          <p:cNvPr id="16" name="Right Arrow 30">
            <a:extLst>
              <a:ext uri="{FF2B5EF4-FFF2-40B4-BE49-F238E27FC236}">
                <a16:creationId xmlns:a16="http://schemas.microsoft.com/office/drawing/2014/main" id="{41327433-7D2D-656A-1005-D08EADC0B242}"/>
              </a:ext>
            </a:extLst>
          </p:cNvPr>
          <p:cNvSpPr/>
          <p:nvPr/>
        </p:nvSpPr>
        <p:spPr>
          <a:xfrm>
            <a:off x="5788152" y="3822191"/>
            <a:ext cx="228600" cy="310896"/>
          </a:xfrm>
          <a:prstGeom prst="right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31">
            <a:extLst>
              <a:ext uri="{FF2B5EF4-FFF2-40B4-BE49-F238E27FC236}">
                <a16:creationId xmlns:a16="http://schemas.microsoft.com/office/drawing/2014/main" id="{13B989CE-8EF3-BE57-0493-642D81985DA0}"/>
              </a:ext>
            </a:extLst>
          </p:cNvPr>
          <p:cNvSpPr/>
          <p:nvPr/>
        </p:nvSpPr>
        <p:spPr>
          <a:xfrm>
            <a:off x="603504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Reprogramación por el ICOJT</a:t>
            </a:r>
          </a:p>
        </p:txBody>
      </p:sp>
      <p:sp>
        <p:nvSpPr>
          <p:cNvPr id="18" name="Right Arrow 32">
            <a:extLst>
              <a:ext uri="{FF2B5EF4-FFF2-40B4-BE49-F238E27FC236}">
                <a16:creationId xmlns:a16="http://schemas.microsoft.com/office/drawing/2014/main" id="{0D3FF324-CB35-688B-7BA7-3114960200C3}"/>
              </a:ext>
            </a:extLst>
          </p:cNvPr>
          <p:cNvSpPr/>
          <p:nvPr/>
        </p:nvSpPr>
        <p:spPr>
          <a:xfrm>
            <a:off x="8439912" y="3822191"/>
            <a:ext cx="228600" cy="310896"/>
          </a:xfrm>
          <a:prstGeom prst="rightArrow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33">
            <a:extLst>
              <a:ext uri="{FF2B5EF4-FFF2-40B4-BE49-F238E27FC236}">
                <a16:creationId xmlns:a16="http://schemas.microsoft.com/office/drawing/2014/main" id="{F7BFCEE8-6D56-A044-7B16-D86C0F7EB037}"/>
              </a:ext>
            </a:extLst>
          </p:cNvPr>
          <p:cNvSpPr/>
          <p:nvPr/>
        </p:nvSpPr>
        <p:spPr>
          <a:xfrm>
            <a:off x="8686800" y="35204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9A7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Nueva evaluación</a:t>
            </a:r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05EF59B3-4D15-4855-013B-CF38FAA094A2}"/>
              </a:ext>
            </a:extLst>
          </p:cNvPr>
          <p:cNvSpPr txBox="1"/>
          <p:nvPr/>
        </p:nvSpPr>
        <p:spPr>
          <a:xfrm>
            <a:off x="731520" y="4910168"/>
            <a:ext cx="10424160" cy="124517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Interrupción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externa: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pendiente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no es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falta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Hasta 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2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reprogramaciones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adicionales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causa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1" name="TextBox 16">
            <a:extLst>
              <a:ext uri="{FF2B5EF4-FFF2-40B4-BE49-F238E27FC236}">
                <a16:creationId xmlns:a16="http://schemas.microsoft.com/office/drawing/2014/main" id="{4EDEF350-C6FA-82AF-E0F8-A045DF8E7BE7}"/>
              </a:ext>
            </a:extLst>
          </p:cNvPr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g), 3.4.8 y 4.2.5.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998C54F6-B797-D919-A377-F8EB55F15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 dirty="0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¿Y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</a:t>
            </a:r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el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resultado</a:t>
            </a:r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no es </a:t>
            </a:r>
            <a:r>
              <a:rPr sz="2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satisfactorio</a:t>
            </a:r>
            <a:r>
              <a:rPr sz="2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1497749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45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87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12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7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749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274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69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139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534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4976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371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813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6208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665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7175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7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  <p:bldP spid="12" grpId="0" animBg="1"/>
      <p:bldP spid="13" grpId="0" animBg="1"/>
      <p:bldP spid="15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 de tu aprobación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Cuando apruebas un nivel,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aprobación técnica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instructor identifica exactamente lo que demostraste: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4937760" cy="50292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Tu aprobación identifica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6400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30168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6400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nivel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88536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6400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demostradas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46904"/>
            <a:ext cx="4937760" cy="566928"/>
          </a:xfrm>
          <a:prstGeom prst="roundRect">
            <a:avLst>
              <a:gd name="adj" fmla="val 12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64008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condiciones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 que lo hiciste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377440"/>
            <a:ext cx="5120640" cy="50292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Pero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71800"/>
            <a:ext cx="5120640" cy="786384"/>
          </a:xfrm>
          <a:prstGeom prst="roundRect">
            <a:avLst>
              <a:gd name="adj" fmla="val 12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toda tu especialidad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849624"/>
            <a:ext cx="5120640" cy="786384"/>
          </a:xfrm>
          <a:prstGeom prst="roundRect">
            <a:avLst>
              <a:gd name="adj" fmla="val 12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 designa como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727448"/>
            <a:ext cx="5120640" cy="786384"/>
          </a:xfrm>
          <a:prstGeom prst="roundRect">
            <a:avLst>
              <a:gd name="adj" fmla="val 12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777240" bIns="182880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 autoriza por sí sola a ejercer funciones de forma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autónoma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669280"/>
            <a:ext cx="101041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desempeño autónomo lo asigna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autoridad competente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solo dentro del alcance que completaste.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4.2.6 y apartado de Definiciones.</a:t>
            </a:r>
          </a:p>
        </p:txBody>
      </p:sp>
      <p:pic>
        <p:nvPicPr>
          <p:cNvPr id="57" name="Picture 56" descr="al_t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3044952"/>
            <a:ext cx="420624" cy="420624"/>
          </a:xfrm>
          <a:prstGeom prst="rect">
            <a:avLst/>
          </a:prstGeom>
        </p:spPr>
      </p:pic>
      <p:pic>
        <p:nvPicPr>
          <p:cNvPr id="58" name="Picture 57" descr="al_ni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3703320"/>
            <a:ext cx="420624" cy="420624"/>
          </a:xfrm>
          <a:prstGeom prst="rect">
            <a:avLst/>
          </a:prstGeom>
        </p:spPr>
      </p:pic>
      <p:pic>
        <p:nvPicPr>
          <p:cNvPr id="59" name="Picture 58" descr="al_sub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361688"/>
            <a:ext cx="420624" cy="420624"/>
          </a:xfrm>
          <a:prstGeom prst="rect">
            <a:avLst/>
          </a:prstGeom>
        </p:spPr>
      </p:pic>
      <p:pic>
        <p:nvPicPr>
          <p:cNvPr id="60" name="Picture 59" descr="al_co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928" y="5020056"/>
            <a:ext cx="420624" cy="420624"/>
          </a:xfrm>
          <a:prstGeom prst="rect">
            <a:avLst/>
          </a:prstGeom>
        </p:spPr>
      </p:pic>
      <p:pic>
        <p:nvPicPr>
          <p:cNvPr id="61" name="Picture 60" descr="al_esp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3090672"/>
            <a:ext cx="548640" cy="548640"/>
          </a:xfrm>
          <a:prstGeom prst="rect">
            <a:avLst/>
          </a:prstGeom>
        </p:spPr>
      </p:pic>
      <p:pic>
        <p:nvPicPr>
          <p:cNvPr id="62" name="Picture 61" descr="al_inst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7312" y="3968496"/>
            <a:ext cx="548640" cy="548640"/>
          </a:xfrm>
          <a:prstGeom prst="rect">
            <a:avLst/>
          </a:prstGeom>
        </p:spPr>
      </p:pic>
      <p:pic>
        <p:nvPicPr>
          <p:cNvPr id="63" name="Picture 62" descr="al_aut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97312" y="48463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2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209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821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 del entrenamiento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6537960" cy="2327234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37160" cy="2172774"/>
          </a:xfrm>
          <a:prstGeom prst="rect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755648"/>
            <a:ext cx="6126480" cy="217277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 u="none" dirty="0">
                <a:solidFill>
                  <a:srgbClr val="9A7323"/>
                </a:solidFill>
                <a:latin typeface="Montserrat"/>
                <a:ea typeface="Montserrat"/>
                <a:cs typeface="Montserrat"/>
              </a:rPr>
              <a:t>DEFINICIÓN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Convalidación</a:t>
            </a:r>
            <a:r>
              <a:rPr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: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Reconocimiento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documentado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entrenamiento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previo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,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por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tarea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y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nivel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,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mediante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evaluación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antecedentes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y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evidencias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conforme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a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los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numerales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4.4 y 4.5.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Conserva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las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fechas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reales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los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b="0" i="0" u="none" dirty="0" err="1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eventos</a:t>
            </a:r>
            <a:r>
              <a:rPr b="0" i="0" u="none" dirty="0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y 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no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sustituye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actividades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 no </a:t>
            </a:r>
            <a:r>
              <a:rPr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demostradas</a:t>
            </a:r>
            <a:r>
              <a:rPr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"/>
                <a:ea typeface="Montserrat"/>
                <a:cs typeface="Montserrat"/>
              </a:rPr>
              <a:t>.</a:t>
            </a:r>
          </a:p>
        </p:txBody>
      </p:sp>
      <p:pic>
        <p:nvPicPr>
          <p:cNvPr id="6" name="Picture 5" descr="conv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70840"/>
            <a:ext cx="3172968" cy="1986554"/>
          </a:xfrm>
          <a:prstGeom prst="rect">
            <a:avLst/>
          </a:prstGeom>
        </p:spPr>
      </p:pic>
      <p:pic>
        <p:nvPicPr>
          <p:cNvPr id="7" name="Picture 6" descr="conv_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4170840"/>
            <a:ext cx="3172968" cy="1986554"/>
          </a:xfrm>
          <a:prstGeom prst="rect">
            <a:avLst/>
          </a:prstGeom>
        </p:spPr>
      </p:pic>
      <p:pic>
        <p:nvPicPr>
          <p:cNvPr id="8" name="Picture 7" descr="conv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645920"/>
            <a:ext cx="3573684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definición de Convalidación; numerales 4.4 y 4.5.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8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82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84"/>
                            </p:stCondLst>
                            <p:childTnLst>
                              <p:par>
                                <p:cTn id="2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41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Entrenamiento previo: convalidación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81081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Modalidad 1: Formato OJT anterior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5029200" cy="1577220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00200" tIns="228600" rIns="228600" bIns="22860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examina el entrenamiento ya documentado, con sus firmas y evidencias originales.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81081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Modalidad 2: Evidencia documental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416242"/>
            <a:ext cx="5029200" cy="1577220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00200" tIns="228600" rIns="228600" bIns="22860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examinan actividades previas por tarea, nivel, evento y fecha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42497"/>
            <a:ext cx="10424160" cy="12105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22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antigüedad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sí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sola no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r>
              <a:rPr lang="es-MX"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2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Hay que </a:t>
            </a:r>
            <a:r>
              <a:rPr lang="es-MX"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demostrar</a:t>
            </a:r>
            <a:r>
              <a:rPr lang="es-MX" sz="22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lang="es-MX"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documentos</a:t>
            </a:r>
            <a:r>
              <a:rPr lang="es-MX" sz="22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se ha realizado una tarea.</a:t>
            </a:r>
            <a:endParaRPr sz="22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sustento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se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brecha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entrenamiento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4.4 y 4.5 (P-DCIA-CPEPT-02-R04).</a:t>
            </a:r>
          </a:p>
        </p:txBody>
      </p:sp>
      <p:pic>
        <p:nvPicPr>
          <p:cNvPr id="30" name="Picture 29" descr="ep_forma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56212"/>
            <a:ext cx="1097280" cy="1097280"/>
          </a:xfrm>
          <a:prstGeom prst="rect">
            <a:avLst/>
          </a:prstGeom>
        </p:spPr>
      </p:pic>
      <p:pic>
        <p:nvPicPr>
          <p:cNvPr id="31" name="Picture 30" descr="ep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656212"/>
            <a:ext cx="109728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84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959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ya realizaste entrenamiento antes del formato vigente, este es el camino para que se reconozca:</a:t>
            </a:r>
          </a:p>
        </p:txBody>
      </p:sp>
      <p:sp>
        <p:nvSpPr>
          <p:cNvPr id="4" name="Oval 3"/>
          <p:cNvSpPr/>
          <p:nvPr/>
        </p:nvSpPr>
        <p:spPr>
          <a:xfrm>
            <a:off x="144475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Entrega el formato anterior o la evidencia documental.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87752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4787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 / IOJT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que cumpla los criterios por tarea y nivel.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90871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65099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59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 / 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59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procede, lo asienta en el formato vigente con la leyenda «convalidación».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93992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754111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79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 del área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79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Rubrica, firma y autoriza el formato convalidado.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1" y="3566160"/>
            <a:ext cx="219456" cy="31089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57232" y="2286000"/>
            <a:ext cx="457200" cy="4572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83464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291840"/>
            <a:ext cx="1828800" cy="13258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 autorizado.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800600"/>
            <a:ext cx="10424160" cy="548640"/>
          </a:xfrm>
          <a:prstGeom prst="roundRect">
            <a:avLst>
              <a:gd name="adj" fmla="val 15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A3352C"/>
                </a:solidFill>
                <a:latin typeface="Montserrat Medium"/>
                <a:ea typeface="Montserrat Medium"/>
                <a:cs typeface="Montserrat Medium"/>
              </a:rPr>
              <a:t>Si no procede: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devuelven los documentos y se programa el entrenamiento pendiente (desde el Nivel 1 si no se acredita ninguno).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486400"/>
            <a:ext cx="1010412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del dictamen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 sustituye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real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entrenamiento: ambas se conservan por separado.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5486400"/>
            <a:ext cx="566928" cy="56692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4.4 y 4.5 (P-DCIA-CPEPT-02-R04).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22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14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11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603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0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392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789"/>
                            </p:stCondLst>
                            <p:childTnLst>
                              <p:par>
                                <p:cTn id="8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181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678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403"/>
                            </p:stCondLst>
                            <p:childTnLst>
                              <p:par>
                                <p:cTn id="10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6015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2.2 NIVELES DE ENTRENAMIENTO OJT: NIVEL 1, NIVEL 2 Y NIVEL 3, Y CONVALIDACIÓN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evidencia sirve para convalidar?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quieras convalidar necesitas una evidencia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específica, suficiente y trazable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evento.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5120640" cy="50292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Sí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Formato OJT anterior completo: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nombres, firmas, iniciales y fecha por tarea y nivel.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04487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Documentos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oficiales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donde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conste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participación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acta de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verificación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lang="es-MX"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lista de verificación (</a:t>
            </a:r>
            <a:r>
              <a:rPr lang="es-MX"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check</a:t>
            </a:r>
            <a:r>
              <a:rPr lang="es-MX"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list</a:t>
            </a:r>
            <a:r>
              <a:rPr lang="es-MX"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) 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acta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circunstanciada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plan de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vuelo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entre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otros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37176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fecha, nombre y firma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AP y la tarea claramente identificable.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377440"/>
            <a:ext cx="5120640" cy="50292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Por sí solo no basta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971800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Oficio de comisión: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solo notifica que fuiste comisionado.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904487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Constancia de curso: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solo acredita la instrucción teórica.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837176"/>
            <a:ext cx="5120640" cy="841248"/>
          </a:xfrm>
          <a:prstGeom prst="roundRect">
            <a:avLst>
              <a:gd name="adj" fmla="val 10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Antigüedad: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experiencia debe estar documentada por tarea y nivel.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5806440"/>
            <a:ext cx="10104120" cy="47548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evidencia de un evento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sirve para otro nivel ni para otra tarea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806440"/>
            <a:ext cx="475488" cy="47548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4.4 y 4.5.7.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209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21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2.3 ESPECIALIDADES TÉCNICAS DEL PERSONAL IVA (24 ESPECIALIDADES)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Especialidades técnicas del IVA (1 de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lang="es-MX" sz="160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</a:t>
            </a: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icencias</a:t>
            </a:r>
            <a:endParaRPr sz="16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Licencias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Escuelas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3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Exámenes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8593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78593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39" y="378593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 Lingüística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17208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4317208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39" y="4317208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Médico Evaluador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Operaciones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Operaciones Tierra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IVA-OMP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Mercancías Peligrosas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Operaciones Vuelo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378593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78593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IVA-OC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59" y="378593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Operaciones Cabina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4.3 (conforme a la Carta de Política vigente). Agrupación didáctica.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1560" y="5120640"/>
            <a:ext cx="101041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formato OJT y tus bitácoras corresponden 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tu especialidad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cada una tiene su propio catálogo de tareas en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Anexo 1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MEPT.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120640"/>
            <a:ext cx="685800" cy="6858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133" name="Picture 132" descr="es_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781012"/>
            <a:ext cx="274320" cy="274320"/>
          </a:xfrm>
          <a:prstGeom prst="rect">
            <a:avLst/>
          </a:prstGeom>
        </p:spPr>
      </p:pic>
      <p:pic>
        <p:nvPicPr>
          <p:cNvPr id="134" name="Picture 133" descr="es_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781012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987"/>
                            </p:stCondLst>
                            <p:childTnLst>
                              <p:par>
                                <p:cTn id="7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5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45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684"/>
                            </p:stCondLst>
                            <p:childTnLst>
                              <p:par>
                                <p:cTn id="1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6" dur="7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296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2.3 ESPECIALIDADES TÉCNICAS DEL PERSONAL IVA (24 ESPECIALIDADES)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Especialidades técnicas del IVA (2 de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Aeronavegabilidad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Aeronavegabilidad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Ingeniería y Producción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Navegación aérea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Información Aeronáutica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IVA-CNS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Comunicaciones, Navegación y Vigilancia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Tránsito Aéreo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78593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78593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IVA-PANS-OPS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378593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de Procedimientos de Vuelo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4317208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4317208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IVA-MET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9" y="4317208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Meteorología Aeronáutica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4848482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848482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IVA-CARTAS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4848482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Cartografía Aeronáutica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4.3 (conforme a la Carta de Política vigente). Agrupación didáctica.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5440680"/>
            <a:ext cx="10104120" cy="6583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numeración y las claves son las del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numeral 4.3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MEPT; la agrupación por áreas es solo para facilitar tu estudio.</a:t>
            </a:r>
          </a:p>
        </p:txBody>
      </p:sp>
      <p:sp>
        <p:nvSpPr>
          <p:cNvPr id="31" name="Oval 30"/>
          <p:cNvSpPr/>
          <p:nvPr/>
        </p:nvSpPr>
        <p:spPr>
          <a:xfrm>
            <a:off x="731520" y="5440680"/>
            <a:ext cx="658368" cy="65836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121" name="Picture 120" descr="es_a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781012"/>
            <a:ext cx="274320" cy="274320"/>
          </a:xfrm>
          <a:prstGeom prst="rect">
            <a:avLst/>
          </a:prstGeom>
        </p:spPr>
      </p:pic>
      <p:pic>
        <p:nvPicPr>
          <p:cNvPr id="122" name="Picture 121" descr="es_na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781012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987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684"/>
                            </p:stCondLst>
                            <p:childTnLst>
                              <p:par>
                                <p:cTn id="1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296"/>
                            </p:stCondLst>
                            <p:childTnLst>
                              <p:par>
                                <p:cTn id="1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2.3 ESPECIALIDADES TÉCNICAS DEL PERSONAL IVA (24 ESPECIALIDADES)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Especialidades técnicas del IVA (3 de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Aeródromos y seguridad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Aeródromos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IVA-AVSEC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Seguridad de la Aviación Civil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5465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25465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IVA-SMS/SSP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39" y="325465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Sistemas de Gestión de Seguridad Operacional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710643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192110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192110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92110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 Formación Técnica Aeronáutica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723385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723385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2723385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de OJT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51957"/>
            <a:ext cx="5029200" cy="41505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Jurídico y económico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33424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433424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IV-JL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39" y="4433424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Jurídico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Legal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64699"/>
            <a:ext cx="457200" cy="464865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5C6B7A"/>
                </a:solidFill>
                <a:latin typeface="Montserrat SemiBold"/>
                <a:ea typeface="Montserrat SemiBold"/>
                <a:cs typeface="Montserrat SemiBold"/>
              </a:rPr>
              <a:t>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4964699"/>
            <a:ext cx="1600200" cy="464865"/>
          </a:xfrm>
          <a:prstGeom prst="roundRect">
            <a:avLst>
              <a:gd name="adj" fmla="val 15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IV-TTA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34639" y="4964699"/>
            <a:ext cx="2926080" cy="464865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Tarifas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Regulación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Económica</a:t>
            </a:r>
            <a:endParaRPr sz="1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4.3 (conforme a la Carta de Política vigente). Agrupación didáctica.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3429000"/>
            <a:ext cx="4846320" cy="14630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especialidades de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Accidentes e Incidentes (AIG)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Búsqueda y Salvamento (SAR)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atienden a solicitud de la DAAIA de la SICT. Una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nueva especialidad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solicita a la Dirección del CIAAC.</a:t>
            </a:r>
          </a:p>
        </p:txBody>
      </p:sp>
      <p:sp>
        <p:nvSpPr>
          <p:cNvPr id="29" name="Oval 28"/>
          <p:cNvSpPr/>
          <p:nvPr/>
        </p:nvSpPr>
        <p:spPr>
          <a:xfrm>
            <a:off x="5989320" y="377190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114" name="Picture 113" descr="es_ad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781012"/>
            <a:ext cx="274320" cy="274320"/>
          </a:xfrm>
          <a:prstGeom prst="rect">
            <a:avLst/>
          </a:prstGeom>
        </p:spPr>
      </p:pic>
      <p:pic>
        <p:nvPicPr>
          <p:cNvPr id="115" name="Picture 114" descr="es_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781012"/>
            <a:ext cx="274320" cy="274320"/>
          </a:xfrm>
          <a:prstGeom prst="rect">
            <a:avLst/>
          </a:prstGeom>
        </p:spPr>
      </p:pic>
      <p:pic>
        <p:nvPicPr>
          <p:cNvPr id="116" name="Picture 115" descr="es_ju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4022326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987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454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45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151"/>
                            </p:stCondLst>
                            <p:childTnLst>
                              <p:par>
                                <p:cTn id="1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763"/>
                            </p:stCondLst>
                            <p:childTnLst>
                              <p:par>
                                <p:cTn id="1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¿Quién designa a las figuras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8301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titulares de las Direcciones Ejecutivas, de Área y Comandancias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(AICM, AIFA y Regionales), a solicitud del CIAAC por medio de la CPEPT.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Uno por Dirección de área. Nivel de Enlace a Subdirector. ≥ 1 año en el programa OJT.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ICOJT-S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Suplente: apoya al ICOJT en sus ausencias.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Uno o más, según las necesidades del área.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706783"/>
            <a:ext cx="246888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287864"/>
            <a:ext cx="2468880" cy="232432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Uno o más, según las necesidades del área.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669280"/>
            <a:ext cx="1010412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titulares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sus instructores; la CPEPT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valida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cada perfil cumpla los criterios del MEPT.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669280"/>
            <a:ext cx="566928" cy="56692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46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143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755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Procedimiento de designación</a:t>
            </a:r>
          </a:p>
        </p:txBody>
      </p:sp>
      <p:sp>
        <p:nvSpPr>
          <p:cNvPr id="3" name="Oval 2"/>
          <p:cNvSpPr/>
          <p:nvPr/>
        </p:nvSpPr>
        <p:spPr>
          <a:xfrm>
            <a:off x="164592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solicita la designación</a:t>
            </a:r>
          </a:p>
        </p:txBody>
      </p:sp>
      <p:sp>
        <p:nvSpPr>
          <p:cNvPr id="5" name="Oval 4"/>
          <p:cNvSpPr/>
          <p:nvPr/>
        </p:nvSpPr>
        <p:spPr>
          <a:xfrm>
            <a:off x="429768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área propone por oficio</a:t>
            </a:r>
          </a:p>
        </p:txBody>
      </p:sp>
      <p:sp>
        <p:nvSpPr>
          <p:cNvPr id="7" name="Oval 6"/>
          <p:cNvSpPr/>
          <p:nvPr/>
        </p:nvSpPr>
        <p:spPr>
          <a:xfrm>
            <a:off x="694944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revisa el expediente</a:t>
            </a:r>
          </a:p>
        </p:txBody>
      </p:sp>
      <p:sp>
        <p:nvSpPr>
          <p:cNvPr id="9" name="Oval 8"/>
          <p:cNvSpPr/>
          <p:nvPr/>
        </p:nvSpPr>
        <p:spPr>
          <a:xfrm>
            <a:off x="9601200" y="1835161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41624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Coord. de Programas corrobora datos</a:t>
            </a:r>
          </a:p>
        </p:txBody>
      </p:sp>
      <p:sp>
        <p:nvSpPr>
          <p:cNvPr id="11" name="Oval 10"/>
          <p:cNvSpPr/>
          <p:nvPr/>
        </p:nvSpPr>
        <p:spPr>
          <a:xfrm>
            <a:off x="164592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 emite oficio de aprobación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área notifica al IVA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IVA acusa de recibo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0" y="3619909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200992"/>
            <a:ext cx="23774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lang="es-MX" sz="16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Acuse se archiva en el expediente, así como el informe trimestral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87672"/>
            <a:ext cx="1042416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Si hay </a:t>
            </a:r>
            <a:r>
              <a:rPr sz="1600" b="0" i="0" u="none" dirty="0" err="1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inconsistencias</a:t>
            </a: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600" b="0" i="0" u="none" dirty="0" err="1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perfil</a:t>
            </a:r>
            <a:r>
              <a:rPr lang="es-MX"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del IVA</a:t>
            </a: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, la CPEPT </a:t>
            </a:r>
            <a:r>
              <a:rPr sz="1600" b="0" i="0" u="none" dirty="0" err="1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emite</a:t>
            </a: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oficio</a:t>
            </a: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sz="1600" b="0" i="0" u="none" dirty="0" err="1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observaciones</a:t>
            </a:r>
            <a:r>
              <a:rPr sz="1600" b="0" i="0" u="none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4.7 (P-DCIA-CPEPT-03-R04).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322"/>
                            </p:stCondLst>
                            <p:childTnLst>
                              <p:par>
                                <p:cTn id="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789"/>
                            </p:stCondLst>
                            <p:childTnLst>
                              <p:par>
                                <p:cTn id="6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286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4761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Criterios para seleccionar instructores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244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Técnicos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244" y="233322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Instructor OJT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aprobado</a:t>
            </a:r>
            <a:endParaRPr sz="1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23244" y="3163346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 básico o recurrente de la especialidad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244" y="3993463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5 años en la especialidad o 1 año continuo en la actividad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244" y="482357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 OJT acreditados en las tareas que impartirá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6764" y="175214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Actitudinales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6764" y="233322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Comunicación, escucha y paciencia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6764" y="3163346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Interés en la capacitación OJT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6764" y="3993463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Respeto por sus compañeros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6764" y="4823579"/>
            <a:ext cx="5029200" cy="73050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7724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Disposición a seguir las directrices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4.8.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5623560"/>
            <a:ext cx="10104120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antigüedad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los demás requisitos: también debes haber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acreditado los niveles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las tareas que impartirás.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623560"/>
            <a:ext cx="621792" cy="6217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57" name="Picture 56" descr="cr_cur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260" y="2442448"/>
            <a:ext cx="512064" cy="512064"/>
          </a:xfrm>
          <a:prstGeom prst="rect">
            <a:avLst/>
          </a:prstGeom>
        </p:spPr>
      </p:pic>
      <p:pic>
        <p:nvPicPr>
          <p:cNvPr id="58" name="Picture 57" descr="cr_bas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260" y="3272565"/>
            <a:ext cx="512064" cy="512064"/>
          </a:xfrm>
          <a:prstGeom prst="rect">
            <a:avLst/>
          </a:prstGeom>
        </p:spPr>
      </p:pic>
      <p:pic>
        <p:nvPicPr>
          <p:cNvPr id="59" name="Picture 58" descr="cr_ani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260" y="4102682"/>
            <a:ext cx="512064" cy="512064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260" y="4932798"/>
            <a:ext cx="512064" cy="512064"/>
          </a:xfrm>
          <a:prstGeom prst="rect">
            <a:avLst/>
          </a:prstGeom>
        </p:spPr>
      </p:pic>
      <p:pic>
        <p:nvPicPr>
          <p:cNvPr id="61" name="Picture 60" descr="cr_com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4780" y="2442448"/>
            <a:ext cx="512064" cy="512064"/>
          </a:xfrm>
          <a:prstGeom prst="rect">
            <a:avLst/>
          </a:prstGeom>
        </p:spPr>
      </p:pic>
      <p:pic>
        <p:nvPicPr>
          <p:cNvPr id="62" name="Picture 61" descr="cr_inter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4780" y="3272565"/>
            <a:ext cx="512064" cy="512064"/>
          </a:xfrm>
          <a:prstGeom prst="rect">
            <a:avLst/>
          </a:prstGeom>
        </p:spPr>
      </p:pic>
      <p:pic>
        <p:nvPicPr>
          <p:cNvPr id="63" name="Picture 62" descr="cr_respet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4780" y="4102682"/>
            <a:ext cx="512064" cy="512064"/>
          </a:xfrm>
          <a:prstGeom prst="rect">
            <a:avLst/>
          </a:prstGeom>
        </p:spPr>
      </p:pic>
      <p:pic>
        <p:nvPicPr>
          <p:cNvPr id="64" name="Picture 63" descr="cr_dire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4780" y="4932798"/>
            <a:ext cx="512064" cy="512064"/>
          </a:xfrm>
          <a:prstGeom prst="rect">
            <a:avLst/>
          </a:prstGeom>
        </p:spPr>
      </p:pic>
      <p:pic>
        <p:nvPicPr>
          <p:cNvPr id="65" name="Picture 64" descr="crh_te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6124" y="1854879"/>
            <a:ext cx="292608" cy="292608"/>
          </a:xfrm>
          <a:prstGeom prst="rect">
            <a:avLst/>
          </a:prstGeom>
        </p:spPr>
      </p:pic>
      <p:pic>
        <p:nvPicPr>
          <p:cNvPr id="66" name="Picture 65" descr="crh_ac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9644" y="1854879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47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44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141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638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235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732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229"/>
                            </p:stCondLst>
                            <p:childTnLst>
                              <p:par>
                                <p:cTn id="6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726"/>
                            </p:stCondLst>
                            <p:childTnLst>
                              <p:par>
                                <p:cTn id="7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223"/>
                            </p:stCondLst>
                            <p:childTnLst>
                              <p:par>
                                <p:cTn id="8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5920"/>
                            </p:stCondLst>
                            <p:childTnLst>
                              <p:par>
                                <p:cTn id="9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6532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2.4 DESIGNACIÓN DE INSTRUCTORES OJT Y CRITERIOS DE SELECCIÓN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 de la designación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designación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indica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instruir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instructor. Ese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alcance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cuando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existe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200400" cy="749808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Cambios de procedimientos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46120"/>
            <a:ext cx="3200400" cy="749808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Inactividad que afecte la competencia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3200400" cy="749808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Resultados insuficientes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3063240"/>
            <a:ext cx="548640" cy="45720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754880" y="2514600"/>
            <a:ext cx="292608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Revisión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17520"/>
            <a:ext cx="292608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ICOJT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apoyo del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IPOJT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revisa el alcance del instructor.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18120" y="3063240"/>
            <a:ext cx="548640" cy="45720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503920" y="2514600"/>
            <a:ext cx="2651760" cy="50292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Resultado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3017520"/>
            <a:ext cx="2651760" cy="150876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Reforzamiento o reevaluación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antes de continuar con esas tareas.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120640"/>
            <a:ext cx="10104120" cy="8229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hay un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impedimento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</a:t>
            </a:r>
            <a:r>
              <a:rPr lang="es-MX"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instuir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imparcialidad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se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comunica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asignar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otro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1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Tener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acceso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Módulo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como instructor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equivale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14350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4.8 y 3.4.2 n).</a:t>
            </a:r>
          </a:p>
        </p:txBody>
      </p:sp>
      <p:pic>
        <p:nvPicPr>
          <p:cNvPr id="65" name="Picture 64" descr="ad_p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496312"/>
            <a:ext cx="512064" cy="512064"/>
          </a:xfrm>
          <a:prstGeom prst="rect">
            <a:avLst/>
          </a:prstGeom>
        </p:spPr>
      </p:pic>
      <p:pic>
        <p:nvPicPr>
          <p:cNvPr id="66" name="Picture 65" descr="ad_in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364992"/>
            <a:ext cx="512064" cy="512064"/>
          </a:xfrm>
          <a:prstGeom prst="rect">
            <a:avLst/>
          </a:prstGeom>
        </p:spPr>
      </p:pic>
      <p:pic>
        <p:nvPicPr>
          <p:cNvPr id="67" name="Picture 66" descr="ad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233672"/>
            <a:ext cx="512064" cy="5120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22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814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211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603"/>
                            </p:stCondLst>
                            <p:childTnLst>
                              <p:par>
                                <p:cTn id="5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30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912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822960"/>
            <a:ext cx="4846320" cy="4206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CONCLUSIONES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49240" y="1097280"/>
            <a:ext cx="0" cy="4297680"/>
          </a:xfrm>
          <a:prstGeom prst="line">
            <a:avLst/>
          </a:prstGeom>
          <a:ln w="31750">
            <a:solidFill>
              <a:srgbClr val="B9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577840" y="640080"/>
            <a:ext cx="5897880" cy="5120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Sin curso básico, instructor designado y programación autorizada </a:t>
            </a:r>
            <a:r>
              <a:rPr sz="22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no hay OJT</a:t>
            </a: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Cada nivel: evento, fecha y evidencia </a:t>
            </a:r>
            <a:r>
              <a:rPr sz="22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propios</a:t>
            </a: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La acreditación se limita a lo demostrado.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Existen 24 especialidades IVA.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Retoma tu reflexión inicial: la teoría </a:t>
            </a:r>
            <a:r>
              <a:rPr sz="22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no basta</a:t>
            </a: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; debes </a:t>
            </a:r>
            <a:r>
              <a:rPr sz="22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demostrar cada tarea</a:t>
            </a: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, nivel por nivel, </a:t>
            </a:r>
            <a:r>
              <a:rPr sz="22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ante tu instructor OJT designado</a:t>
            </a:r>
            <a:r>
              <a:rPr sz="22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67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8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0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3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6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79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whole" animBg="1"/>
      <p:bldP spid="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15031</TotalTime>
  <Words>2683</Words>
  <Application>Microsoft Office PowerPoint</Application>
  <PresentationFormat>Panorámica</PresentationFormat>
  <Paragraphs>391</Paragraphs>
  <Slides>29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2 Requisitos de implementación del Programa OJT Actualización del Manual de Entrenamiento en el Puesto de Trabajo</vt:lpstr>
      <vt:lpstr>ACTIVIDAD DE INICIO Para iniciar, reflexiona</vt:lpstr>
      <vt:lpstr>2.1 REQUISITOS GENERALES PARA LLEVAR A CABO EL ENTRENAMIENTO OJT Requisitos para realizar el OJT</vt:lpstr>
      <vt:lpstr>2.1 REQUISITOS GENERALES PARA LLEVAR A CABO EL ENTRENAMIENTO OJT Lista de verificación antes de iniciar</vt:lpstr>
      <vt:lpstr>2.2 NIVELES DE ENTRENAMIENTO OJT: NIVEL 1, NIVEL 2 Y NIVEL 3, Y CONVALIDACIÓN Tres niveles progresivos por tarea</vt:lpstr>
      <vt:lpstr>2.2 NIVELES DE ENTRENAMIENTO OJT: NIVEL 1, NIVEL 2 Y NIVEL 3, Y CONVALIDACIÓN Nivel 1: Conocimiento</vt:lpstr>
      <vt:lpstr>2.2 NIVELES DE ENTRENAMIENTO OJT: NIVEL 1, NIVEL 2 Y NIVEL 3, Y CONVALIDACIÓN Nivel 2: Demostración</vt:lpstr>
      <vt:lpstr>2.2 NIVELES DE ENTRENAMIENTO OJT: NIVEL 1, NIVEL 2 Y NIVEL 3, Y CONVALIDACIÓN Nivel 3: Ejecución supervisada</vt:lpstr>
      <vt:lpstr>2.2 NIVELES DE ENTRENAMIENTO OJT: NIVEL 1, NIVEL 2 Y NIVEL 3, Y CONVALIDACIÓN Una tarea, tres eventos distintos</vt:lpstr>
      <vt:lpstr>2.2 NIVELES DE ENTRENAMIENTO OJT: NIVEL 1, NIVEL 2 Y NIVEL 3, Y CONVALIDACIÓN Una tarea, tres eventos distintos</vt:lpstr>
      <vt:lpstr>2.2 NIVELES DE ENTRENAMIENTO OJT: NIVEL 1, NIVEL 2 Y NIVEL 3, Y CONVALIDACIÓN ¿Qué debe demostrar tu evidencia?</vt:lpstr>
      <vt:lpstr>2.2 NIVELES DE ENTRENAMIENTO OJT: NIVEL 1, NIVEL 2 Y NIVEL 3, Y CONVALIDACIÓN Lo que por sí solo no acredita un nivel</vt:lpstr>
      <vt:lpstr>2.2 NIVELES DE ENTRENAMIENTO OJT: NIVEL 1, NIVEL 2 Y NIVEL 3, Y CONVALIDACIÓN Situaciones especiales durante el evento</vt:lpstr>
      <vt:lpstr>2.2 NIVELES DE ENTRENAMIENTO OJT: NIVEL 1, NIVEL 2 Y NIVEL 3, Y CONVALIDACIÓN Situaciones especiales durante el evento</vt:lpstr>
      <vt:lpstr>2.2 NIVELES DE ENTRENAMIENTO OJT: NIVEL 1, NIVEL 2 Y NIVEL 3, Y CONVALIDACIÓN ¿Y si el resultado no es satisfactorio?</vt:lpstr>
      <vt:lpstr>2.2 NIVELES DE ENTRENAMIENTO OJT: NIVEL 1, NIVEL 2 Y NIVEL 3, Y CONVALIDACIÓN Alcance de tu aprobación</vt:lpstr>
      <vt:lpstr>2.2 NIVELES DE ENTRENAMIENTO OJT: NIVEL 1, NIVEL 2 Y NIVEL 3, Y CONVALIDACIÓN Convalidación del entrenamiento</vt:lpstr>
      <vt:lpstr>2.2 NIVELES DE ENTRENAMIENTO OJT: NIVEL 1, NIVEL 2 Y NIVEL 3, Y CONVALIDACIÓN Entrenamiento previo: convalidación</vt:lpstr>
      <vt:lpstr>2.2 NIVELES DE ENTRENAMIENTO OJT: NIVEL 1, NIVEL 2 Y NIVEL 3, Y CONVALIDACIÓN Convalidación paso a paso</vt:lpstr>
      <vt:lpstr>2.2 NIVELES DE ENTRENAMIENTO OJT: NIVEL 1, NIVEL 2 Y NIVEL 3, Y CONVALIDACIÓN ¿Qué evidencia sirve para convalidar?</vt:lpstr>
      <vt:lpstr>2.3 ESPECIALIDADES TÉCNICAS DEL PERSONAL IVA (24 ESPECIALIDADES) Especialidades técnicas del IVA (1 de 3)</vt:lpstr>
      <vt:lpstr>2.3 ESPECIALIDADES TÉCNICAS DEL PERSONAL IVA (24 ESPECIALIDADES) Especialidades técnicas del IVA (2 de 3)</vt:lpstr>
      <vt:lpstr>2.3 ESPECIALIDADES TÉCNICAS DEL PERSONAL IVA (24 ESPECIALIDADES) Especialidades técnicas del IVA (3 de 3)</vt:lpstr>
      <vt:lpstr>2.4 DESIGNACIÓN DE INSTRUCTORES OJT Y CRITERIOS DE SELECCIÓN ¿Quién designa a las figuras OJT?</vt:lpstr>
      <vt:lpstr>2.4 DESIGNACIÓN DE INSTRUCTORES OJT Y CRITERIOS DE SELECCIÓN Procedimiento de designación</vt:lpstr>
      <vt:lpstr>2.4 DESIGNACIÓN DE INSTRUCTORES OJT Y CRITERIOS DE SELECCIÓN Criterios para seleccionar instructores</vt:lpstr>
      <vt:lpstr>2.4 DESIGNACIÓN DE INSTRUCTORES OJT Y CRITERIOS DE SELECCIÓN Alcance de la designación</vt:lpstr>
      <vt:lpstr>Presentación de PowerPoint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233</cp:revision>
  <dcterms:created xsi:type="dcterms:W3CDTF">2025-01-15T19:01:35Z</dcterms:created>
  <dcterms:modified xsi:type="dcterms:W3CDTF">2026-09-26T23:11:17Z</dcterms:modified>
</cp:coreProperties>
</file>